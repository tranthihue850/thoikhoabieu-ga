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5"/>
  </p:notesMasterIdLst>
  <p:sldIdLst>
    <p:sldId id="256" r:id="rId2"/>
    <p:sldId id="257" r:id="rId3"/>
    <p:sldId id="258" r:id="rId4"/>
    <p:sldId id="270" r:id="rId5"/>
    <p:sldId id="271" r:id="rId6"/>
    <p:sldId id="273" r:id="rId7"/>
    <p:sldId id="282" r:id="rId8"/>
    <p:sldId id="283" r:id="rId9"/>
    <p:sldId id="284" r:id="rId10"/>
    <p:sldId id="290" r:id="rId11"/>
    <p:sldId id="274" r:id="rId12"/>
    <p:sldId id="285" r:id="rId13"/>
    <p:sldId id="286" r:id="rId14"/>
    <p:sldId id="287" r:id="rId15"/>
    <p:sldId id="276" r:id="rId16"/>
    <p:sldId id="291" r:id="rId17"/>
    <p:sldId id="292" r:id="rId18"/>
    <p:sldId id="288" r:id="rId19"/>
    <p:sldId id="277" r:id="rId20"/>
    <p:sldId id="278" r:id="rId21"/>
    <p:sldId id="279" r:id="rId22"/>
    <p:sldId id="289" r:id="rId23"/>
    <p:sldId id="269" r:id="rId24"/>
  </p:sldIdLst>
  <p:sldSz cx="18288000" cy="10287000"/>
  <p:notesSz cx="6858000" cy="9144000"/>
  <p:embeddedFontLst>
    <p:embeddedFont>
      <p:font typeface="Calibri" panose="020F0502020204030204" pitchFamily="34" charset="0"/>
      <p:regular r:id="rId26"/>
      <p:bold r:id="rId27"/>
      <p:italic r:id="rId28"/>
      <p:boldItalic r:id="rId29"/>
    </p:embeddedFont>
    <p:embeddedFont>
      <p:font typeface="Quicksand" panose="020B0604020202020204" charset="0"/>
      <p:regular r:id="rId30"/>
    </p:embeddedFont>
    <p:embeddedFont>
      <p:font typeface="Quicksand Bold" panose="020B0604020202020204" charset="0"/>
      <p:regular r:id="rId31"/>
    </p:embeddedFont>
    <p:embeddedFont>
      <p:font typeface="Quicksand Medium" panose="020B0604020202020204" charset="0"/>
      <p:regular r:id="rId32"/>
    </p:embeddedFont>
    <p:embeddedFont>
      <p:font typeface="Quicksand Semi-Bold" panose="020B0604020202020204" charset="0"/>
      <p:regular r:id="rId33"/>
    </p:embeddedFont>
    <p:embeddedFont>
      <p:font typeface="TT Backwards Bold" panose="020B0604020202020204" charset="0"/>
      <p:regular r:id="rId3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73200" autoAdjust="0"/>
  </p:normalViewPr>
  <p:slideViewPr>
    <p:cSldViewPr>
      <p:cViewPr varScale="1">
        <p:scale>
          <a:sx n="53" d="100"/>
          <a:sy n="53" d="100"/>
        </p:scale>
        <p:origin x="1380"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21" Type="http://schemas.openxmlformats.org/officeDocument/2006/relationships/slide" Target="slides/slide20.xml"/><Relationship Id="rId34" Type="http://schemas.openxmlformats.org/officeDocument/2006/relationships/font" Target="fonts/font9.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openxmlformats.org/officeDocument/2006/relationships/font" Target="fonts/font8.fntdata"/><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7.fntdata"/><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63264AD-37A6-4DDF-B938-94B0D0661C02}" type="datetimeFigureOut">
              <a:rPr lang="en-US" smtClean="0"/>
              <a:t>26/06/2025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FBF8197-EED4-4EBE-92EA-36C7EB54B110}" type="slidenum">
              <a:rPr lang="en-US" smtClean="0"/>
              <a:t>‹#›</a:t>
            </a:fld>
            <a:endParaRPr lang="en-US"/>
          </a:p>
        </p:txBody>
      </p:sp>
    </p:spTree>
    <p:extLst>
      <p:ext uri="{BB962C8B-B14F-4D97-AF65-F5344CB8AC3E}">
        <p14:creationId xmlns:p14="http://schemas.microsoft.com/office/powerpoint/2010/main" val="17900212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BF8197-EED4-4EBE-92EA-36C7EB54B110}" type="slidenum">
              <a:rPr lang="en-US" smtClean="0"/>
              <a:t>1</a:t>
            </a:fld>
            <a:endParaRPr lang="en-US"/>
          </a:p>
        </p:txBody>
      </p:sp>
    </p:spTree>
    <p:extLst>
      <p:ext uri="{BB962C8B-B14F-4D97-AF65-F5344CB8AC3E}">
        <p14:creationId xmlns:p14="http://schemas.microsoft.com/office/powerpoint/2010/main" val="14355994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dirty="0">
                <a:effectLst/>
                <a:latin typeface="Times New Roman" panose="02020603050405020304" pitchFamily="18" charset="0"/>
                <a:ea typeface="Times New Roman" panose="02020603050405020304" pitchFamily="18" charset="0"/>
              </a:rPr>
              <a:t>CNN </a:t>
            </a:r>
            <a:r>
              <a:rPr lang="en-US" sz="1800" dirty="0" err="1">
                <a:effectLst/>
                <a:latin typeface="Times New Roman" panose="02020603050405020304" pitchFamily="18" charset="0"/>
                <a:ea typeface="Times New Roman" panose="02020603050405020304" pitchFamily="18" charset="0"/>
              </a:rPr>
              <a:t>hoạt</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động</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bằng</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cách</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sử</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dụng</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các</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lớp</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tích</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chập</a:t>
            </a:r>
            <a:r>
              <a:rPr lang="en-US" sz="1800" dirty="0">
                <a:effectLst/>
                <a:latin typeface="Times New Roman" panose="02020603050405020304" pitchFamily="18" charset="0"/>
                <a:ea typeface="Times New Roman" panose="02020603050405020304" pitchFamily="18" charset="0"/>
              </a:rPr>
              <a:t> (convolutional layers) </a:t>
            </a:r>
            <a:r>
              <a:rPr lang="en-US" sz="1800" dirty="0" err="1">
                <a:effectLst/>
                <a:latin typeface="Times New Roman" panose="02020603050405020304" pitchFamily="18" charset="0"/>
                <a:ea typeface="Times New Roman" panose="02020603050405020304" pitchFamily="18" charset="0"/>
              </a:rPr>
              <a:t>và</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lớp</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gộp</a:t>
            </a:r>
            <a:r>
              <a:rPr lang="en-US" sz="1800" dirty="0">
                <a:effectLst/>
                <a:latin typeface="Times New Roman" panose="02020603050405020304" pitchFamily="18" charset="0"/>
                <a:ea typeface="Times New Roman" panose="02020603050405020304" pitchFamily="18" charset="0"/>
              </a:rPr>
              <a:t> (pooling layers) </a:t>
            </a:r>
            <a:r>
              <a:rPr lang="en-US" sz="1800" dirty="0" err="1">
                <a:effectLst/>
                <a:latin typeface="Times New Roman" panose="02020603050405020304" pitchFamily="18" charset="0"/>
                <a:ea typeface="Times New Roman" panose="02020603050405020304" pitchFamily="18" charset="0"/>
              </a:rPr>
              <a:t>để</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tự</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động</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trích</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xuất</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đặc</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trưng</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từ</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ảnh</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đầu</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vào</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sau</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đó</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sử</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dụng</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các</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lớp</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kết</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nối</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đầy</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đủ</a:t>
            </a:r>
            <a:r>
              <a:rPr lang="en-US" sz="1800" dirty="0">
                <a:effectLst/>
                <a:latin typeface="Times New Roman" panose="02020603050405020304" pitchFamily="18" charset="0"/>
                <a:ea typeface="Times New Roman" panose="02020603050405020304" pitchFamily="18" charset="0"/>
              </a:rPr>
              <a:t> (fully connected layers) </a:t>
            </a:r>
            <a:r>
              <a:rPr lang="en-US" sz="1800" dirty="0" err="1">
                <a:effectLst/>
                <a:latin typeface="Times New Roman" panose="02020603050405020304" pitchFamily="18" charset="0"/>
                <a:ea typeface="Times New Roman" panose="02020603050405020304" pitchFamily="18" charset="0"/>
              </a:rPr>
              <a:t>để</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phân</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loại</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hoặc</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dự</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đoán</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Ưu</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điểm</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của</a:t>
            </a:r>
            <a:r>
              <a:rPr lang="en-US" sz="1800" dirty="0">
                <a:effectLst/>
                <a:latin typeface="Times New Roman" panose="02020603050405020304" pitchFamily="18" charset="0"/>
                <a:ea typeface="Times New Roman" panose="02020603050405020304" pitchFamily="18" charset="0"/>
              </a:rPr>
              <a:t> CNN </a:t>
            </a:r>
            <a:r>
              <a:rPr lang="en-US" sz="1800" dirty="0" err="1">
                <a:effectLst/>
                <a:latin typeface="Times New Roman" panose="02020603050405020304" pitchFamily="18" charset="0"/>
                <a:ea typeface="Times New Roman" panose="02020603050405020304" pitchFamily="18" charset="0"/>
              </a:rPr>
              <a:t>là</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khả</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năng</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giảm</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thiểu</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số</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lượng</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tham</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số</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cần</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học</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và</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hiệu</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quả</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cao</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trong</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nhận</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diện</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mẫu</a:t>
            </a:r>
            <a:r>
              <a:rPr lang="en-US" sz="1800" dirty="0">
                <a:effectLst/>
                <a:latin typeface="Times New Roman" panose="02020603050405020304" pitchFamily="18" charset="0"/>
                <a:ea typeface="Times New Roman" panose="02020603050405020304" pitchFamily="18" charset="0"/>
              </a:rPr>
              <a:t>.</a:t>
            </a:r>
          </a:p>
          <a:p>
            <a:endParaRPr lang="en-US" sz="1800" dirty="0">
              <a:effectLst/>
              <a:latin typeface="Times New Roman" panose="02020603050405020304" pitchFamily="18" charset="0"/>
              <a:ea typeface="Times New Roman" panose="02020603050405020304" pitchFamily="18" charset="0"/>
            </a:endParaRPr>
          </a:p>
          <a:p>
            <a:pPr marL="0" marR="0" algn="just">
              <a:lnSpc>
                <a:spcPct val="150000"/>
              </a:lnSpc>
              <a:spcBef>
                <a:spcPts val="0"/>
              </a:spcBef>
              <a:spcAft>
                <a:spcPts val="1000"/>
              </a:spcAft>
              <a:tabLst>
                <a:tab pos="270510" algn="l"/>
                <a:tab pos="540385" algn="l"/>
              </a:tabLst>
            </a:pPr>
            <a:r>
              <a:rPr lang="en-US" sz="1800" dirty="0" err="1">
                <a:effectLst/>
                <a:latin typeface="Times New Roman" panose="02020603050405020304" pitchFamily="18" charset="0"/>
                <a:ea typeface="Times New Roman" panose="02020603050405020304" pitchFamily="18" charset="0"/>
              </a:rPr>
              <a:t>Mạng</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này</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thường</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được</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ứng</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dụng</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trong</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nhận</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dạng</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hình</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ảnh</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phân</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loại</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ảnh</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phát</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hiện</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vật</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thể</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nhận</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diện</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khuôn</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mặt</a:t>
            </a:r>
            <a:r>
              <a:rPr lang="en-US" sz="1800" dirty="0">
                <a:effectLst/>
                <a:latin typeface="Times New Roman" panose="02020603050405020304" pitchFamily="18" charset="0"/>
                <a:ea typeface="Times New Roman" panose="02020603050405020304" pitchFamily="18" charset="0"/>
              </a:rPr>
              <a:t>, …</a:t>
            </a:r>
          </a:p>
          <a:p>
            <a:endParaRPr lang="en-US" dirty="0"/>
          </a:p>
        </p:txBody>
      </p:sp>
      <p:sp>
        <p:nvSpPr>
          <p:cNvPr id="4" name="Slide Number Placeholder 3"/>
          <p:cNvSpPr>
            <a:spLocks noGrp="1"/>
          </p:cNvSpPr>
          <p:nvPr>
            <p:ph type="sldNum" sz="quarter" idx="5"/>
          </p:nvPr>
        </p:nvSpPr>
        <p:spPr/>
        <p:txBody>
          <a:bodyPr/>
          <a:lstStyle/>
          <a:p>
            <a:fld id="{DFBF8197-EED4-4EBE-92EA-36C7EB54B110}" type="slidenum">
              <a:rPr lang="en-US" smtClean="0"/>
              <a:t>7</a:t>
            </a:fld>
            <a:endParaRPr lang="en-US"/>
          </a:p>
        </p:txBody>
      </p:sp>
    </p:spTree>
    <p:extLst>
      <p:ext uri="{BB962C8B-B14F-4D97-AF65-F5344CB8AC3E}">
        <p14:creationId xmlns:p14="http://schemas.microsoft.com/office/powerpoint/2010/main" val="35026704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dirty="0">
              <a:effectLst/>
              <a:latin typeface="Times New Roman" panose="02020603050405020304" pitchFamily="18" charset="0"/>
              <a:ea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Times New Roman" panose="02020603050405020304" pitchFamily="18" charset="0"/>
                <a:ea typeface="Times New Roman" panose="02020603050405020304" pitchFamily="18" charset="0"/>
              </a:rPr>
              <a:t>LSTM </a:t>
            </a:r>
            <a:r>
              <a:rPr lang="en-US" sz="1800" dirty="0" err="1">
                <a:effectLst/>
                <a:latin typeface="Times New Roman" panose="02020603050405020304" pitchFamily="18" charset="0"/>
                <a:ea typeface="Times New Roman" panose="02020603050405020304" pitchFamily="18" charset="0"/>
              </a:rPr>
              <a:t>là</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một</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biến</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thể</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của</a:t>
            </a:r>
            <a:r>
              <a:rPr lang="en-US" sz="1800" dirty="0">
                <a:effectLst/>
                <a:latin typeface="Times New Roman" panose="02020603050405020304" pitchFamily="18" charset="0"/>
                <a:ea typeface="Times New Roman" panose="02020603050405020304" pitchFamily="18" charset="0"/>
              </a:rPr>
              <a:t> RNN </a:t>
            </a:r>
            <a:r>
              <a:rPr lang="en-US" sz="1800" dirty="0" err="1">
                <a:effectLst/>
                <a:latin typeface="Times New Roman" panose="02020603050405020304" pitchFamily="18" charset="0"/>
                <a:ea typeface="Times New Roman" panose="02020603050405020304" pitchFamily="18" charset="0"/>
              </a:rPr>
              <a:t>được</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thiết</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kế</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để</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ghi</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nhớ</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thông</a:t>
            </a:r>
            <a:r>
              <a:rPr lang="en-US" sz="1800" dirty="0">
                <a:effectLst/>
                <a:latin typeface="Times New Roman" panose="02020603050405020304" pitchFamily="18" charset="0"/>
                <a:ea typeface="Times New Roman" panose="02020603050405020304" pitchFamily="18" charset="0"/>
              </a:rPr>
              <a:t> tin </a:t>
            </a:r>
            <a:r>
              <a:rPr lang="en-US" sz="1800" dirty="0" err="1">
                <a:effectLst/>
                <a:latin typeface="Times New Roman" panose="02020603050405020304" pitchFamily="18" charset="0"/>
                <a:ea typeface="Times New Roman" panose="02020603050405020304" pitchFamily="18" charset="0"/>
              </a:rPr>
              <a:t>trong</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thời</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gian</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dài</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hơn</a:t>
            </a:r>
            <a:r>
              <a:rPr lang="en-US" sz="1800" dirty="0">
                <a:effectLst/>
                <a:latin typeface="Times New Roman" panose="02020603050405020304" pitchFamily="18" charset="0"/>
                <a:ea typeface="Times New Roman" panose="02020603050405020304" pitchFamily="18" charset="0"/>
              </a:rPr>
              <a:t>. LSTM </a:t>
            </a:r>
            <a:r>
              <a:rPr lang="en-US" sz="1800" dirty="0" err="1">
                <a:effectLst/>
                <a:latin typeface="Times New Roman" panose="02020603050405020304" pitchFamily="18" charset="0"/>
                <a:ea typeface="Times New Roman" panose="02020603050405020304" pitchFamily="18" charset="0"/>
              </a:rPr>
              <a:t>sử</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dụng</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các</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cổng</a:t>
            </a:r>
            <a:r>
              <a:rPr lang="en-US" sz="1800" dirty="0">
                <a:effectLst/>
                <a:latin typeface="Times New Roman" panose="02020603050405020304" pitchFamily="18" charset="0"/>
                <a:ea typeface="Times New Roman" panose="02020603050405020304" pitchFamily="18" charset="0"/>
              </a:rPr>
              <a:t> (gates) </a:t>
            </a:r>
            <a:r>
              <a:rPr lang="en-US" sz="1800" dirty="0" err="1">
                <a:effectLst/>
                <a:latin typeface="Times New Roman" panose="02020603050405020304" pitchFamily="18" charset="0"/>
                <a:ea typeface="Times New Roman" panose="02020603050405020304" pitchFamily="18" charset="0"/>
              </a:rPr>
              <a:t>để</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điều</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khiển</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luồng</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thông</a:t>
            </a:r>
            <a:r>
              <a:rPr lang="en-US" sz="1800" dirty="0">
                <a:effectLst/>
                <a:latin typeface="Times New Roman" panose="02020603050405020304" pitchFamily="18" charset="0"/>
                <a:ea typeface="Times New Roman" panose="02020603050405020304" pitchFamily="18" charset="0"/>
              </a:rPr>
              <a:t> tin, </a:t>
            </a:r>
            <a:r>
              <a:rPr lang="en-US" sz="1800" dirty="0" err="1">
                <a:effectLst/>
                <a:latin typeface="Times New Roman" panose="02020603050405020304" pitchFamily="18" charset="0"/>
                <a:ea typeface="Times New Roman" panose="02020603050405020304" pitchFamily="18" charset="0"/>
              </a:rPr>
              <a:t>giúp</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giải</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quyết</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vấn</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đề</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mất</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mát</a:t>
            </a:r>
            <a:r>
              <a:rPr lang="en-US" sz="1800" dirty="0">
                <a:effectLst/>
                <a:latin typeface="Times New Roman" panose="02020603050405020304" pitchFamily="18" charset="0"/>
                <a:ea typeface="Times New Roman" panose="02020603050405020304" pitchFamily="18" charset="0"/>
              </a:rPr>
              <a:t> gradient.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dirty="0">
              <a:effectLst/>
              <a:latin typeface="Times New Roman" panose="02020603050405020304" pitchFamily="18" charset="0"/>
              <a:ea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err="1">
                <a:effectLst/>
                <a:latin typeface="Times New Roman" panose="02020603050405020304" pitchFamily="18" charset="0"/>
                <a:ea typeface="Times New Roman" panose="02020603050405020304" pitchFamily="18" charset="0"/>
              </a:rPr>
              <a:t>Mạng</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này</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thường</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được</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ứng</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dụng</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trong</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nhận</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diện</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giọng</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nói</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phân</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tích</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cảm</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xúc</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tạo</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phụ</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đề</a:t>
            </a:r>
            <a:r>
              <a:rPr lang="en-US" sz="1800" dirty="0">
                <a:effectLst/>
                <a:latin typeface="Times New Roman" panose="02020603050405020304" pitchFamily="18" charset="0"/>
                <a:ea typeface="Times New Roman" panose="02020603050405020304" pitchFamily="18" charset="0"/>
              </a:rPr>
              <a:t> video, </a:t>
            </a:r>
            <a:r>
              <a:rPr lang="en-US" sz="1800" dirty="0" err="1">
                <a:effectLst/>
                <a:latin typeface="Times New Roman" panose="02020603050405020304" pitchFamily="18" charset="0"/>
                <a:ea typeface="Times New Roman" panose="02020603050405020304" pitchFamily="18" charset="0"/>
              </a:rPr>
              <a:t>dự</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đoán</a:t>
            </a:r>
            <a:r>
              <a:rPr lang="en-US" sz="1800" dirty="0">
                <a:effectLst/>
                <a:latin typeface="Times New Roman" panose="02020603050405020304" pitchFamily="18" charset="0"/>
                <a:ea typeface="Times New Roman" panose="02020603050405020304" pitchFamily="18" charset="0"/>
              </a:rPr>
              <a:t> tai </a:t>
            </a:r>
            <a:r>
              <a:rPr lang="en-US" sz="1800" dirty="0" err="1">
                <a:effectLst/>
                <a:latin typeface="Times New Roman" panose="02020603050405020304" pitchFamily="18" charset="0"/>
                <a:ea typeface="Times New Roman" panose="02020603050405020304" pitchFamily="18" charset="0"/>
              </a:rPr>
              <a:t>nạn</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giao</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thông</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từ</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chuỗi</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hình</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ảnh</a:t>
            </a:r>
            <a:r>
              <a:rPr lang="en-US" sz="1800" dirty="0">
                <a:effectLst/>
                <a:latin typeface="Times New Roman" panose="02020603050405020304" pitchFamily="18" charset="0"/>
                <a:ea typeface="Times New Roman" panose="02020603050405020304" pitchFamily="18" charset="0"/>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dirty="0">
              <a:effectLst/>
              <a:latin typeface="Times New Roman" panose="02020603050405020304" pitchFamily="18" charset="0"/>
              <a:ea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dirty="0">
              <a:effectLst/>
              <a:latin typeface="Times New Roman" panose="02020603050405020304" pitchFamily="18" charset="0"/>
              <a:ea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dirty="0">
              <a:effectLst/>
              <a:latin typeface="Times New Roman" panose="02020603050405020304" pitchFamily="18" charset="0"/>
              <a:ea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DFBF8197-EED4-4EBE-92EA-36C7EB54B110}" type="slidenum">
              <a:rPr lang="en-US" smtClean="0"/>
              <a:t>8</a:t>
            </a:fld>
            <a:endParaRPr lang="en-US"/>
          </a:p>
        </p:txBody>
      </p:sp>
    </p:spTree>
    <p:extLst>
      <p:ext uri="{BB962C8B-B14F-4D97-AF65-F5344CB8AC3E}">
        <p14:creationId xmlns:p14="http://schemas.microsoft.com/office/powerpoint/2010/main" val="40447317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dirty="0">
              <a:effectLst/>
              <a:latin typeface="Times New Roman" panose="02020603050405020304" pitchFamily="18" charset="0"/>
              <a:ea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Times New Roman" panose="02020603050405020304" pitchFamily="18" charset="0"/>
                <a:ea typeface="Times New Roman" panose="02020603050405020304" pitchFamily="18" charset="0"/>
              </a:rPr>
              <a:t>Transformer </a:t>
            </a:r>
            <a:r>
              <a:rPr lang="en-US" sz="1800" dirty="0" err="1">
                <a:effectLst/>
                <a:latin typeface="Times New Roman" panose="02020603050405020304" pitchFamily="18" charset="0"/>
                <a:ea typeface="Times New Roman" panose="02020603050405020304" pitchFamily="18" charset="0"/>
              </a:rPr>
              <a:t>là</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kiến</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trúc</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mạng</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đặc</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biệt</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hiệu</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quả</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cho</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xử</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lý</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ngôn</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ngữ</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tự</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nhiên</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dựa</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trên</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cơ</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chế</a:t>
            </a:r>
            <a:r>
              <a:rPr lang="en-US" sz="1800" dirty="0">
                <a:effectLst/>
                <a:latin typeface="Times New Roman" panose="02020603050405020304" pitchFamily="18" charset="0"/>
                <a:ea typeface="Times New Roman" panose="02020603050405020304" pitchFamily="18" charset="0"/>
              </a:rPr>
              <a:t> attention. </a:t>
            </a:r>
            <a:r>
              <a:rPr lang="en-US" sz="1800" dirty="0" err="1">
                <a:effectLst/>
                <a:latin typeface="Times New Roman" panose="02020603050405020304" pitchFamily="18" charset="0"/>
                <a:ea typeface="Times New Roman" panose="02020603050405020304" pitchFamily="18" charset="0"/>
              </a:rPr>
              <a:t>Không</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như</a:t>
            </a:r>
            <a:r>
              <a:rPr lang="en-US" sz="1800" dirty="0">
                <a:effectLst/>
                <a:latin typeface="Times New Roman" panose="02020603050405020304" pitchFamily="18" charset="0"/>
                <a:ea typeface="Times New Roman" panose="02020603050405020304" pitchFamily="18" charset="0"/>
              </a:rPr>
              <a:t> RNN, Transformer </a:t>
            </a:r>
            <a:r>
              <a:rPr lang="en-US" sz="1800" dirty="0" err="1">
                <a:effectLst/>
                <a:latin typeface="Times New Roman" panose="02020603050405020304" pitchFamily="18" charset="0"/>
                <a:ea typeface="Times New Roman" panose="02020603050405020304" pitchFamily="18" charset="0"/>
              </a:rPr>
              <a:t>không</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xử</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lý</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dữ</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liệu</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tuần</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tự</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mà</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theo</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cơ</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chế</a:t>
            </a:r>
            <a:r>
              <a:rPr lang="en-US" sz="1800" dirty="0">
                <a:effectLst/>
                <a:latin typeface="Times New Roman" panose="02020603050405020304" pitchFamily="18" charset="0"/>
                <a:ea typeface="Times New Roman" panose="02020603050405020304" pitchFamily="18" charset="0"/>
              </a:rPr>
              <a:t> song </a:t>
            </a:r>
            <a:r>
              <a:rPr lang="en-US" sz="1800" dirty="0" err="1">
                <a:effectLst/>
                <a:latin typeface="Times New Roman" panose="02020603050405020304" pitchFamily="18" charset="0"/>
                <a:ea typeface="Times New Roman" panose="02020603050405020304" pitchFamily="18" charset="0"/>
              </a:rPr>
              <a:t>song</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giúp</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tăng</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tốc</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độ</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huấn</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luyện</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và</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hiệu</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suất</a:t>
            </a:r>
            <a:r>
              <a:rPr lang="en-US" sz="1800" dirty="0">
                <a:effectLst/>
                <a:latin typeface="Times New Roman" panose="02020603050405020304" pitchFamily="18" charset="0"/>
                <a:ea typeface="Times New Roman" panose="02020603050405020304" pitchFamily="18" charset="0"/>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dirty="0">
              <a:effectLst/>
              <a:latin typeface="Times New Roman" panose="02020603050405020304" pitchFamily="18" charset="0"/>
              <a:ea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err="1">
                <a:effectLst/>
                <a:latin typeface="Times New Roman" panose="02020603050405020304" pitchFamily="18" charset="0"/>
                <a:ea typeface="Times New Roman" panose="02020603050405020304" pitchFamily="18" charset="0"/>
              </a:rPr>
              <a:t>Mạng</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này</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thường</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được</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ứng</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dụng</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trong</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dịch</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máy</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tổng</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hợp</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văn</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bản</a:t>
            </a:r>
            <a:r>
              <a:rPr lang="en-US" sz="1800" dirty="0">
                <a:effectLst/>
                <a:latin typeface="Times New Roman" panose="02020603050405020304" pitchFamily="18" charset="0"/>
                <a:ea typeface="Times New Roman" panose="02020603050405020304" pitchFamily="18" charset="0"/>
              </a:rPr>
              <a:t>, chatbot, </a:t>
            </a:r>
            <a:r>
              <a:rPr lang="en-US" sz="1800" dirty="0" err="1">
                <a:effectLst/>
                <a:latin typeface="Times New Roman" panose="02020603050405020304" pitchFamily="18" charset="0"/>
                <a:ea typeface="Times New Roman" panose="02020603050405020304" pitchFamily="18" charset="0"/>
              </a:rPr>
              <a:t>mô</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hình</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ngôn</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ngữ</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lớn</a:t>
            </a:r>
            <a:r>
              <a:rPr lang="en-US" sz="1800" dirty="0">
                <a:effectLst/>
                <a:latin typeface="Times New Roman" panose="02020603050405020304" pitchFamily="18" charset="0"/>
                <a:ea typeface="Times New Roman" panose="02020603050405020304" pitchFamily="18" charset="0"/>
              </a:rPr>
              <a:t> (GPT, BERT, T5),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dirty="0">
              <a:effectLst/>
              <a:latin typeface="Times New Roman" panose="02020603050405020304" pitchFamily="18" charset="0"/>
              <a:ea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DFBF8197-EED4-4EBE-92EA-36C7EB54B110}" type="slidenum">
              <a:rPr lang="en-US" smtClean="0"/>
              <a:t>9</a:t>
            </a:fld>
            <a:endParaRPr lang="en-US"/>
          </a:p>
        </p:txBody>
      </p:sp>
    </p:spTree>
    <p:extLst>
      <p:ext uri="{BB962C8B-B14F-4D97-AF65-F5344CB8AC3E}">
        <p14:creationId xmlns:p14="http://schemas.microsoft.com/office/powerpoint/2010/main" val="2613123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BF8197-EED4-4EBE-92EA-36C7EB54B110}" type="slidenum">
              <a:rPr lang="en-US" smtClean="0"/>
              <a:t>10</a:t>
            </a:fld>
            <a:endParaRPr lang="en-US"/>
          </a:p>
        </p:txBody>
      </p:sp>
    </p:spTree>
    <p:extLst>
      <p:ext uri="{BB962C8B-B14F-4D97-AF65-F5344CB8AC3E}">
        <p14:creationId xmlns:p14="http://schemas.microsoft.com/office/powerpoint/2010/main" val="17382670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err="1">
                <a:effectLst/>
                <a:latin typeface="Times New Roman" panose="02020603050405020304" pitchFamily="18" charset="0"/>
                <a:ea typeface="Times New Roman" panose="02020603050405020304" pitchFamily="18" charset="0"/>
              </a:rPr>
              <a:t>Một</a:t>
            </a:r>
            <a:r>
              <a:rPr lang="en-US" sz="1800" dirty="0">
                <a:effectLst/>
                <a:latin typeface="Times New Roman" panose="02020603050405020304" pitchFamily="18" charset="0"/>
                <a:ea typeface="Times New Roman" panose="02020603050405020304" pitchFamily="18" charset="0"/>
              </a:rPr>
              <a:t> block </a:t>
            </a:r>
            <a:r>
              <a:rPr lang="en-US" sz="1800" dirty="0" err="1">
                <a:effectLst/>
                <a:latin typeface="Times New Roman" panose="02020603050405020304" pitchFamily="18" charset="0"/>
                <a:ea typeface="Times New Roman" panose="02020603050405020304" pitchFamily="18" charset="0"/>
              </a:rPr>
              <a:t>của</a:t>
            </a:r>
            <a:r>
              <a:rPr lang="en-US" sz="1800" dirty="0">
                <a:effectLst/>
                <a:latin typeface="Times New Roman" panose="02020603050405020304" pitchFamily="18" charset="0"/>
                <a:ea typeface="Times New Roman" panose="02020603050405020304" pitchFamily="18" charset="0"/>
              </a:rPr>
              <a:t> MobileNetV2 </a:t>
            </a:r>
            <a:r>
              <a:rPr lang="en-US" sz="1800" dirty="0" err="1">
                <a:effectLst/>
                <a:latin typeface="Times New Roman" panose="02020603050405020304" pitchFamily="18" charset="0"/>
                <a:ea typeface="Times New Roman" panose="02020603050405020304" pitchFamily="18" charset="0"/>
              </a:rPr>
              <a:t>sử</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dụng</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Depthwise</a:t>
            </a:r>
            <a:r>
              <a:rPr lang="en-US" sz="1800" dirty="0">
                <a:effectLst/>
                <a:latin typeface="Times New Roman" panose="02020603050405020304" pitchFamily="18" charset="0"/>
                <a:ea typeface="Times New Roman" panose="02020603050405020304" pitchFamily="18" charset="0"/>
              </a:rPr>
              <a:t> convolution </a:t>
            </a:r>
            <a:r>
              <a:rPr lang="en-US" sz="1800" dirty="0" err="1">
                <a:effectLst/>
                <a:latin typeface="Times New Roman" panose="02020603050405020304" pitchFamily="18" charset="0"/>
                <a:ea typeface="Times New Roman" panose="02020603050405020304" pitchFamily="18" charset="0"/>
              </a:rPr>
              <a:t>thực</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hiện</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áp</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dụng</a:t>
            </a:r>
            <a:r>
              <a:rPr lang="en-US" sz="1800" dirty="0">
                <a:effectLst/>
                <a:latin typeface="Times New Roman" panose="02020603050405020304" pitchFamily="18" charset="0"/>
                <a:ea typeface="Times New Roman" panose="02020603050405020304" pitchFamily="18" charset="0"/>
              </a:rPr>
              <a:t> 1 </a:t>
            </a:r>
            <a:r>
              <a:rPr lang="en-US" sz="1800" dirty="0" err="1">
                <a:effectLst/>
                <a:latin typeface="Times New Roman" panose="02020603050405020304" pitchFamily="18" charset="0"/>
                <a:ea typeface="Times New Roman" panose="02020603050405020304" pitchFamily="18" charset="0"/>
              </a:rPr>
              <a:t>bộ</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lọc</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riêng</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cho</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từng</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kênh</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và</a:t>
            </a:r>
            <a:r>
              <a:rPr lang="en-US" sz="1800" dirty="0">
                <a:effectLst/>
                <a:latin typeface="Times New Roman" panose="02020603050405020304" pitchFamily="18" charset="0"/>
                <a:ea typeface="Times New Roman" panose="02020603050405020304" pitchFamily="18" charset="0"/>
              </a:rPr>
              <a:t> Pointwise convolution (1x1) </a:t>
            </a:r>
            <a:r>
              <a:rPr lang="en-US" sz="1800" dirty="0" err="1">
                <a:effectLst/>
                <a:latin typeface="Times New Roman" panose="02020603050405020304" pitchFamily="18" charset="0"/>
                <a:ea typeface="Times New Roman" panose="02020603050405020304" pitchFamily="18" charset="0"/>
              </a:rPr>
              <a:t>thực</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hiện</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trộn</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các</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kênh</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lại</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với</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nhau</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gồm</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các</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thành</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phần</a:t>
            </a:r>
            <a:r>
              <a:rPr lang="en-US" sz="1800" dirty="0">
                <a:effectLst/>
                <a:latin typeface="Times New Roman" panose="02020603050405020304" pitchFamily="18" charset="0"/>
                <a:ea typeface="Times New Roman" panose="02020603050405020304" pitchFamily="18" charset="0"/>
              </a:rPr>
              <a:t>:</a:t>
            </a:r>
          </a:p>
          <a:p>
            <a:endParaRPr lang="en-US" dirty="0"/>
          </a:p>
          <a:p>
            <a:pPr marL="342900" marR="0" lvl="0" indent="-342900" algn="just">
              <a:lnSpc>
                <a:spcPct val="150000"/>
              </a:lnSpc>
              <a:spcBef>
                <a:spcPts val="0"/>
              </a:spcBef>
              <a:spcAft>
                <a:spcPts val="1000"/>
              </a:spcAft>
              <a:buFont typeface="Times New Roman" panose="02020603050405020304" pitchFamily="18" charset="0"/>
              <a:buChar char="-"/>
              <a:tabLst>
                <a:tab pos="270510" algn="l"/>
                <a:tab pos="540385" algn="l"/>
              </a:tabLst>
            </a:pPr>
            <a:r>
              <a:rPr lang="en-US" sz="1800" dirty="0">
                <a:effectLst/>
                <a:latin typeface="Times New Roman" panose="02020603050405020304" pitchFamily="18" charset="0"/>
                <a:ea typeface="Cambria" panose="02040503050406030204" pitchFamily="18" charset="0"/>
              </a:rPr>
              <a:t>Expand (1x1 conv + ReLU6) </a:t>
            </a:r>
            <a:r>
              <a:rPr lang="en-US" sz="1800" dirty="0" err="1">
                <a:effectLst/>
                <a:latin typeface="Times New Roman" panose="02020603050405020304" pitchFamily="18" charset="0"/>
                <a:ea typeface="Cambria" panose="02040503050406030204" pitchFamily="18" charset="0"/>
              </a:rPr>
              <a:t>giúp</a:t>
            </a:r>
            <a:r>
              <a:rPr lang="en-US" sz="1800" dirty="0">
                <a:effectLst/>
                <a:latin typeface="Times New Roman" panose="02020603050405020304" pitchFamily="18" charset="0"/>
                <a:ea typeface="Cambria" panose="02040503050406030204" pitchFamily="18" charset="0"/>
              </a:rPr>
              <a:t> </a:t>
            </a:r>
            <a:r>
              <a:rPr lang="en-US" sz="1800" dirty="0" err="1">
                <a:effectLst/>
                <a:latin typeface="Times New Roman" panose="02020603050405020304" pitchFamily="18" charset="0"/>
                <a:ea typeface="Cambria" panose="02040503050406030204" pitchFamily="18" charset="0"/>
              </a:rPr>
              <a:t>tăng</a:t>
            </a:r>
            <a:r>
              <a:rPr lang="en-US" sz="1800" dirty="0">
                <a:effectLst/>
                <a:latin typeface="Times New Roman" panose="02020603050405020304" pitchFamily="18" charset="0"/>
                <a:ea typeface="Cambria" panose="02040503050406030204" pitchFamily="18" charset="0"/>
              </a:rPr>
              <a:t> </a:t>
            </a:r>
            <a:r>
              <a:rPr lang="en-US" sz="1800" dirty="0" err="1">
                <a:effectLst/>
                <a:latin typeface="Times New Roman" panose="02020603050405020304" pitchFamily="18" charset="0"/>
                <a:ea typeface="Cambria" panose="02040503050406030204" pitchFamily="18" charset="0"/>
              </a:rPr>
              <a:t>số</a:t>
            </a:r>
            <a:r>
              <a:rPr lang="en-US" sz="1800" dirty="0">
                <a:effectLst/>
                <a:latin typeface="Times New Roman" panose="02020603050405020304" pitchFamily="18" charset="0"/>
                <a:ea typeface="Cambria" panose="02040503050406030204" pitchFamily="18" charset="0"/>
              </a:rPr>
              <a:t> </a:t>
            </a:r>
            <a:r>
              <a:rPr lang="en-US" sz="1800" dirty="0" err="1">
                <a:effectLst/>
                <a:latin typeface="Times New Roman" panose="02020603050405020304" pitchFamily="18" charset="0"/>
                <a:ea typeface="Cambria" panose="02040503050406030204" pitchFamily="18" charset="0"/>
              </a:rPr>
              <a:t>kênh</a:t>
            </a:r>
            <a:r>
              <a:rPr lang="en-US" sz="1800" dirty="0">
                <a:effectLst/>
                <a:latin typeface="Times New Roman" panose="02020603050405020304" pitchFamily="18" charset="0"/>
                <a:ea typeface="Cambria" panose="02040503050406030204" pitchFamily="18" charset="0"/>
              </a:rPr>
              <a:t> </a:t>
            </a:r>
          </a:p>
          <a:p>
            <a:pPr marL="342900" marR="0" lvl="0" indent="-342900" algn="just">
              <a:lnSpc>
                <a:spcPct val="150000"/>
              </a:lnSpc>
              <a:spcBef>
                <a:spcPts val="0"/>
              </a:spcBef>
              <a:spcAft>
                <a:spcPts val="1000"/>
              </a:spcAft>
              <a:buFont typeface="Times New Roman" panose="02020603050405020304" pitchFamily="18" charset="0"/>
              <a:buChar char="-"/>
              <a:tabLst>
                <a:tab pos="270510" algn="l"/>
                <a:tab pos="540385" algn="l"/>
              </a:tabLst>
            </a:pPr>
            <a:r>
              <a:rPr lang="en-US" sz="1800" dirty="0" err="1">
                <a:effectLst/>
                <a:latin typeface="Times New Roman" panose="02020603050405020304" pitchFamily="18" charset="0"/>
                <a:ea typeface="Cambria" panose="02040503050406030204" pitchFamily="18" charset="0"/>
              </a:rPr>
              <a:t>Depthwise</a:t>
            </a:r>
            <a:r>
              <a:rPr lang="en-US" sz="1800" dirty="0">
                <a:effectLst/>
                <a:latin typeface="Times New Roman" panose="02020603050405020304" pitchFamily="18" charset="0"/>
                <a:ea typeface="Cambria" panose="02040503050406030204" pitchFamily="18" charset="0"/>
              </a:rPr>
              <a:t> Convolution (3x3 + ReLU6) </a:t>
            </a:r>
            <a:r>
              <a:rPr lang="en-US" sz="1800" dirty="0" err="1">
                <a:effectLst/>
                <a:latin typeface="Times New Roman" panose="02020603050405020304" pitchFamily="18" charset="0"/>
                <a:ea typeface="Cambria" panose="02040503050406030204" pitchFamily="18" charset="0"/>
              </a:rPr>
              <a:t>lọc</a:t>
            </a:r>
            <a:r>
              <a:rPr lang="en-US" sz="1800" dirty="0">
                <a:effectLst/>
                <a:latin typeface="Times New Roman" panose="02020603050405020304" pitchFamily="18" charset="0"/>
                <a:ea typeface="Cambria" panose="02040503050406030204" pitchFamily="18" charset="0"/>
              </a:rPr>
              <a:t> </a:t>
            </a:r>
            <a:r>
              <a:rPr lang="en-US" sz="1800" dirty="0" err="1">
                <a:effectLst/>
                <a:latin typeface="Times New Roman" panose="02020603050405020304" pitchFamily="18" charset="0"/>
                <a:ea typeface="Cambria" panose="02040503050406030204" pitchFamily="18" charset="0"/>
              </a:rPr>
              <a:t>không</a:t>
            </a:r>
            <a:r>
              <a:rPr lang="en-US" sz="1800" dirty="0">
                <a:effectLst/>
                <a:latin typeface="Times New Roman" panose="02020603050405020304" pitchFamily="18" charset="0"/>
                <a:ea typeface="Cambria" panose="02040503050406030204" pitchFamily="18" charset="0"/>
              </a:rPr>
              <a:t> </a:t>
            </a:r>
            <a:r>
              <a:rPr lang="en-US" sz="1800" dirty="0" err="1">
                <a:effectLst/>
                <a:latin typeface="Times New Roman" panose="02020603050405020304" pitchFamily="18" charset="0"/>
                <a:ea typeface="Cambria" panose="02040503050406030204" pitchFamily="18" charset="0"/>
              </a:rPr>
              <a:t>gian</a:t>
            </a:r>
            <a:r>
              <a:rPr lang="en-US" sz="1800" dirty="0">
                <a:effectLst/>
                <a:latin typeface="Times New Roman" panose="02020603050405020304" pitchFamily="18" charset="0"/>
                <a:ea typeface="Cambria" panose="02040503050406030204" pitchFamily="18" charset="0"/>
              </a:rPr>
              <a:t> </a:t>
            </a:r>
            <a:r>
              <a:rPr lang="en-US" sz="1800" dirty="0" err="1">
                <a:effectLst/>
                <a:latin typeface="Times New Roman" panose="02020603050405020304" pitchFamily="18" charset="0"/>
                <a:ea typeface="Cambria" panose="02040503050406030204" pitchFamily="18" charset="0"/>
              </a:rPr>
              <a:t>riêng</a:t>
            </a:r>
            <a:r>
              <a:rPr lang="en-US" sz="1800" dirty="0">
                <a:effectLst/>
                <a:latin typeface="Times New Roman" panose="02020603050405020304" pitchFamily="18" charset="0"/>
                <a:ea typeface="Cambria" panose="02040503050406030204" pitchFamily="18" charset="0"/>
              </a:rPr>
              <a:t> </a:t>
            </a:r>
            <a:r>
              <a:rPr lang="en-US" sz="1800" dirty="0" err="1">
                <a:effectLst/>
                <a:latin typeface="Times New Roman" panose="02020603050405020304" pitchFamily="18" charset="0"/>
                <a:ea typeface="Cambria" panose="02040503050406030204" pitchFamily="18" charset="0"/>
              </a:rPr>
              <a:t>từng</a:t>
            </a:r>
            <a:r>
              <a:rPr lang="en-US" sz="1800" dirty="0">
                <a:effectLst/>
                <a:latin typeface="Times New Roman" panose="02020603050405020304" pitchFamily="18" charset="0"/>
                <a:ea typeface="Cambria" panose="02040503050406030204" pitchFamily="18" charset="0"/>
              </a:rPr>
              <a:t> </a:t>
            </a:r>
            <a:r>
              <a:rPr lang="en-US" sz="1800" dirty="0" err="1">
                <a:effectLst/>
                <a:latin typeface="Times New Roman" panose="02020603050405020304" pitchFamily="18" charset="0"/>
                <a:ea typeface="Cambria" panose="02040503050406030204" pitchFamily="18" charset="0"/>
              </a:rPr>
              <a:t>kênh</a:t>
            </a:r>
            <a:endParaRPr lang="en-US" sz="1800" dirty="0">
              <a:effectLst/>
              <a:latin typeface="Times New Roman" panose="02020603050405020304" pitchFamily="18" charset="0"/>
              <a:ea typeface="Cambria" panose="02040503050406030204" pitchFamily="18" charset="0"/>
            </a:endParaRPr>
          </a:p>
          <a:p>
            <a:pPr marL="342900" marR="0" lvl="0" indent="-342900" algn="just">
              <a:lnSpc>
                <a:spcPct val="150000"/>
              </a:lnSpc>
              <a:spcBef>
                <a:spcPts val="0"/>
              </a:spcBef>
              <a:spcAft>
                <a:spcPts val="1000"/>
              </a:spcAft>
              <a:buFont typeface="Times New Roman" panose="02020603050405020304" pitchFamily="18" charset="0"/>
              <a:buChar char="-"/>
              <a:tabLst>
                <a:tab pos="270510" algn="l"/>
                <a:tab pos="540385" algn="l"/>
              </a:tabLst>
            </a:pPr>
            <a:r>
              <a:rPr lang="en-US" sz="1800" dirty="0">
                <a:effectLst/>
                <a:latin typeface="Times New Roman" panose="02020603050405020304" pitchFamily="18" charset="0"/>
                <a:ea typeface="Cambria" panose="02040503050406030204" pitchFamily="18" charset="0"/>
              </a:rPr>
              <a:t>Project (1x1 conv, </a:t>
            </a:r>
            <a:r>
              <a:rPr lang="en-US" sz="1800" dirty="0" err="1">
                <a:effectLst/>
                <a:latin typeface="Times New Roman" panose="02020603050405020304" pitchFamily="18" charset="0"/>
                <a:ea typeface="Cambria" panose="02040503050406030204" pitchFamily="18" charset="0"/>
              </a:rPr>
              <a:t>không</a:t>
            </a:r>
            <a:r>
              <a:rPr lang="en-US" sz="1800" dirty="0">
                <a:effectLst/>
                <a:latin typeface="Times New Roman" panose="02020603050405020304" pitchFamily="18" charset="0"/>
                <a:ea typeface="Cambria" panose="02040503050406030204" pitchFamily="18" charset="0"/>
              </a:rPr>
              <a:t> activation) </a:t>
            </a:r>
            <a:r>
              <a:rPr lang="en-US" sz="1800" dirty="0" err="1">
                <a:effectLst/>
                <a:latin typeface="Times New Roman" panose="02020603050405020304" pitchFamily="18" charset="0"/>
                <a:ea typeface="Cambria" panose="02040503050406030204" pitchFamily="18" charset="0"/>
              </a:rPr>
              <a:t>thực</a:t>
            </a:r>
            <a:r>
              <a:rPr lang="en-US" sz="1800" dirty="0">
                <a:effectLst/>
                <a:latin typeface="Times New Roman" panose="02020603050405020304" pitchFamily="18" charset="0"/>
                <a:ea typeface="Cambria" panose="02040503050406030204" pitchFamily="18" charset="0"/>
              </a:rPr>
              <a:t> </a:t>
            </a:r>
            <a:r>
              <a:rPr lang="en-US" sz="1800" dirty="0" err="1">
                <a:effectLst/>
                <a:latin typeface="Times New Roman" panose="02020603050405020304" pitchFamily="18" charset="0"/>
                <a:ea typeface="Cambria" panose="02040503050406030204" pitchFamily="18" charset="0"/>
              </a:rPr>
              <a:t>hiện</a:t>
            </a:r>
            <a:r>
              <a:rPr lang="en-US" sz="1800" dirty="0">
                <a:effectLst/>
                <a:latin typeface="Times New Roman" panose="02020603050405020304" pitchFamily="18" charset="0"/>
                <a:ea typeface="Cambria" panose="02040503050406030204" pitchFamily="18" charset="0"/>
              </a:rPr>
              <a:t> </a:t>
            </a:r>
            <a:r>
              <a:rPr lang="en-US" sz="1800" dirty="0" err="1">
                <a:effectLst/>
                <a:latin typeface="Times New Roman" panose="02020603050405020304" pitchFamily="18" charset="0"/>
                <a:ea typeface="Cambria" panose="02040503050406030204" pitchFamily="18" charset="0"/>
              </a:rPr>
              <a:t>giảm</a:t>
            </a:r>
            <a:r>
              <a:rPr lang="en-US" sz="1800" dirty="0">
                <a:effectLst/>
                <a:latin typeface="Times New Roman" panose="02020603050405020304" pitchFamily="18" charset="0"/>
                <a:ea typeface="Cambria" panose="02040503050406030204" pitchFamily="18" charset="0"/>
              </a:rPr>
              <a:t> </a:t>
            </a:r>
            <a:r>
              <a:rPr lang="en-US" sz="1800" dirty="0" err="1">
                <a:effectLst/>
                <a:latin typeface="Times New Roman" panose="02020603050405020304" pitchFamily="18" charset="0"/>
                <a:ea typeface="Cambria" panose="02040503050406030204" pitchFamily="18" charset="0"/>
              </a:rPr>
              <a:t>số</a:t>
            </a:r>
            <a:r>
              <a:rPr lang="en-US" sz="1800" dirty="0">
                <a:effectLst/>
                <a:latin typeface="Times New Roman" panose="02020603050405020304" pitchFamily="18" charset="0"/>
                <a:ea typeface="Cambria" panose="02040503050406030204" pitchFamily="18" charset="0"/>
              </a:rPr>
              <a:t> </a:t>
            </a:r>
            <a:r>
              <a:rPr lang="en-US" sz="1800" dirty="0" err="1">
                <a:effectLst/>
                <a:latin typeface="Times New Roman" panose="02020603050405020304" pitchFamily="18" charset="0"/>
                <a:ea typeface="Cambria" panose="02040503050406030204" pitchFamily="18" charset="0"/>
              </a:rPr>
              <a:t>kênh</a:t>
            </a:r>
            <a:r>
              <a:rPr lang="en-US" sz="1800" dirty="0">
                <a:effectLst/>
                <a:latin typeface="Times New Roman" panose="02020603050405020304" pitchFamily="18" charset="0"/>
                <a:ea typeface="Cambria" panose="02040503050406030204" pitchFamily="18" charset="0"/>
              </a:rPr>
              <a:t> - linear bottleneck. Sau </a:t>
            </a:r>
            <a:r>
              <a:rPr lang="en-US" sz="1800" dirty="0" err="1">
                <a:effectLst/>
                <a:latin typeface="Times New Roman" panose="02020603050405020304" pitchFamily="18" charset="0"/>
                <a:ea typeface="Cambria" panose="02040503050406030204" pitchFamily="18" charset="0"/>
              </a:rPr>
              <a:t>khi</a:t>
            </a:r>
            <a:r>
              <a:rPr lang="en-US" sz="1800" dirty="0">
                <a:effectLst/>
                <a:latin typeface="Times New Roman" panose="02020603050405020304" pitchFamily="18" charset="0"/>
                <a:ea typeface="Cambria" panose="02040503050406030204" pitchFamily="18" charset="0"/>
              </a:rPr>
              <a:t> </a:t>
            </a:r>
            <a:r>
              <a:rPr lang="en-US" sz="1800" dirty="0" err="1">
                <a:effectLst/>
                <a:latin typeface="Times New Roman" panose="02020603050405020304" pitchFamily="18" charset="0"/>
                <a:ea typeface="Cambria" panose="02040503050406030204" pitchFamily="18" charset="0"/>
              </a:rPr>
              <a:t>giảm</a:t>
            </a:r>
            <a:r>
              <a:rPr lang="en-US" sz="1800" dirty="0">
                <a:effectLst/>
                <a:latin typeface="Times New Roman" panose="02020603050405020304" pitchFamily="18" charset="0"/>
                <a:ea typeface="Cambria" panose="02040503050406030204" pitchFamily="18" charset="0"/>
              </a:rPr>
              <a:t> </a:t>
            </a:r>
            <a:r>
              <a:rPr lang="en-US" sz="1800" dirty="0" err="1">
                <a:effectLst/>
                <a:latin typeface="Times New Roman" panose="02020603050405020304" pitchFamily="18" charset="0"/>
                <a:ea typeface="Cambria" panose="02040503050406030204" pitchFamily="18" charset="0"/>
              </a:rPr>
              <a:t>chiều</a:t>
            </a:r>
            <a:r>
              <a:rPr lang="en-US" sz="1800" dirty="0">
                <a:effectLst/>
                <a:latin typeface="Times New Roman" panose="02020603050405020304" pitchFamily="18" charset="0"/>
                <a:ea typeface="Cambria" panose="02040503050406030204" pitchFamily="18" charset="0"/>
              </a:rPr>
              <a:t> ở </a:t>
            </a:r>
            <a:r>
              <a:rPr lang="en-US" sz="1800" dirty="0" err="1">
                <a:effectLst/>
                <a:latin typeface="Times New Roman" panose="02020603050405020304" pitchFamily="18" charset="0"/>
                <a:ea typeface="Cambria" panose="02040503050406030204" pitchFamily="18" charset="0"/>
              </a:rPr>
              <a:t>bước</a:t>
            </a:r>
            <a:r>
              <a:rPr lang="en-US" sz="1800" dirty="0">
                <a:effectLst/>
                <a:latin typeface="Times New Roman" panose="02020603050405020304" pitchFamily="18" charset="0"/>
                <a:ea typeface="Cambria" panose="02040503050406030204" pitchFamily="18" charset="0"/>
              </a:rPr>
              <a:t> </a:t>
            </a:r>
            <a:r>
              <a:rPr lang="en-US" sz="1800" dirty="0" err="1">
                <a:effectLst/>
                <a:latin typeface="Times New Roman" panose="02020603050405020304" pitchFamily="18" charset="0"/>
                <a:ea typeface="Cambria" panose="02040503050406030204" pitchFamily="18" charset="0"/>
              </a:rPr>
              <a:t>cuối</a:t>
            </a:r>
            <a:r>
              <a:rPr lang="en-US" sz="1800" dirty="0">
                <a:effectLst/>
                <a:latin typeface="Times New Roman" panose="02020603050405020304" pitchFamily="18" charset="0"/>
                <a:ea typeface="Cambria" panose="02040503050406030204" pitchFamily="18" charset="0"/>
              </a:rPr>
              <a:t>, </a:t>
            </a:r>
            <a:r>
              <a:rPr lang="en-US" sz="1800" dirty="0" err="1">
                <a:effectLst/>
                <a:latin typeface="Times New Roman" panose="02020603050405020304" pitchFamily="18" charset="0"/>
                <a:ea typeface="Cambria" panose="02040503050406030204" pitchFamily="18" charset="0"/>
              </a:rPr>
              <a:t>không</a:t>
            </a:r>
            <a:r>
              <a:rPr lang="en-US" sz="1800" dirty="0">
                <a:effectLst/>
                <a:latin typeface="Times New Roman" panose="02020603050405020304" pitchFamily="18" charset="0"/>
                <a:ea typeface="Cambria" panose="02040503050406030204" pitchFamily="18" charset="0"/>
              </a:rPr>
              <a:t> </a:t>
            </a:r>
            <a:r>
              <a:rPr lang="en-US" sz="1800" dirty="0" err="1">
                <a:effectLst/>
                <a:latin typeface="Times New Roman" panose="02020603050405020304" pitchFamily="18" charset="0"/>
                <a:ea typeface="Cambria" panose="02040503050406030204" pitchFamily="18" charset="0"/>
              </a:rPr>
              <a:t>dùng</a:t>
            </a:r>
            <a:r>
              <a:rPr lang="en-US" sz="1800" dirty="0">
                <a:effectLst/>
                <a:latin typeface="Times New Roman" panose="02020603050405020304" pitchFamily="18" charset="0"/>
                <a:ea typeface="Cambria" panose="02040503050406030204" pitchFamily="18" charset="0"/>
              </a:rPr>
              <a:t> </a:t>
            </a:r>
            <a:r>
              <a:rPr lang="en-US" sz="1800" dirty="0" err="1">
                <a:effectLst/>
                <a:latin typeface="Times New Roman" panose="02020603050405020304" pitchFamily="18" charset="0"/>
                <a:ea typeface="Cambria" panose="02040503050406030204" pitchFamily="18" charset="0"/>
              </a:rPr>
              <a:t>ReLU</a:t>
            </a:r>
            <a:r>
              <a:rPr lang="en-US" sz="1800" dirty="0">
                <a:effectLst/>
                <a:latin typeface="Times New Roman" panose="02020603050405020304" pitchFamily="18" charset="0"/>
                <a:ea typeface="Cambria" panose="02040503050406030204" pitchFamily="18" charset="0"/>
              </a:rPr>
              <a:t> </a:t>
            </a:r>
            <a:r>
              <a:rPr lang="en-US" sz="1800" dirty="0" err="1">
                <a:effectLst/>
                <a:latin typeface="Times New Roman" panose="02020603050405020304" pitchFamily="18" charset="0"/>
                <a:ea typeface="Cambria" panose="02040503050406030204" pitchFamily="18" charset="0"/>
              </a:rPr>
              <a:t>nữa</a:t>
            </a:r>
            <a:r>
              <a:rPr lang="en-US" sz="1800" dirty="0">
                <a:effectLst/>
                <a:latin typeface="Times New Roman" panose="02020603050405020304" pitchFamily="18" charset="0"/>
                <a:ea typeface="Cambria" panose="02040503050406030204" pitchFamily="18" charset="0"/>
              </a:rPr>
              <a:t>. </a:t>
            </a:r>
            <a:r>
              <a:rPr lang="en-US" sz="1800" dirty="0" err="1">
                <a:effectLst/>
                <a:latin typeface="Times New Roman" panose="02020603050405020304" pitchFamily="18" charset="0"/>
                <a:ea typeface="Cambria" panose="02040503050406030204" pitchFamily="18" charset="0"/>
              </a:rPr>
              <a:t>Tránh</a:t>
            </a:r>
            <a:r>
              <a:rPr lang="en-US" sz="1800" dirty="0">
                <a:effectLst/>
                <a:latin typeface="Times New Roman" panose="02020603050405020304" pitchFamily="18" charset="0"/>
                <a:ea typeface="Cambria" panose="02040503050406030204" pitchFamily="18" charset="0"/>
              </a:rPr>
              <a:t> </a:t>
            </a:r>
            <a:r>
              <a:rPr lang="en-US" sz="1800" dirty="0" err="1">
                <a:effectLst/>
                <a:latin typeface="Times New Roman" panose="02020603050405020304" pitchFamily="18" charset="0"/>
                <a:ea typeface="Cambria" panose="02040503050406030204" pitchFamily="18" charset="0"/>
              </a:rPr>
              <a:t>mất</a:t>
            </a:r>
            <a:r>
              <a:rPr lang="en-US" sz="1800" dirty="0">
                <a:effectLst/>
                <a:latin typeface="Times New Roman" panose="02020603050405020304" pitchFamily="18" charset="0"/>
                <a:ea typeface="Cambria" panose="02040503050406030204" pitchFamily="18" charset="0"/>
              </a:rPr>
              <a:t> </a:t>
            </a:r>
            <a:r>
              <a:rPr lang="en-US" sz="1800" dirty="0" err="1">
                <a:effectLst/>
                <a:latin typeface="Times New Roman" panose="02020603050405020304" pitchFamily="18" charset="0"/>
                <a:ea typeface="Cambria" panose="02040503050406030204" pitchFamily="18" charset="0"/>
              </a:rPr>
              <a:t>thông</a:t>
            </a:r>
            <a:r>
              <a:rPr lang="en-US" sz="1800" dirty="0">
                <a:effectLst/>
                <a:latin typeface="Times New Roman" panose="02020603050405020304" pitchFamily="18" charset="0"/>
                <a:ea typeface="Cambria" panose="02040503050406030204" pitchFamily="18" charset="0"/>
              </a:rPr>
              <a:t> tin do </a:t>
            </a:r>
            <a:r>
              <a:rPr lang="en-US" sz="1800" dirty="0" err="1">
                <a:effectLst/>
                <a:latin typeface="Times New Roman" panose="02020603050405020304" pitchFamily="18" charset="0"/>
                <a:ea typeface="Cambria" panose="02040503050406030204" pitchFamily="18" charset="0"/>
              </a:rPr>
              <a:t>ReLU</a:t>
            </a:r>
            <a:r>
              <a:rPr lang="en-US" sz="1800" dirty="0">
                <a:effectLst/>
                <a:latin typeface="Times New Roman" panose="02020603050405020304" pitchFamily="18" charset="0"/>
                <a:ea typeface="Cambria" panose="02040503050406030204" pitchFamily="18" charset="0"/>
              </a:rPr>
              <a:t> </a:t>
            </a:r>
            <a:r>
              <a:rPr lang="en-US" sz="1800" dirty="0" err="1">
                <a:effectLst/>
                <a:latin typeface="Times New Roman" panose="02020603050405020304" pitchFamily="18" charset="0"/>
                <a:ea typeface="Cambria" panose="02040503050406030204" pitchFamily="18" charset="0"/>
              </a:rPr>
              <a:t>có</a:t>
            </a:r>
            <a:r>
              <a:rPr lang="en-US" sz="1800" dirty="0">
                <a:effectLst/>
                <a:latin typeface="Times New Roman" panose="02020603050405020304" pitchFamily="18" charset="0"/>
                <a:ea typeface="Cambria" panose="02040503050406030204" pitchFamily="18" charset="0"/>
              </a:rPr>
              <a:t> </a:t>
            </a:r>
            <a:r>
              <a:rPr lang="en-US" sz="1800" dirty="0" err="1">
                <a:effectLst/>
                <a:latin typeface="Times New Roman" panose="02020603050405020304" pitchFamily="18" charset="0"/>
                <a:ea typeface="Cambria" panose="02040503050406030204" pitchFamily="18" charset="0"/>
              </a:rPr>
              <a:t>thể</a:t>
            </a:r>
            <a:r>
              <a:rPr lang="en-US" sz="1800" dirty="0">
                <a:effectLst/>
                <a:latin typeface="Times New Roman" panose="02020603050405020304" pitchFamily="18" charset="0"/>
                <a:ea typeface="Cambria" panose="02040503050406030204" pitchFamily="18" charset="0"/>
              </a:rPr>
              <a:t> </a:t>
            </a:r>
            <a:r>
              <a:rPr lang="en-US" sz="1800" dirty="0" err="1">
                <a:effectLst/>
                <a:latin typeface="Times New Roman" panose="02020603050405020304" pitchFamily="18" charset="0"/>
                <a:ea typeface="Cambria" panose="02040503050406030204" pitchFamily="18" charset="0"/>
              </a:rPr>
              <a:t>loại</a:t>
            </a:r>
            <a:r>
              <a:rPr lang="en-US" sz="1800" dirty="0">
                <a:effectLst/>
                <a:latin typeface="Times New Roman" panose="02020603050405020304" pitchFamily="18" charset="0"/>
                <a:ea typeface="Cambria" panose="02040503050406030204" pitchFamily="18" charset="0"/>
              </a:rPr>
              <a:t> </a:t>
            </a:r>
            <a:r>
              <a:rPr lang="en-US" sz="1800" dirty="0" err="1">
                <a:effectLst/>
                <a:latin typeface="Times New Roman" panose="02020603050405020304" pitchFamily="18" charset="0"/>
                <a:ea typeface="Cambria" panose="02040503050406030204" pitchFamily="18" charset="0"/>
              </a:rPr>
              <a:t>bỏ</a:t>
            </a:r>
            <a:r>
              <a:rPr lang="en-US" sz="1800" dirty="0">
                <a:effectLst/>
                <a:latin typeface="Times New Roman" panose="02020603050405020304" pitchFamily="18" charset="0"/>
                <a:ea typeface="Cambria" panose="02040503050406030204" pitchFamily="18" charset="0"/>
              </a:rPr>
              <a:t> </a:t>
            </a:r>
            <a:r>
              <a:rPr lang="en-US" sz="1800" dirty="0" err="1">
                <a:effectLst/>
                <a:latin typeface="Times New Roman" panose="02020603050405020304" pitchFamily="18" charset="0"/>
                <a:ea typeface="Cambria" panose="02040503050406030204" pitchFamily="18" charset="0"/>
              </a:rPr>
              <a:t>các</a:t>
            </a:r>
            <a:r>
              <a:rPr lang="en-US" sz="1800" dirty="0">
                <a:effectLst/>
                <a:latin typeface="Times New Roman" panose="02020603050405020304" pitchFamily="18" charset="0"/>
                <a:ea typeface="Cambria" panose="02040503050406030204" pitchFamily="18" charset="0"/>
              </a:rPr>
              <a:t> </a:t>
            </a:r>
            <a:r>
              <a:rPr lang="en-US" sz="1800" dirty="0" err="1">
                <a:effectLst/>
                <a:latin typeface="Times New Roman" panose="02020603050405020304" pitchFamily="18" charset="0"/>
                <a:ea typeface="Cambria" panose="02040503050406030204" pitchFamily="18" charset="0"/>
              </a:rPr>
              <a:t>giá</a:t>
            </a:r>
            <a:r>
              <a:rPr lang="en-US" sz="1800" dirty="0">
                <a:effectLst/>
                <a:latin typeface="Times New Roman" panose="02020603050405020304" pitchFamily="18" charset="0"/>
                <a:ea typeface="Cambria" panose="02040503050406030204" pitchFamily="18" charset="0"/>
              </a:rPr>
              <a:t> </a:t>
            </a:r>
            <a:r>
              <a:rPr lang="en-US" sz="1800" dirty="0" err="1">
                <a:effectLst/>
                <a:latin typeface="Times New Roman" panose="02020603050405020304" pitchFamily="18" charset="0"/>
                <a:ea typeface="Cambria" panose="02040503050406030204" pitchFamily="18" charset="0"/>
              </a:rPr>
              <a:t>trị</a:t>
            </a:r>
            <a:r>
              <a:rPr lang="en-US" sz="1800" dirty="0">
                <a:effectLst/>
                <a:latin typeface="Times New Roman" panose="02020603050405020304" pitchFamily="18" charset="0"/>
                <a:ea typeface="Cambria" panose="02040503050406030204" pitchFamily="18" charset="0"/>
              </a:rPr>
              <a:t> </a:t>
            </a:r>
            <a:r>
              <a:rPr lang="en-US" sz="1800" dirty="0" err="1">
                <a:effectLst/>
                <a:latin typeface="Times New Roman" panose="02020603050405020304" pitchFamily="18" charset="0"/>
                <a:ea typeface="Cambria" panose="02040503050406030204" pitchFamily="18" charset="0"/>
              </a:rPr>
              <a:t>nhỏ</a:t>
            </a:r>
            <a:r>
              <a:rPr lang="en-US" sz="1800" dirty="0">
                <a:effectLst/>
                <a:latin typeface="Times New Roman" panose="02020603050405020304" pitchFamily="18" charset="0"/>
                <a:ea typeface="Cambria" panose="02040503050406030204" pitchFamily="18" charset="0"/>
              </a:rPr>
              <a:t> (</a:t>
            </a:r>
            <a:r>
              <a:rPr lang="en-US" sz="1800" dirty="0" err="1">
                <a:effectLst/>
                <a:latin typeface="Times New Roman" panose="02020603050405020304" pitchFamily="18" charset="0"/>
                <a:ea typeface="Cambria" panose="02040503050406030204" pitchFamily="18" charset="0"/>
              </a:rPr>
              <a:t>nhưng</a:t>
            </a:r>
            <a:r>
              <a:rPr lang="en-US" sz="1800" dirty="0">
                <a:effectLst/>
                <a:latin typeface="Times New Roman" panose="02020603050405020304" pitchFamily="18" charset="0"/>
                <a:ea typeface="Cambria" panose="02040503050406030204" pitchFamily="18" charset="0"/>
              </a:rPr>
              <a:t> </a:t>
            </a:r>
            <a:r>
              <a:rPr lang="en-US" sz="1800" dirty="0" err="1">
                <a:effectLst/>
                <a:latin typeface="Times New Roman" panose="02020603050405020304" pitchFamily="18" charset="0"/>
                <a:ea typeface="Cambria" panose="02040503050406030204" pitchFamily="18" charset="0"/>
              </a:rPr>
              <a:t>quan</a:t>
            </a:r>
            <a:r>
              <a:rPr lang="en-US" sz="1800" dirty="0">
                <a:effectLst/>
                <a:latin typeface="Times New Roman" panose="02020603050405020304" pitchFamily="18" charset="0"/>
                <a:ea typeface="Cambria" panose="02040503050406030204" pitchFamily="18" charset="0"/>
              </a:rPr>
              <a:t> </a:t>
            </a:r>
            <a:r>
              <a:rPr lang="en-US" sz="1800" dirty="0" err="1">
                <a:effectLst/>
                <a:latin typeface="Times New Roman" panose="02020603050405020304" pitchFamily="18" charset="0"/>
                <a:ea typeface="Cambria" panose="02040503050406030204" pitchFamily="18" charset="0"/>
              </a:rPr>
              <a:t>trọng</a:t>
            </a:r>
            <a:r>
              <a:rPr lang="en-US" sz="1800" dirty="0">
                <a:effectLst/>
                <a:latin typeface="Times New Roman" panose="02020603050405020304" pitchFamily="18" charset="0"/>
                <a:ea typeface="Cambria" panose="02040503050406030204" pitchFamily="18" charset="0"/>
              </a:rPr>
              <a:t>) → </a:t>
            </a:r>
            <a:r>
              <a:rPr lang="en-US" sz="1800" dirty="0" err="1">
                <a:effectLst/>
                <a:latin typeface="Times New Roman" panose="02020603050405020304" pitchFamily="18" charset="0"/>
                <a:ea typeface="Cambria" panose="02040503050406030204" pitchFamily="18" charset="0"/>
              </a:rPr>
              <a:t>giữ</a:t>
            </a:r>
            <a:r>
              <a:rPr lang="en-US" sz="1800" dirty="0">
                <a:effectLst/>
                <a:latin typeface="Times New Roman" panose="02020603050405020304" pitchFamily="18" charset="0"/>
                <a:ea typeface="Cambria" panose="02040503050406030204" pitchFamily="18" charset="0"/>
              </a:rPr>
              <a:t> </a:t>
            </a:r>
            <a:r>
              <a:rPr lang="en-US" sz="1800" dirty="0" err="1">
                <a:effectLst/>
                <a:latin typeface="Times New Roman" panose="02020603050405020304" pitchFamily="18" charset="0"/>
                <a:ea typeface="Cambria" panose="02040503050406030204" pitchFamily="18" charset="0"/>
              </a:rPr>
              <a:t>nguyên</a:t>
            </a:r>
            <a:r>
              <a:rPr lang="en-US" sz="1800" dirty="0">
                <a:effectLst/>
                <a:latin typeface="Times New Roman" panose="02020603050405020304" pitchFamily="18" charset="0"/>
                <a:ea typeface="Cambria" panose="02040503050406030204" pitchFamily="18" charset="0"/>
              </a:rPr>
              <a:t> </a:t>
            </a:r>
            <a:r>
              <a:rPr lang="en-US" sz="1800" dirty="0" err="1">
                <a:effectLst/>
                <a:latin typeface="Times New Roman" panose="02020603050405020304" pitchFamily="18" charset="0"/>
                <a:ea typeface="Cambria" panose="02040503050406030204" pitchFamily="18" charset="0"/>
              </a:rPr>
              <a:t>tính</a:t>
            </a:r>
            <a:r>
              <a:rPr lang="en-US" sz="1800" dirty="0">
                <a:effectLst/>
                <a:latin typeface="Times New Roman" panose="02020603050405020304" pitchFamily="18" charset="0"/>
                <a:ea typeface="Cambria" panose="02040503050406030204" pitchFamily="18" charset="0"/>
              </a:rPr>
              <a:t> </a:t>
            </a:r>
            <a:r>
              <a:rPr lang="en-US" sz="1800" dirty="0" err="1">
                <a:effectLst/>
                <a:latin typeface="Times New Roman" panose="02020603050405020304" pitchFamily="18" charset="0"/>
                <a:ea typeface="Cambria" panose="02040503050406030204" pitchFamily="18" charset="0"/>
              </a:rPr>
              <a:t>tuyến</a:t>
            </a:r>
            <a:r>
              <a:rPr lang="en-US" sz="1800" dirty="0">
                <a:effectLst/>
                <a:latin typeface="Times New Roman" panose="02020603050405020304" pitchFamily="18" charset="0"/>
                <a:ea typeface="Cambria" panose="02040503050406030204" pitchFamily="18" charset="0"/>
              </a:rPr>
              <a:t> </a:t>
            </a:r>
            <a:r>
              <a:rPr lang="en-US" sz="1800" dirty="0" err="1">
                <a:effectLst/>
                <a:latin typeface="Times New Roman" panose="02020603050405020304" pitchFamily="18" charset="0"/>
                <a:ea typeface="Cambria" panose="02040503050406030204" pitchFamily="18" charset="0"/>
              </a:rPr>
              <a:t>tính</a:t>
            </a:r>
            <a:r>
              <a:rPr lang="en-US" sz="1800" dirty="0">
                <a:effectLst/>
                <a:latin typeface="Times New Roman" panose="02020603050405020304" pitchFamily="18" charset="0"/>
                <a:ea typeface="Cambria" panose="02040503050406030204" pitchFamily="18" charset="0"/>
              </a:rPr>
              <a:t> </a:t>
            </a:r>
            <a:r>
              <a:rPr lang="en-US" sz="1800" dirty="0" err="1">
                <a:effectLst/>
                <a:latin typeface="Times New Roman" panose="02020603050405020304" pitchFamily="18" charset="0"/>
                <a:ea typeface="Cambria" panose="02040503050406030204" pitchFamily="18" charset="0"/>
              </a:rPr>
              <a:t>tại</a:t>
            </a:r>
            <a:r>
              <a:rPr lang="en-US" sz="1800" dirty="0">
                <a:effectLst/>
                <a:latin typeface="Times New Roman" panose="02020603050405020304" pitchFamily="18" charset="0"/>
                <a:ea typeface="Cambria" panose="02040503050406030204" pitchFamily="18" charset="0"/>
              </a:rPr>
              <a:t> </a:t>
            </a:r>
            <a:r>
              <a:rPr lang="en-US" sz="1800" dirty="0" err="1">
                <a:effectLst/>
                <a:latin typeface="Times New Roman" panose="02020603050405020304" pitchFamily="18" charset="0"/>
                <a:ea typeface="Cambria" panose="02040503050406030204" pitchFamily="18" charset="0"/>
              </a:rPr>
              <a:t>vùng</a:t>
            </a:r>
            <a:r>
              <a:rPr lang="en-US" sz="1800" dirty="0">
                <a:effectLst/>
                <a:latin typeface="Times New Roman" panose="02020603050405020304" pitchFamily="18" charset="0"/>
                <a:ea typeface="Cambria" panose="02040503050406030204" pitchFamily="18" charset="0"/>
              </a:rPr>
              <a:t> </a:t>
            </a:r>
            <a:r>
              <a:rPr lang="en-US" sz="1800" dirty="0" err="1">
                <a:effectLst/>
                <a:latin typeface="Times New Roman" panose="02020603050405020304" pitchFamily="18" charset="0"/>
                <a:ea typeface="Cambria" panose="02040503050406030204" pitchFamily="18" charset="0"/>
              </a:rPr>
              <a:t>thấp</a:t>
            </a:r>
            <a:r>
              <a:rPr lang="en-US" sz="1800" dirty="0">
                <a:effectLst/>
                <a:latin typeface="Times New Roman" panose="02020603050405020304" pitchFamily="18" charset="0"/>
                <a:ea typeface="Cambria" panose="02040503050406030204" pitchFamily="18" charset="0"/>
              </a:rPr>
              <a:t> </a:t>
            </a:r>
            <a:r>
              <a:rPr lang="en-US" sz="1800" dirty="0" err="1">
                <a:effectLst/>
                <a:latin typeface="Times New Roman" panose="02020603050405020304" pitchFamily="18" charset="0"/>
                <a:ea typeface="Cambria" panose="02040503050406030204" pitchFamily="18" charset="0"/>
              </a:rPr>
              <a:t>chiều</a:t>
            </a:r>
            <a:endParaRPr lang="en-US" sz="1800" dirty="0">
              <a:effectLst/>
              <a:latin typeface="Times New Roman" panose="02020603050405020304" pitchFamily="18" charset="0"/>
              <a:ea typeface="Cambria" panose="02040503050406030204" pitchFamily="18" charset="0"/>
            </a:endParaRPr>
          </a:p>
          <a:p>
            <a:pPr marL="342900" marR="0" lvl="0" indent="-342900" algn="just">
              <a:lnSpc>
                <a:spcPct val="150000"/>
              </a:lnSpc>
              <a:spcBef>
                <a:spcPts val="0"/>
              </a:spcBef>
              <a:spcAft>
                <a:spcPts val="1000"/>
              </a:spcAft>
              <a:buFont typeface="Times New Roman" panose="02020603050405020304" pitchFamily="18" charset="0"/>
              <a:buChar char="-"/>
              <a:tabLst>
                <a:tab pos="270510" algn="l"/>
                <a:tab pos="540385" algn="l"/>
              </a:tabLst>
            </a:pPr>
            <a:r>
              <a:rPr lang="en-US" sz="1800" dirty="0">
                <a:effectLst/>
                <a:latin typeface="Times New Roman" panose="02020603050405020304" pitchFamily="18" charset="0"/>
                <a:ea typeface="Cambria" panose="02040503050406030204" pitchFamily="18" charset="0"/>
              </a:rPr>
              <a:t>Skip connection </a:t>
            </a:r>
            <a:r>
              <a:rPr lang="en-US" sz="1800" dirty="0" err="1">
                <a:effectLst/>
                <a:latin typeface="Times New Roman" panose="02020603050405020304" pitchFamily="18" charset="0"/>
                <a:ea typeface="Cambria" panose="02040503050406030204" pitchFamily="18" charset="0"/>
              </a:rPr>
              <a:t>truyền</a:t>
            </a:r>
            <a:r>
              <a:rPr lang="en-US" sz="1800" dirty="0">
                <a:effectLst/>
                <a:latin typeface="Times New Roman" panose="02020603050405020304" pitchFamily="18" charset="0"/>
                <a:ea typeface="Cambria" panose="02040503050406030204" pitchFamily="18" charset="0"/>
              </a:rPr>
              <a:t> </a:t>
            </a:r>
            <a:r>
              <a:rPr lang="en-US" sz="1800" dirty="0" err="1">
                <a:effectLst/>
                <a:latin typeface="Times New Roman" panose="02020603050405020304" pitchFamily="18" charset="0"/>
                <a:ea typeface="Cambria" panose="02040503050406030204" pitchFamily="18" charset="0"/>
              </a:rPr>
              <a:t>các</a:t>
            </a:r>
            <a:r>
              <a:rPr lang="en-US" sz="1800" dirty="0">
                <a:effectLst/>
                <a:latin typeface="Times New Roman" panose="02020603050405020304" pitchFamily="18" charset="0"/>
                <a:ea typeface="Cambria" panose="02040503050406030204" pitchFamily="18" charset="0"/>
              </a:rPr>
              <a:t> </a:t>
            </a:r>
            <a:r>
              <a:rPr lang="en-US" sz="1800" dirty="0" err="1">
                <a:effectLst/>
                <a:latin typeface="Times New Roman" panose="02020603050405020304" pitchFamily="18" charset="0"/>
                <a:ea typeface="Cambria" panose="02040503050406030204" pitchFamily="18" charset="0"/>
              </a:rPr>
              <a:t>thông</a:t>
            </a:r>
            <a:r>
              <a:rPr lang="en-US" sz="1800" dirty="0">
                <a:effectLst/>
                <a:latin typeface="Times New Roman" panose="02020603050405020304" pitchFamily="18" charset="0"/>
                <a:ea typeface="Cambria" panose="02040503050406030204" pitchFamily="18" charset="0"/>
              </a:rPr>
              <a:t> tin </a:t>
            </a:r>
            <a:r>
              <a:rPr lang="en-US" sz="1800" dirty="0" err="1">
                <a:effectLst/>
                <a:latin typeface="Times New Roman" panose="02020603050405020304" pitchFamily="18" charset="0"/>
                <a:ea typeface="Cambria" panose="02040503050406030204" pitchFamily="18" charset="0"/>
              </a:rPr>
              <a:t>gốc</a:t>
            </a:r>
            <a:r>
              <a:rPr lang="en-US" sz="1800" dirty="0">
                <a:effectLst/>
                <a:latin typeface="Times New Roman" panose="02020603050405020304" pitchFamily="18" charset="0"/>
                <a:ea typeface="Cambria" panose="02040503050406030204" pitchFamily="18" charset="0"/>
              </a:rPr>
              <a:t> - inverted residual</a:t>
            </a:r>
          </a:p>
          <a:p>
            <a:endParaRPr lang="en-US" dirty="0"/>
          </a:p>
        </p:txBody>
      </p:sp>
      <p:sp>
        <p:nvSpPr>
          <p:cNvPr id="4" name="Slide Number Placeholder 3"/>
          <p:cNvSpPr>
            <a:spLocks noGrp="1"/>
          </p:cNvSpPr>
          <p:nvPr>
            <p:ph type="sldNum" sz="quarter" idx="5"/>
          </p:nvPr>
        </p:nvSpPr>
        <p:spPr/>
        <p:txBody>
          <a:bodyPr/>
          <a:lstStyle/>
          <a:p>
            <a:fld id="{DFBF8197-EED4-4EBE-92EA-36C7EB54B110}" type="slidenum">
              <a:rPr lang="en-US" smtClean="0"/>
              <a:t>11</a:t>
            </a:fld>
            <a:endParaRPr lang="en-US"/>
          </a:p>
        </p:txBody>
      </p:sp>
    </p:spTree>
    <p:extLst>
      <p:ext uri="{BB962C8B-B14F-4D97-AF65-F5344CB8AC3E}">
        <p14:creationId xmlns:p14="http://schemas.microsoft.com/office/powerpoint/2010/main" val="39421356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err="1">
                <a:effectLst/>
                <a:latin typeface="Times New Roman" panose="02020603050405020304" pitchFamily="18" charset="0"/>
                <a:ea typeface="Times New Roman" panose="02020603050405020304" pitchFamily="18" charset="0"/>
              </a:rPr>
              <a:t>Một</a:t>
            </a:r>
            <a:r>
              <a:rPr lang="en-US" sz="1800" dirty="0">
                <a:effectLst/>
                <a:latin typeface="Times New Roman" panose="02020603050405020304" pitchFamily="18" charset="0"/>
                <a:ea typeface="Times New Roman" panose="02020603050405020304" pitchFamily="18" charset="0"/>
              </a:rPr>
              <a:t> block </a:t>
            </a:r>
            <a:r>
              <a:rPr lang="en-US" sz="1800" dirty="0" err="1">
                <a:effectLst/>
                <a:latin typeface="Times New Roman" panose="02020603050405020304" pitchFamily="18" charset="0"/>
                <a:ea typeface="Times New Roman" panose="02020603050405020304" pitchFamily="18" charset="0"/>
              </a:rPr>
              <a:t>của</a:t>
            </a:r>
            <a:r>
              <a:rPr lang="en-US" sz="1800" dirty="0">
                <a:effectLst/>
                <a:latin typeface="Times New Roman" panose="02020603050405020304" pitchFamily="18" charset="0"/>
                <a:ea typeface="Times New Roman" panose="02020603050405020304" pitchFamily="18" charset="0"/>
              </a:rPr>
              <a:t> MobileNetV2 </a:t>
            </a:r>
            <a:r>
              <a:rPr lang="en-US" sz="1800" dirty="0" err="1">
                <a:effectLst/>
                <a:latin typeface="Times New Roman" panose="02020603050405020304" pitchFamily="18" charset="0"/>
                <a:ea typeface="Times New Roman" panose="02020603050405020304" pitchFamily="18" charset="0"/>
              </a:rPr>
              <a:t>sử</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dụng</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Depthwise</a:t>
            </a:r>
            <a:r>
              <a:rPr lang="en-US" sz="1800" dirty="0">
                <a:effectLst/>
                <a:latin typeface="Times New Roman" panose="02020603050405020304" pitchFamily="18" charset="0"/>
                <a:ea typeface="Times New Roman" panose="02020603050405020304" pitchFamily="18" charset="0"/>
              </a:rPr>
              <a:t> convolution </a:t>
            </a:r>
            <a:r>
              <a:rPr lang="en-US" sz="1800" dirty="0" err="1">
                <a:effectLst/>
                <a:latin typeface="Times New Roman" panose="02020603050405020304" pitchFamily="18" charset="0"/>
                <a:ea typeface="Times New Roman" panose="02020603050405020304" pitchFamily="18" charset="0"/>
              </a:rPr>
              <a:t>thực</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hiện</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áp</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dụng</a:t>
            </a:r>
            <a:r>
              <a:rPr lang="en-US" sz="1800" dirty="0">
                <a:effectLst/>
                <a:latin typeface="Times New Roman" panose="02020603050405020304" pitchFamily="18" charset="0"/>
                <a:ea typeface="Times New Roman" panose="02020603050405020304" pitchFamily="18" charset="0"/>
              </a:rPr>
              <a:t> 1 </a:t>
            </a:r>
            <a:r>
              <a:rPr lang="en-US" sz="1800" dirty="0" err="1">
                <a:effectLst/>
                <a:latin typeface="Times New Roman" panose="02020603050405020304" pitchFamily="18" charset="0"/>
                <a:ea typeface="Times New Roman" panose="02020603050405020304" pitchFamily="18" charset="0"/>
              </a:rPr>
              <a:t>bộ</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lọc</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riêng</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cho</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từng</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kênh</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và</a:t>
            </a:r>
            <a:r>
              <a:rPr lang="en-US" sz="1800" dirty="0">
                <a:effectLst/>
                <a:latin typeface="Times New Roman" panose="02020603050405020304" pitchFamily="18" charset="0"/>
                <a:ea typeface="Times New Roman" panose="02020603050405020304" pitchFamily="18" charset="0"/>
              </a:rPr>
              <a:t> Pointwise convolution (1x1) </a:t>
            </a:r>
            <a:r>
              <a:rPr lang="en-US" sz="1800" dirty="0" err="1">
                <a:effectLst/>
                <a:latin typeface="Times New Roman" panose="02020603050405020304" pitchFamily="18" charset="0"/>
                <a:ea typeface="Times New Roman" panose="02020603050405020304" pitchFamily="18" charset="0"/>
              </a:rPr>
              <a:t>thực</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hiện</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trộn</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các</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kênh</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lại</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với</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nhau</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gồm</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các</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thành</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phần</a:t>
            </a:r>
            <a:r>
              <a:rPr lang="en-US" sz="1800" dirty="0">
                <a:effectLst/>
                <a:latin typeface="Times New Roman" panose="02020603050405020304" pitchFamily="18" charset="0"/>
                <a:ea typeface="Times New Roman" panose="02020603050405020304" pitchFamily="18" charset="0"/>
              </a:rPr>
              <a:t>:</a:t>
            </a:r>
          </a:p>
          <a:p>
            <a:endParaRPr lang="en-US" dirty="0"/>
          </a:p>
          <a:p>
            <a:pPr marL="342900" marR="0" lvl="0" indent="-342900" algn="just">
              <a:lnSpc>
                <a:spcPct val="150000"/>
              </a:lnSpc>
              <a:spcBef>
                <a:spcPts val="0"/>
              </a:spcBef>
              <a:spcAft>
                <a:spcPts val="1000"/>
              </a:spcAft>
              <a:buFont typeface="Times New Roman" panose="02020603050405020304" pitchFamily="18" charset="0"/>
              <a:buChar char="-"/>
              <a:tabLst>
                <a:tab pos="270510" algn="l"/>
                <a:tab pos="540385" algn="l"/>
              </a:tabLst>
            </a:pPr>
            <a:r>
              <a:rPr lang="en-US" sz="1800" dirty="0">
                <a:effectLst/>
                <a:latin typeface="Times New Roman" panose="02020603050405020304" pitchFamily="18" charset="0"/>
                <a:ea typeface="Cambria" panose="02040503050406030204" pitchFamily="18" charset="0"/>
              </a:rPr>
              <a:t>Expand (1x1 conv + ReLU6) </a:t>
            </a:r>
            <a:r>
              <a:rPr lang="en-US" sz="1800" dirty="0" err="1">
                <a:effectLst/>
                <a:latin typeface="Times New Roman" panose="02020603050405020304" pitchFamily="18" charset="0"/>
                <a:ea typeface="Cambria" panose="02040503050406030204" pitchFamily="18" charset="0"/>
              </a:rPr>
              <a:t>giúp</a:t>
            </a:r>
            <a:r>
              <a:rPr lang="en-US" sz="1800" dirty="0">
                <a:effectLst/>
                <a:latin typeface="Times New Roman" panose="02020603050405020304" pitchFamily="18" charset="0"/>
                <a:ea typeface="Cambria" panose="02040503050406030204" pitchFamily="18" charset="0"/>
              </a:rPr>
              <a:t> </a:t>
            </a:r>
            <a:r>
              <a:rPr lang="en-US" sz="1800" dirty="0" err="1">
                <a:effectLst/>
                <a:latin typeface="Times New Roman" panose="02020603050405020304" pitchFamily="18" charset="0"/>
                <a:ea typeface="Cambria" panose="02040503050406030204" pitchFamily="18" charset="0"/>
              </a:rPr>
              <a:t>tăng</a:t>
            </a:r>
            <a:r>
              <a:rPr lang="en-US" sz="1800" dirty="0">
                <a:effectLst/>
                <a:latin typeface="Times New Roman" panose="02020603050405020304" pitchFamily="18" charset="0"/>
                <a:ea typeface="Cambria" panose="02040503050406030204" pitchFamily="18" charset="0"/>
              </a:rPr>
              <a:t> </a:t>
            </a:r>
            <a:r>
              <a:rPr lang="en-US" sz="1800" dirty="0" err="1">
                <a:effectLst/>
                <a:latin typeface="Times New Roman" panose="02020603050405020304" pitchFamily="18" charset="0"/>
                <a:ea typeface="Cambria" panose="02040503050406030204" pitchFamily="18" charset="0"/>
              </a:rPr>
              <a:t>số</a:t>
            </a:r>
            <a:r>
              <a:rPr lang="en-US" sz="1800" dirty="0">
                <a:effectLst/>
                <a:latin typeface="Times New Roman" panose="02020603050405020304" pitchFamily="18" charset="0"/>
                <a:ea typeface="Cambria" panose="02040503050406030204" pitchFamily="18" charset="0"/>
              </a:rPr>
              <a:t> </a:t>
            </a:r>
            <a:r>
              <a:rPr lang="en-US" sz="1800" dirty="0" err="1">
                <a:effectLst/>
                <a:latin typeface="Times New Roman" panose="02020603050405020304" pitchFamily="18" charset="0"/>
                <a:ea typeface="Cambria" panose="02040503050406030204" pitchFamily="18" charset="0"/>
              </a:rPr>
              <a:t>kênh</a:t>
            </a:r>
            <a:r>
              <a:rPr lang="en-US" sz="1800" dirty="0">
                <a:effectLst/>
                <a:latin typeface="Times New Roman" panose="02020603050405020304" pitchFamily="18" charset="0"/>
                <a:ea typeface="Cambria" panose="02040503050406030204" pitchFamily="18" charset="0"/>
              </a:rPr>
              <a:t> </a:t>
            </a:r>
          </a:p>
          <a:p>
            <a:pPr marL="342900" marR="0" lvl="0" indent="-342900" algn="just">
              <a:lnSpc>
                <a:spcPct val="150000"/>
              </a:lnSpc>
              <a:spcBef>
                <a:spcPts val="0"/>
              </a:spcBef>
              <a:spcAft>
                <a:spcPts val="1000"/>
              </a:spcAft>
              <a:buFont typeface="Times New Roman" panose="02020603050405020304" pitchFamily="18" charset="0"/>
              <a:buChar char="-"/>
              <a:tabLst>
                <a:tab pos="270510" algn="l"/>
                <a:tab pos="540385" algn="l"/>
              </a:tabLst>
            </a:pPr>
            <a:r>
              <a:rPr lang="en-US" sz="1800" dirty="0" err="1">
                <a:effectLst/>
                <a:latin typeface="Times New Roman" panose="02020603050405020304" pitchFamily="18" charset="0"/>
                <a:ea typeface="Cambria" panose="02040503050406030204" pitchFamily="18" charset="0"/>
              </a:rPr>
              <a:t>Depthwise</a:t>
            </a:r>
            <a:r>
              <a:rPr lang="en-US" sz="1800" dirty="0">
                <a:effectLst/>
                <a:latin typeface="Times New Roman" panose="02020603050405020304" pitchFamily="18" charset="0"/>
                <a:ea typeface="Cambria" panose="02040503050406030204" pitchFamily="18" charset="0"/>
              </a:rPr>
              <a:t> Convolution (3x3 + ReLU6) </a:t>
            </a:r>
            <a:r>
              <a:rPr lang="en-US" sz="1800" dirty="0" err="1">
                <a:effectLst/>
                <a:latin typeface="Times New Roman" panose="02020603050405020304" pitchFamily="18" charset="0"/>
                <a:ea typeface="Cambria" panose="02040503050406030204" pitchFamily="18" charset="0"/>
              </a:rPr>
              <a:t>lọc</a:t>
            </a:r>
            <a:r>
              <a:rPr lang="en-US" sz="1800" dirty="0">
                <a:effectLst/>
                <a:latin typeface="Times New Roman" panose="02020603050405020304" pitchFamily="18" charset="0"/>
                <a:ea typeface="Cambria" panose="02040503050406030204" pitchFamily="18" charset="0"/>
              </a:rPr>
              <a:t> </a:t>
            </a:r>
            <a:r>
              <a:rPr lang="en-US" sz="1800" dirty="0" err="1">
                <a:effectLst/>
                <a:latin typeface="Times New Roman" panose="02020603050405020304" pitchFamily="18" charset="0"/>
                <a:ea typeface="Cambria" panose="02040503050406030204" pitchFamily="18" charset="0"/>
              </a:rPr>
              <a:t>không</a:t>
            </a:r>
            <a:r>
              <a:rPr lang="en-US" sz="1800" dirty="0">
                <a:effectLst/>
                <a:latin typeface="Times New Roman" panose="02020603050405020304" pitchFamily="18" charset="0"/>
                <a:ea typeface="Cambria" panose="02040503050406030204" pitchFamily="18" charset="0"/>
              </a:rPr>
              <a:t> </a:t>
            </a:r>
            <a:r>
              <a:rPr lang="en-US" sz="1800" dirty="0" err="1">
                <a:effectLst/>
                <a:latin typeface="Times New Roman" panose="02020603050405020304" pitchFamily="18" charset="0"/>
                <a:ea typeface="Cambria" panose="02040503050406030204" pitchFamily="18" charset="0"/>
              </a:rPr>
              <a:t>gian</a:t>
            </a:r>
            <a:r>
              <a:rPr lang="en-US" sz="1800" dirty="0">
                <a:effectLst/>
                <a:latin typeface="Times New Roman" panose="02020603050405020304" pitchFamily="18" charset="0"/>
                <a:ea typeface="Cambria" panose="02040503050406030204" pitchFamily="18" charset="0"/>
              </a:rPr>
              <a:t> </a:t>
            </a:r>
            <a:r>
              <a:rPr lang="en-US" sz="1800" dirty="0" err="1">
                <a:effectLst/>
                <a:latin typeface="Times New Roman" panose="02020603050405020304" pitchFamily="18" charset="0"/>
                <a:ea typeface="Cambria" panose="02040503050406030204" pitchFamily="18" charset="0"/>
              </a:rPr>
              <a:t>riêng</a:t>
            </a:r>
            <a:r>
              <a:rPr lang="en-US" sz="1800" dirty="0">
                <a:effectLst/>
                <a:latin typeface="Times New Roman" panose="02020603050405020304" pitchFamily="18" charset="0"/>
                <a:ea typeface="Cambria" panose="02040503050406030204" pitchFamily="18" charset="0"/>
              </a:rPr>
              <a:t> </a:t>
            </a:r>
            <a:r>
              <a:rPr lang="en-US" sz="1800" dirty="0" err="1">
                <a:effectLst/>
                <a:latin typeface="Times New Roman" panose="02020603050405020304" pitchFamily="18" charset="0"/>
                <a:ea typeface="Cambria" panose="02040503050406030204" pitchFamily="18" charset="0"/>
              </a:rPr>
              <a:t>từng</a:t>
            </a:r>
            <a:r>
              <a:rPr lang="en-US" sz="1800" dirty="0">
                <a:effectLst/>
                <a:latin typeface="Times New Roman" panose="02020603050405020304" pitchFamily="18" charset="0"/>
                <a:ea typeface="Cambria" panose="02040503050406030204" pitchFamily="18" charset="0"/>
              </a:rPr>
              <a:t> </a:t>
            </a:r>
            <a:r>
              <a:rPr lang="en-US" sz="1800" dirty="0" err="1">
                <a:effectLst/>
                <a:latin typeface="Times New Roman" panose="02020603050405020304" pitchFamily="18" charset="0"/>
                <a:ea typeface="Cambria" panose="02040503050406030204" pitchFamily="18" charset="0"/>
              </a:rPr>
              <a:t>kênh</a:t>
            </a:r>
            <a:endParaRPr lang="en-US" sz="1800" dirty="0">
              <a:effectLst/>
              <a:latin typeface="Times New Roman" panose="02020603050405020304" pitchFamily="18" charset="0"/>
              <a:ea typeface="Cambria" panose="02040503050406030204" pitchFamily="18" charset="0"/>
            </a:endParaRPr>
          </a:p>
          <a:p>
            <a:pPr marL="342900" marR="0" lvl="0" indent="-342900" algn="just">
              <a:lnSpc>
                <a:spcPct val="150000"/>
              </a:lnSpc>
              <a:spcBef>
                <a:spcPts val="0"/>
              </a:spcBef>
              <a:spcAft>
                <a:spcPts val="1000"/>
              </a:spcAft>
              <a:buFont typeface="Times New Roman" panose="02020603050405020304" pitchFamily="18" charset="0"/>
              <a:buChar char="-"/>
              <a:tabLst>
                <a:tab pos="270510" algn="l"/>
                <a:tab pos="540385" algn="l"/>
              </a:tabLst>
            </a:pPr>
            <a:r>
              <a:rPr lang="en-US" sz="1800" dirty="0">
                <a:effectLst/>
                <a:latin typeface="Times New Roman" panose="02020603050405020304" pitchFamily="18" charset="0"/>
                <a:ea typeface="Cambria" panose="02040503050406030204" pitchFamily="18" charset="0"/>
              </a:rPr>
              <a:t>Project (1x1 conv, </a:t>
            </a:r>
            <a:r>
              <a:rPr lang="en-US" sz="1800" dirty="0" err="1">
                <a:effectLst/>
                <a:latin typeface="Times New Roman" panose="02020603050405020304" pitchFamily="18" charset="0"/>
                <a:ea typeface="Cambria" panose="02040503050406030204" pitchFamily="18" charset="0"/>
              </a:rPr>
              <a:t>không</a:t>
            </a:r>
            <a:r>
              <a:rPr lang="en-US" sz="1800" dirty="0">
                <a:effectLst/>
                <a:latin typeface="Times New Roman" panose="02020603050405020304" pitchFamily="18" charset="0"/>
                <a:ea typeface="Cambria" panose="02040503050406030204" pitchFamily="18" charset="0"/>
              </a:rPr>
              <a:t> activation) </a:t>
            </a:r>
            <a:r>
              <a:rPr lang="en-US" sz="1800" dirty="0" err="1">
                <a:effectLst/>
                <a:latin typeface="Times New Roman" panose="02020603050405020304" pitchFamily="18" charset="0"/>
                <a:ea typeface="Cambria" panose="02040503050406030204" pitchFamily="18" charset="0"/>
              </a:rPr>
              <a:t>thực</a:t>
            </a:r>
            <a:r>
              <a:rPr lang="en-US" sz="1800" dirty="0">
                <a:effectLst/>
                <a:latin typeface="Times New Roman" panose="02020603050405020304" pitchFamily="18" charset="0"/>
                <a:ea typeface="Cambria" panose="02040503050406030204" pitchFamily="18" charset="0"/>
              </a:rPr>
              <a:t> </a:t>
            </a:r>
            <a:r>
              <a:rPr lang="en-US" sz="1800" dirty="0" err="1">
                <a:effectLst/>
                <a:latin typeface="Times New Roman" panose="02020603050405020304" pitchFamily="18" charset="0"/>
                <a:ea typeface="Cambria" panose="02040503050406030204" pitchFamily="18" charset="0"/>
              </a:rPr>
              <a:t>hiện</a:t>
            </a:r>
            <a:r>
              <a:rPr lang="en-US" sz="1800" dirty="0">
                <a:effectLst/>
                <a:latin typeface="Times New Roman" panose="02020603050405020304" pitchFamily="18" charset="0"/>
                <a:ea typeface="Cambria" panose="02040503050406030204" pitchFamily="18" charset="0"/>
              </a:rPr>
              <a:t> </a:t>
            </a:r>
            <a:r>
              <a:rPr lang="en-US" sz="1800" dirty="0" err="1">
                <a:effectLst/>
                <a:latin typeface="Times New Roman" panose="02020603050405020304" pitchFamily="18" charset="0"/>
                <a:ea typeface="Cambria" panose="02040503050406030204" pitchFamily="18" charset="0"/>
              </a:rPr>
              <a:t>giảm</a:t>
            </a:r>
            <a:r>
              <a:rPr lang="en-US" sz="1800" dirty="0">
                <a:effectLst/>
                <a:latin typeface="Times New Roman" panose="02020603050405020304" pitchFamily="18" charset="0"/>
                <a:ea typeface="Cambria" panose="02040503050406030204" pitchFamily="18" charset="0"/>
              </a:rPr>
              <a:t> </a:t>
            </a:r>
            <a:r>
              <a:rPr lang="en-US" sz="1800" dirty="0" err="1">
                <a:effectLst/>
                <a:latin typeface="Times New Roman" panose="02020603050405020304" pitchFamily="18" charset="0"/>
                <a:ea typeface="Cambria" panose="02040503050406030204" pitchFamily="18" charset="0"/>
              </a:rPr>
              <a:t>số</a:t>
            </a:r>
            <a:r>
              <a:rPr lang="en-US" sz="1800" dirty="0">
                <a:effectLst/>
                <a:latin typeface="Times New Roman" panose="02020603050405020304" pitchFamily="18" charset="0"/>
                <a:ea typeface="Cambria" panose="02040503050406030204" pitchFamily="18" charset="0"/>
              </a:rPr>
              <a:t> </a:t>
            </a:r>
            <a:r>
              <a:rPr lang="en-US" sz="1800" dirty="0" err="1">
                <a:effectLst/>
                <a:latin typeface="Times New Roman" panose="02020603050405020304" pitchFamily="18" charset="0"/>
                <a:ea typeface="Cambria" panose="02040503050406030204" pitchFamily="18" charset="0"/>
              </a:rPr>
              <a:t>kênh</a:t>
            </a:r>
            <a:r>
              <a:rPr lang="en-US" sz="1800" dirty="0">
                <a:effectLst/>
                <a:latin typeface="Times New Roman" panose="02020603050405020304" pitchFamily="18" charset="0"/>
                <a:ea typeface="Cambria" panose="02040503050406030204" pitchFamily="18" charset="0"/>
              </a:rPr>
              <a:t> - linear bottleneck. Sau </a:t>
            </a:r>
            <a:r>
              <a:rPr lang="en-US" sz="1800" dirty="0" err="1">
                <a:effectLst/>
                <a:latin typeface="Times New Roman" panose="02020603050405020304" pitchFamily="18" charset="0"/>
                <a:ea typeface="Cambria" panose="02040503050406030204" pitchFamily="18" charset="0"/>
              </a:rPr>
              <a:t>khi</a:t>
            </a:r>
            <a:r>
              <a:rPr lang="en-US" sz="1800" dirty="0">
                <a:effectLst/>
                <a:latin typeface="Times New Roman" panose="02020603050405020304" pitchFamily="18" charset="0"/>
                <a:ea typeface="Cambria" panose="02040503050406030204" pitchFamily="18" charset="0"/>
              </a:rPr>
              <a:t> </a:t>
            </a:r>
            <a:r>
              <a:rPr lang="en-US" sz="1800" dirty="0" err="1">
                <a:effectLst/>
                <a:latin typeface="Times New Roman" panose="02020603050405020304" pitchFamily="18" charset="0"/>
                <a:ea typeface="Cambria" panose="02040503050406030204" pitchFamily="18" charset="0"/>
              </a:rPr>
              <a:t>giảm</a:t>
            </a:r>
            <a:r>
              <a:rPr lang="en-US" sz="1800" dirty="0">
                <a:effectLst/>
                <a:latin typeface="Times New Roman" panose="02020603050405020304" pitchFamily="18" charset="0"/>
                <a:ea typeface="Cambria" panose="02040503050406030204" pitchFamily="18" charset="0"/>
              </a:rPr>
              <a:t> </a:t>
            </a:r>
            <a:r>
              <a:rPr lang="en-US" sz="1800" dirty="0" err="1">
                <a:effectLst/>
                <a:latin typeface="Times New Roman" panose="02020603050405020304" pitchFamily="18" charset="0"/>
                <a:ea typeface="Cambria" panose="02040503050406030204" pitchFamily="18" charset="0"/>
              </a:rPr>
              <a:t>chiều</a:t>
            </a:r>
            <a:r>
              <a:rPr lang="en-US" sz="1800" dirty="0">
                <a:effectLst/>
                <a:latin typeface="Times New Roman" panose="02020603050405020304" pitchFamily="18" charset="0"/>
                <a:ea typeface="Cambria" panose="02040503050406030204" pitchFamily="18" charset="0"/>
              </a:rPr>
              <a:t> ở </a:t>
            </a:r>
            <a:r>
              <a:rPr lang="en-US" sz="1800" dirty="0" err="1">
                <a:effectLst/>
                <a:latin typeface="Times New Roman" panose="02020603050405020304" pitchFamily="18" charset="0"/>
                <a:ea typeface="Cambria" panose="02040503050406030204" pitchFamily="18" charset="0"/>
              </a:rPr>
              <a:t>bước</a:t>
            </a:r>
            <a:r>
              <a:rPr lang="en-US" sz="1800" dirty="0">
                <a:effectLst/>
                <a:latin typeface="Times New Roman" panose="02020603050405020304" pitchFamily="18" charset="0"/>
                <a:ea typeface="Cambria" panose="02040503050406030204" pitchFamily="18" charset="0"/>
              </a:rPr>
              <a:t> </a:t>
            </a:r>
            <a:r>
              <a:rPr lang="en-US" sz="1800" dirty="0" err="1">
                <a:effectLst/>
                <a:latin typeface="Times New Roman" panose="02020603050405020304" pitchFamily="18" charset="0"/>
                <a:ea typeface="Cambria" panose="02040503050406030204" pitchFamily="18" charset="0"/>
              </a:rPr>
              <a:t>cuối</a:t>
            </a:r>
            <a:r>
              <a:rPr lang="en-US" sz="1800" dirty="0">
                <a:effectLst/>
                <a:latin typeface="Times New Roman" panose="02020603050405020304" pitchFamily="18" charset="0"/>
                <a:ea typeface="Cambria" panose="02040503050406030204" pitchFamily="18" charset="0"/>
              </a:rPr>
              <a:t>, </a:t>
            </a:r>
            <a:r>
              <a:rPr lang="en-US" sz="1800" dirty="0" err="1">
                <a:effectLst/>
                <a:latin typeface="Times New Roman" panose="02020603050405020304" pitchFamily="18" charset="0"/>
                <a:ea typeface="Cambria" panose="02040503050406030204" pitchFamily="18" charset="0"/>
              </a:rPr>
              <a:t>không</a:t>
            </a:r>
            <a:r>
              <a:rPr lang="en-US" sz="1800" dirty="0">
                <a:effectLst/>
                <a:latin typeface="Times New Roman" panose="02020603050405020304" pitchFamily="18" charset="0"/>
                <a:ea typeface="Cambria" panose="02040503050406030204" pitchFamily="18" charset="0"/>
              </a:rPr>
              <a:t> </a:t>
            </a:r>
            <a:r>
              <a:rPr lang="en-US" sz="1800" dirty="0" err="1">
                <a:effectLst/>
                <a:latin typeface="Times New Roman" panose="02020603050405020304" pitchFamily="18" charset="0"/>
                <a:ea typeface="Cambria" panose="02040503050406030204" pitchFamily="18" charset="0"/>
              </a:rPr>
              <a:t>dùng</a:t>
            </a:r>
            <a:r>
              <a:rPr lang="en-US" sz="1800" dirty="0">
                <a:effectLst/>
                <a:latin typeface="Times New Roman" panose="02020603050405020304" pitchFamily="18" charset="0"/>
                <a:ea typeface="Cambria" panose="02040503050406030204" pitchFamily="18" charset="0"/>
              </a:rPr>
              <a:t> </a:t>
            </a:r>
            <a:r>
              <a:rPr lang="en-US" sz="1800" dirty="0" err="1">
                <a:effectLst/>
                <a:latin typeface="Times New Roman" panose="02020603050405020304" pitchFamily="18" charset="0"/>
                <a:ea typeface="Cambria" panose="02040503050406030204" pitchFamily="18" charset="0"/>
              </a:rPr>
              <a:t>ReLU</a:t>
            </a:r>
            <a:r>
              <a:rPr lang="en-US" sz="1800" dirty="0">
                <a:effectLst/>
                <a:latin typeface="Times New Roman" panose="02020603050405020304" pitchFamily="18" charset="0"/>
                <a:ea typeface="Cambria" panose="02040503050406030204" pitchFamily="18" charset="0"/>
              </a:rPr>
              <a:t> </a:t>
            </a:r>
            <a:r>
              <a:rPr lang="en-US" sz="1800" dirty="0" err="1">
                <a:effectLst/>
                <a:latin typeface="Times New Roman" panose="02020603050405020304" pitchFamily="18" charset="0"/>
                <a:ea typeface="Cambria" panose="02040503050406030204" pitchFamily="18" charset="0"/>
              </a:rPr>
              <a:t>nữa</a:t>
            </a:r>
            <a:r>
              <a:rPr lang="en-US" sz="1800" dirty="0">
                <a:effectLst/>
                <a:latin typeface="Times New Roman" panose="02020603050405020304" pitchFamily="18" charset="0"/>
                <a:ea typeface="Cambria" panose="02040503050406030204" pitchFamily="18" charset="0"/>
              </a:rPr>
              <a:t>. </a:t>
            </a:r>
            <a:r>
              <a:rPr lang="en-US" sz="1800" dirty="0" err="1">
                <a:effectLst/>
                <a:latin typeface="Times New Roman" panose="02020603050405020304" pitchFamily="18" charset="0"/>
                <a:ea typeface="Cambria" panose="02040503050406030204" pitchFamily="18" charset="0"/>
              </a:rPr>
              <a:t>Tránh</a:t>
            </a:r>
            <a:r>
              <a:rPr lang="en-US" sz="1800" dirty="0">
                <a:effectLst/>
                <a:latin typeface="Times New Roman" panose="02020603050405020304" pitchFamily="18" charset="0"/>
                <a:ea typeface="Cambria" panose="02040503050406030204" pitchFamily="18" charset="0"/>
              </a:rPr>
              <a:t> </a:t>
            </a:r>
            <a:r>
              <a:rPr lang="en-US" sz="1800" dirty="0" err="1">
                <a:effectLst/>
                <a:latin typeface="Times New Roman" panose="02020603050405020304" pitchFamily="18" charset="0"/>
                <a:ea typeface="Cambria" panose="02040503050406030204" pitchFamily="18" charset="0"/>
              </a:rPr>
              <a:t>mất</a:t>
            </a:r>
            <a:r>
              <a:rPr lang="en-US" sz="1800" dirty="0">
                <a:effectLst/>
                <a:latin typeface="Times New Roman" panose="02020603050405020304" pitchFamily="18" charset="0"/>
                <a:ea typeface="Cambria" panose="02040503050406030204" pitchFamily="18" charset="0"/>
              </a:rPr>
              <a:t> </a:t>
            </a:r>
            <a:r>
              <a:rPr lang="en-US" sz="1800" dirty="0" err="1">
                <a:effectLst/>
                <a:latin typeface="Times New Roman" panose="02020603050405020304" pitchFamily="18" charset="0"/>
                <a:ea typeface="Cambria" panose="02040503050406030204" pitchFamily="18" charset="0"/>
              </a:rPr>
              <a:t>thông</a:t>
            </a:r>
            <a:r>
              <a:rPr lang="en-US" sz="1800" dirty="0">
                <a:effectLst/>
                <a:latin typeface="Times New Roman" panose="02020603050405020304" pitchFamily="18" charset="0"/>
                <a:ea typeface="Cambria" panose="02040503050406030204" pitchFamily="18" charset="0"/>
              </a:rPr>
              <a:t> tin do </a:t>
            </a:r>
            <a:r>
              <a:rPr lang="en-US" sz="1800" dirty="0" err="1">
                <a:effectLst/>
                <a:latin typeface="Times New Roman" panose="02020603050405020304" pitchFamily="18" charset="0"/>
                <a:ea typeface="Cambria" panose="02040503050406030204" pitchFamily="18" charset="0"/>
              </a:rPr>
              <a:t>ReLU</a:t>
            </a:r>
            <a:r>
              <a:rPr lang="en-US" sz="1800" dirty="0">
                <a:effectLst/>
                <a:latin typeface="Times New Roman" panose="02020603050405020304" pitchFamily="18" charset="0"/>
                <a:ea typeface="Cambria" panose="02040503050406030204" pitchFamily="18" charset="0"/>
              </a:rPr>
              <a:t> </a:t>
            </a:r>
            <a:r>
              <a:rPr lang="en-US" sz="1800" dirty="0" err="1">
                <a:effectLst/>
                <a:latin typeface="Times New Roman" panose="02020603050405020304" pitchFamily="18" charset="0"/>
                <a:ea typeface="Cambria" panose="02040503050406030204" pitchFamily="18" charset="0"/>
              </a:rPr>
              <a:t>có</a:t>
            </a:r>
            <a:r>
              <a:rPr lang="en-US" sz="1800" dirty="0">
                <a:effectLst/>
                <a:latin typeface="Times New Roman" panose="02020603050405020304" pitchFamily="18" charset="0"/>
                <a:ea typeface="Cambria" panose="02040503050406030204" pitchFamily="18" charset="0"/>
              </a:rPr>
              <a:t> </a:t>
            </a:r>
            <a:r>
              <a:rPr lang="en-US" sz="1800" dirty="0" err="1">
                <a:effectLst/>
                <a:latin typeface="Times New Roman" panose="02020603050405020304" pitchFamily="18" charset="0"/>
                <a:ea typeface="Cambria" panose="02040503050406030204" pitchFamily="18" charset="0"/>
              </a:rPr>
              <a:t>thể</a:t>
            </a:r>
            <a:r>
              <a:rPr lang="en-US" sz="1800" dirty="0">
                <a:effectLst/>
                <a:latin typeface="Times New Roman" panose="02020603050405020304" pitchFamily="18" charset="0"/>
                <a:ea typeface="Cambria" panose="02040503050406030204" pitchFamily="18" charset="0"/>
              </a:rPr>
              <a:t> </a:t>
            </a:r>
            <a:r>
              <a:rPr lang="en-US" sz="1800" dirty="0" err="1">
                <a:effectLst/>
                <a:latin typeface="Times New Roman" panose="02020603050405020304" pitchFamily="18" charset="0"/>
                <a:ea typeface="Cambria" panose="02040503050406030204" pitchFamily="18" charset="0"/>
              </a:rPr>
              <a:t>loại</a:t>
            </a:r>
            <a:r>
              <a:rPr lang="en-US" sz="1800" dirty="0">
                <a:effectLst/>
                <a:latin typeface="Times New Roman" panose="02020603050405020304" pitchFamily="18" charset="0"/>
                <a:ea typeface="Cambria" panose="02040503050406030204" pitchFamily="18" charset="0"/>
              </a:rPr>
              <a:t> </a:t>
            </a:r>
            <a:r>
              <a:rPr lang="en-US" sz="1800" dirty="0" err="1">
                <a:effectLst/>
                <a:latin typeface="Times New Roman" panose="02020603050405020304" pitchFamily="18" charset="0"/>
                <a:ea typeface="Cambria" panose="02040503050406030204" pitchFamily="18" charset="0"/>
              </a:rPr>
              <a:t>bỏ</a:t>
            </a:r>
            <a:r>
              <a:rPr lang="en-US" sz="1800" dirty="0">
                <a:effectLst/>
                <a:latin typeface="Times New Roman" panose="02020603050405020304" pitchFamily="18" charset="0"/>
                <a:ea typeface="Cambria" panose="02040503050406030204" pitchFamily="18" charset="0"/>
              </a:rPr>
              <a:t> </a:t>
            </a:r>
            <a:r>
              <a:rPr lang="en-US" sz="1800" dirty="0" err="1">
                <a:effectLst/>
                <a:latin typeface="Times New Roman" panose="02020603050405020304" pitchFamily="18" charset="0"/>
                <a:ea typeface="Cambria" panose="02040503050406030204" pitchFamily="18" charset="0"/>
              </a:rPr>
              <a:t>các</a:t>
            </a:r>
            <a:r>
              <a:rPr lang="en-US" sz="1800" dirty="0">
                <a:effectLst/>
                <a:latin typeface="Times New Roman" panose="02020603050405020304" pitchFamily="18" charset="0"/>
                <a:ea typeface="Cambria" panose="02040503050406030204" pitchFamily="18" charset="0"/>
              </a:rPr>
              <a:t> </a:t>
            </a:r>
            <a:r>
              <a:rPr lang="en-US" sz="1800" dirty="0" err="1">
                <a:effectLst/>
                <a:latin typeface="Times New Roman" panose="02020603050405020304" pitchFamily="18" charset="0"/>
                <a:ea typeface="Cambria" panose="02040503050406030204" pitchFamily="18" charset="0"/>
              </a:rPr>
              <a:t>giá</a:t>
            </a:r>
            <a:r>
              <a:rPr lang="en-US" sz="1800" dirty="0">
                <a:effectLst/>
                <a:latin typeface="Times New Roman" panose="02020603050405020304" pitchFamily="18" charset="0"/>
                <a:ea typeface="Cambria" panose="02040503050406030204" pitchFamily="18" charset="0"/>
              </a:rPr>
              <a:t> </a:t>
            </a:r>
            <a:r>
              <a:rPr lang="en-US" sz="1800" dirty="0" err="1">
                <a:effectLst/>
                <a:latin typeface="Times New Roman" panose="02020603050405020304" pitchFamily="18" charset="0"/>
                <a:ea typeface="Cambria" panose="02040503050406030204" pitchFamily="18" charset="0"/>
              </a:rPr>
              <a:t>trị</a:t>
            </a:r>
            <a:r>
              <a:rPr lang="en-US" sz="1800" dirty="0">
                <a:effectLst/>
                <a:latin typeface="Times New Roman" panose="02020603050405020304" pitchFamily="18" charset="0"/>
                <a:ea typeface="Cambria" panose="02040503050406030204" pitchFamily="18" charset="0"/>
              </a:rPr>
              <a:t> </a:t>
            </a:r>
            <a:r>
              <a:rPr lang="en-US" sz="1800" dirty="0" err="1">
                <a:effectLst/>
                <a:latin typeface="Times New Roman" panose="02020603050405020304" pitchFamily="18" charset="0"/>
                <a:ea typeface="Cambria" panose="02040503050406030204" pitchFamily="18" charset="0"/>
              </a:rPr>
              <a:t>nhỏ</a:t>
            </a:r>
            <a:r>
              <a:rPr lang="en-US" sz="1800" dirty="0">
                <a:effectLst/>
                <a:latin typeface="Times New Roman" panose="02020603050405020304" pitchFamily="18" charset="0"/>
                <a:ea typeface="Cambria" panose="02040503050406030204" pitchFamily="18" charset="0"/>
              </a:rPr>
              <a:t> (</a:t>
            </a:r>
            <a:r>
              <a:rPr lang="en-US" sz="1800" dirty="0" err="1">
                <a:effectLst/>
                <a:latin typeface="Times New Roman" panose="02020603050405020304" pitchFamily="18" charset="0"/>
                <a:ea typeface="Cambria" panose="02040503050406030204" pitchFamily="18" charset="0"/>
              </a:rPr>
              <a:t>nhưng</a:t>
            </a:r>
            <a:r>
              <a:rPr lang="en-US" sz="1800" dirty="0">
                <a:effectLst/>
                <a:latin typeface="Times New Roman" panose="02020603050405020304" pitchFamily="18" charset="0"/>
                <a:ea typeface="Cambria" panose="02040503050406030204" pitchFamily="18" charset="0"/>
              </a:rPr>
              <a:t> </a:t>
            </a:r>
            <a:r>
              <a:rPr lang="en-US" sz="1800" dirty="0" err="1">
                <a:effectLst/>
                <a:latin typeface="Times New Roman" panose="02020603050405020304" pitchFamily="18" charset="0"/>
                <a:ea typeface="Cambria" panose="02040503050406030204" pitchFamily="18" charset="0"/>
              </a:rPr>
              <a:t>quan</a:t>
            </a:r>
            <a:r>
              <a:rPr lang="en-US" sz="1800" dirty="0">
                <a:effectLst/>
                <a:latin typeface="Times New Roman" panose="02020603050405020304" pitchFamily="18" charset="0"/>
                <a:ea typeface="Cambria" panose="02040503050406030204" pitchFamily="18" charset="0"/>
              </a:rPr>
              <a:t> </a:t>
            </a:r>
            <a:r>
              <a:rPr lang="en-US" sz="1800" dirty="0" err="1">
                <a:effectLst/>
                <a:latin typeface="Times New Roman" panose="02020603050405020304" pitchFamily="18" charset="0"/>
                <a:ea typeface="Cambria" panose="02040503050406030204" pitchFamily="18" charset="0"/>
              </a:rPr>
              <a:t>trọng</a:t>
            </a:r>
            <a:r>
              <a:rPr lang="en-US" sz="1800" dirty="0">
                <a:effectLst/>
                <a:latin typeface="Times New Roman" panose="02020603050405020304" pitchFamily="18" charset="0"/>
                <a:ea typeface="Cambria" panose="02040503050406030204" pitchFamily="18" charset="0"/>
              </a:rPr>
              <a:t>) → </a:t>
            </a:r>
            <a:r>
              <a:rPr lang="en-US" sz="1800" dirty="0" err="1">
                <a:effectLst/>
                <a:latin typeface="Times New Roman" panose="02020603050405020304" pitchFamily="18" charset="0"/>
                <a:ea typeface="Cambria" panose="02040503050406030204" pitchFamily="18" charset="0"/>
              </a:rPr>
              <a:t>giữ</a:t>
            </a:r>
            <a:r>
              <a:rPr lang="en-US" sz="1800" dirty="0">
                <a:effectLst/>
                <a:latin typeface="Times New Roman" panose="02020603050405020304" pitchFamily="18" charset="0"/>
                <a:ea typeface="Cambria" panose="02040503050406030204" pitchFamily="18" charset="0"/>
              </a:rPr>
              <a:t> </a:t>
            </a:r>
            <a:r>
              <a:rPr lang="en-US" sz="1800" dirty="0" err="1">
                <a:effectLst/>
                <a:latin typeface="Times New Roman" panose="02020603050405020304" pitchFamily="18" charset="0"/>
                <a:ea typeface="Cambria" panose="02040503050406030204" pitchFamily="18" charset="0"/>
              </a:rPr>
              <a:t>nguyên</a:t>
            </a:r>
            <a:r>
              <a:rPr lang="en-US" sz="1800" dirty="0">
                <a:effectLst/>
                <a:latin typeface="Times New Roman" panose="02020603050405020304" pitchFamily="18" charset="0"/>
                <a:ea typeface="Cambria" panose="02040503050406030204" pitchFamily="18" charset="0"/>
              </a:rPr>
              <a:t> </a:t>
            </a:r>
            <a:r>
              <a:rPr lang="en-US" sz="1800" dirty="0" err="1">
                <a:effectLst/>
                <a:latin typeface="Times New Roman" panose="02020603050405020304" pitchFamily="18" charset="0"/>
                <a:ea typeface="Cambria" panose="02040503050406030204" pitchFamily="18" charset="0"/>
              </a:rPr>
              <a:t>tính</a:t>
            </a:r>
            <a:r>
              <a:rPr lang="en-US" sz="1800" dirty="0">
                <a:effectLst/>
                <a:latin typeface="Times New Roman" panose="02020603050405020304" pitchFamily="18" charset="0"/>
                <a:ea typeface="Cambria" panose="02040503050406030204" pitchFamily="18" charset="0"/>
              </a:rPr>
              <a:t> </a:t>
            </a:r>
            <a:r>
              <a:rPr lang="en-US" sz="1800" dirty="0" err="1">
                <a:effectLst/>
                <a:latin typeface="Times New Roman" panose="02020603050405020304" pitchFamily="18" charset="0"/>
                <a:ea typeface="Cambria" panose="02040503050406030204" pitchFamily="18" charset="0"/>
              </a:rPr>
              <a:t>tuyến</a:t>
            </a:r>
            <a:r>
              <a:rPr lang="en-US" sz="1800" dirty="0">
                <a:effectLst/>
                <a:latin typeface="Times New Roman" panose="02020603050405020304" pitchFamily="18" charset="0"/>
                <a:ea typeface="Cambria" panose="02040503050406030204" pitchFamily="18" charset="0"/>
              </a:rPr>
              <a:t> </a:t>
            </a:r>
            <a:r>
              <a:rPr lang="en-US" sz="1800" dirty="0" err="1">
                <a:effectLst/>
                <a:latin typeface="Times New Roman" panose="02020603050405020304" pitchFamily="18" charset="0"/>
                <a:ea typeface="Cambria" panose="02040503050406030204" pitchFamily="18" charset="0"/>
              </a:rPr>
              <a:t>tính</a:t>
            </a:r>
            <a:r>
              <a:rPr lang="en-US" sz="1800" dirty="0">
                <a:effectLst/>
                <a:latin typeface="Times New Roman" panose="02020603050405020304" pitchFamily="18" charset="0"/>
                <a:ea typeface="Cambria" panose="02040503050406030204" pitchFamily="18" charset="0"/>
              </a:rPr>
              <a:t> </a:t>
            </a:r>
            <a:r>
              <a:rPr lang="en-US" sz="1800" dirty="0" err="1">
                <a:effectLst/>
                <a:latin typeface="Times New Roman" panose="02020603050405020304" pitchFamily="18" charset="0"/>
                <a:ea typeface="Cambria" panose="02040503050406030204" pitchFamily="18" charset="0"/>
              </a:rPr>
              <a:t>tại</a:t>
            </a:r>
            <a:r>
              <a:rPr lang="en-US" sz="1800" dirty="0">
                <a:effectLst/>
                <a:latin typeface="Times New Roman" panose="02020603050405020304" pitchFamily="18" charset="0"/>
                <a:ea typeface="Cambria" panose="02040503050406030204" pitchFamily="18" charset="0"/>
              </a:rPr>
              <a:t> </a:t>
            </a:r>
            <a:r>
              <a:rPr lang="en-US" sz="1800" dirty="0" err="1">
                <a:effectLst/>
                <a:latin typeface="Times New Roman" panose="02020603050405020304" pitchFamily="18" charset="0"/>
                <a:ea typeface="Cambria" panose="02040503050406030204" pitchFamily="18" charset="0"/>
              </a:rPr>
              <a:t>vùng</a:t>
            </a:r>
            <a:r>
              <a:rPr lang="en-US" sz="1800" dirty="0">
                <a:effectLst/>
                <a:latin typeface="Times New Roman" panose="02020603050405020304" pitchFamily="18" charset="0"/>
                <a:ea typeface="Cambria" panose="02040503050406030204" pitchFamily="18" charset="0"/>
              </a:rPr>
              <a:t> </a:t>
            </a:r>
            <a:r>
              <a:rPr lang="en-US" sz="1800" dirty="0" err="1">
                <a:effectLst/>
                <a:latin typeface="Times New Roman" panose="02020603050405020304" pitchFamily="18" charset="0"/>
                <a:ea typeface="Cambria" panose="02040503050406030204" pitchFamily="18" charset="0"/>
              </a:rPr>
              <a:t>thấp</a:t>
            </a:r>
            <a:r>
              <a:rPr lang="en-US" sz="1800" dirty="0">
                <a:effectLst/>
                <a:latin typeface="Times New Roman" panose="02020603050405020304" pitchFamily="18" charset="0"/>
                <a:ea typeface="Cambria" panose="02040503050406030204" pitchFamily="18" charset="0"/>
              </a:rPr>
              <a:t> </a:t>
            </a:r>
            <a:r>
              <a:rPr lang="en-US" sz="1800" dirty="0" err="1">
                <a:effectLst/>
                <a:latin typeface="Times New Roman" panose="02020603050405020304" pitchFamily="18" charset="0"/>
                <a:ea typeface="Cambria" panose="02040503050406030204" pitchFamily="18" charset="0"/>
              </a:rPr>
              <a:t>chiều</a:t>
            </a:r>
            <a:endParaRPr lang="en-US" sz="1800" dirty="0">
              <a:effectLst/>
              <a:latin typeface="Times New Roman" panose="02020603050405020304" pitchFamily="18" charset="0"/>
              <a:ea typeface="Cambria" panose="02040503050406030204" pitchFamily="18" charset="0"/>
            </a:endParaRPr>
          </a:p>
          <a:p>
            <a:pPr marL="342900" marR="0" lvl="0" indent="-342900" algn="just">
              <a:lnSpc>
                <a:spcPct val="150000"/>
              </a:lnSpc>
              <a:spcBef>
                <a:spcPts val="0"/>
              </a:spcBef>
              <a:spcAft>
                <a:spcPts val="1000"/>
              </a:spcAft>
              <a:buFont typeface="Times New Roman" panose="02020603050405020304" pitchFamily="18" charset="0"/>
              <a:buChar char="-"/>
              <a:tabLst>
                <a:tab pos="270510" algn="l"/>
                <a:tab pos="540385" algn="l"/>
              </a:tabLst>
            </a:pPr>
            <a:r>
              <a:rPr lang="en-US" sz="1800" dirty="0">
                <a:effectLst/>
                <a:latin typeface="Times New Roman" panose="02020603050405020304" pitchFamily="18" charset="0"/>
                <a:ea typeface="Cambria" panose="02040503050406030204" pitchFamily="18" charset="0"/>
              </a:rPr>
              <a:t>Skip connection </a:t>
            </a:r>
            <a:r>
              <a:rPr lang="en-US" sz="1800" dirty="0" err="1">
                <a:effectLst/>
                <a:latin typeface="Times New Roman" panose="02020603050405020304" pitchFamily="18" charset="0"/>
                <a:ea typeface="Cambria" panose="02040503050406030204" pitchFamily="18" charset="0"/>
              </a:rPr>
              <a:t>truyền</a:t>
            </a:r>
            <a:r>
              <a:rPr lang="en-US" sz="1800" dirty="0">
                <a:effectLst/>
                <a:latin typeface="Times New Roman" panose="02020603050405020304" pitchFamily="18" charset="0"/>
                <a:ea typeface="Cambria" panose="02040503050406030204" pitchFamily="18" charset="0"/>
              </a:rPr>
              <a:t> </a:t>
            </a:r>
            <a:r>
              <a:rPr lang="en-US" sz="1800" dirty="0" err="1">
                <a:effectLst/>
                <a:latin typeface="Times New Roman" panose="02020603050405020304" pitchFamily="18" charset="0"/>
                <a:ea typeface="Cambria" panose="02040503050406030204" pitchFamily="18" charset="0"/>
              </a:rPr>
              <a:t>các</a:t>
            </a:r>
            <a:r>
              <a:rPr lang="en-US" sz="1800" dirty="0">
                <a:effectLst/>
                <a:latin typeface="Times New Roman" panose="02020603050405020304" pitchFamily="18" charset="0"/>
                <a:ea typeface="Cambria" panose="02040503050406030204" pitchFamily="18" charset="0"/>
              </a:rPr>
              <a:t> </a:t>
            </a:r>
            <a:r>
              <a:rPr lang="en-US" sz="1800" dirty="0" err="1">
                <a:effectLst/>
                <a:latin typeface="Times New Roman" panose="02020603050405020304" pitchFamily="18" charset="0"/>
                <a:ea typeface="Cambria" panose="02040503050406030204" pitchFamily="18" charset="0"/>
              </a:rPr>
              <a:t>thông</a:t>
            </a:r>
            <a:r>
              <a:rPr lang="en-US" sz="1800" dirty="0">
                <a:effectLst/>
                <a:latin typeface="Times New Roman" panose="02020603050405020304" pitchFamily="18" charset="0"/>
                <a:ea typeface="Cambria" panose="02040503050406030204" pitchFamily="18" charset="0"/>
              </a:rPr>
              <a:t> tin </a:t>
            </a:r>
            <a:r>
              <a:rPr lang="en-US" sz="1800" dirty="0" err="1">
                <a:effectLst/>
                <a:latin typeface="Times New Roman" panose="02020603050405020304" pitchFamily="18" charset="0"/>
                <a:ea typeface="Cambria" panose="02040503050406030204" pitchFamily="18" charset="0"/>
              </a:rPr>
              <a:t>gốc</a:t>
            </a:r>
            <a:r>
              <a:rPr lang="en-US" sz="1800" dirty="0">
                <a:effectLst/>
                <a:latin typeface="Times New Roman" panose="02020603050405020304" pitchFamily="18" charset="0"/>
                <a:ea typeface="Cambria" panose="02040503050406030204" pitchFamily="18" charset="0"/>
              </a:rPr>
              <a:t> - inverted residual</a:t>
            </a:r>
          </a:p>
          <a:p>
            <a:endParaRPr lang="en-US" dirty="0"/>
          </a:p>
        </p:txBody>
      </p:sp>
      <p:sp>
        <p:nvSpPr>
          <p:cNvPr id="4" name="Slide Number Placeholder 3"/>
          <p:cNvSpPr>
            <a:spLocks noGrp="1"/>
          </p:cNvSpPr>
          <p:nvPr>
            <p:ph type="sldNum" sz="quarter" idx="5"/>
          </p:nvPr>
        </p:nvSpPr>
        <p:spPr/>
        <p:txBody>
          <a:bodyPr/>
          <a:lstStyle/>
          <a:p>
            <a:fld id="{DFBF8197-EED4-4EBE-92EA-36C7EB54B110}" type="slidenum">
              <a:rPr lang="en-US" smtClean="0"/>
              <a:t>12</a:t>
            </a:fld>
            <a:endParaRPr lang="en-US"/>
          </a:p>
        </p:txBody>
      </p:sp>
    </p:spTree>
    <p:extLst>
      <p:ext uri="{BB962C8B-B14F-4D97-AF65-F5344CB8AC3E}">
        <p14:creationId xmlns:p14="http://schemas.microsoft.com/office/powerpoint/2010/main" val="10888923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err="1">
                <a:effectLst/>
                <a:latin typeface="Times New Roman" panose="02020603050405020304" pitchFamily="18" charset="0"/>
                <a:ea typeface="Times New Roman" panose="02020603050405020304" pitchFamily="18" charset="0"/>
              </a:rPr>
              <a:t>Một</a:t>
            </a:r>
            <a:r>
              <a:rPr lang="en-US" sz="1800" dirty="0">
                <a:effectLst/>
                <a:latin typeface="Times New Roman" panose="02020603050405020304" pitchFamily="18" charset="0"/>
                <a:ea typeface="Times New Roman" panose="02020603050405020304" pitchFamily="18" charset="0"/>
              </a:rPr>
              <a:t> block </a:t>
            </a:r>
            <a:r>
              <a:rPr lang="en-US" sz="1800" dirty="0" err="1">
                <a:effectLst/>
                <a:latin typeface="Times New Roman" panose="02020603050405020304" pitchFamily="18" charset="0"/>
                <a:ea typeface="Times New Roman" panose="02020603050405020304" pitchFamily="18" charset="0"/>
              </a:rPr>
              <a:t>của</a:t>
            </a:r>
            <a:r>
              <a:rPr lang="en-US" sz="1800" dirty="0">
                <a:effectLst/>
                <a:latin typeface="Times New Roman" panose="02020603050405020304" pitchFamily="18" charset="0"/>
                <a:ea typeface="Times New Roman" panose="02020603050405020304" pitchFamily="18" charset="0"/>
              </a:rPr>
              <a:t> MobileNetV2 </a:t>
            </a:r>
            <a:r>
              <a:rPr lang="en-US" sz="1800" dirty="0" err="1">
                <a:effectLst/>
                <a:latin typeface="Times New Roman" panose="02020603050405020304" pitchFamily="18" charset="0"/>
                <a:ea typeface="Times New Roman" panose="02020603050405020304" pitchFamily="18" charset="0"/>
              </a:rPr>
              <a:t>sử</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dụng</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Depthwise</a:t>
            </a:r>
            <a:r>
              <a:rPr lang="en-US" sz="1800" dirty="0">
                <a:effectLst/>
                <a:latin typeface="Times New Roman" panose="02020603050405020304" pitchFamily="18" charset="0"/>
                <a:ea typeface="Times New Roman" panose="02020603050405020304" pitchFamily="18" charset="0"/>
              </a:rPr>
              <a:t> convolution </a:t>
            </a:r>
            <a:r>
              <a:rPr lang="en-US" sz="1800" dirty="0" err="1">
                <a:effectLst/>
                <a:latin typeface="Times New Roman" panose="02020603050405020304" pitchFamily="18" charset="0"/>
                <a:ea typeface="Times New Roman" panose="02020603050405020304" pitchFamily="18" charset="0"/>
              </a:rPr>
              <a:t>thực</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hiện</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áp</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dụng</a:t>
            </a:r>
            <a:r>
              <a:rPr lang="en-US" sz="1800" dirty="0">
                <a:effectLst/>
                <a:latin typeface="Times New Roman" panose="02020603050405020304" pitchFamily="18" charset="0"/>
                <a:ea typeface="Times New Roman" panose="02020603050405020304" pitchFamily="18" charset="0"/>
              </a:rPr>
              <a:t> 1 </a:t>
            </a:r>
            <a:r>
              <a:rPr lang="en-US" sz="1800" dirty="0" err="1">
                <a:effectLst/>
                <a:latin typeface="Times New Roman" panose="02020603050405020304" pitchFamily="18" charset="0"/>
                <a:ea typeface="Times New Roman" panose="02020603050405020304" pitchFamily="18" charset="0"/>
              </a:rPr>
              <a:t>bộ</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lọc</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riêng</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cho</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từng</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kênh</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và</a:t>
            </a:r>
            <a:r>
              <a:rPr lang="en-US" sz="1800" dirty="0">
                <a:effectLst/>
                <a:latin typeface="Times New Roman" panose="02020603050405020304" pitchFamily="18" charset="0"/>
                <a:ea typeface="Times New Roman" panose="02020603050405020304" pitchFamily="18" charset="0"/>
              </a:rPr>
              <a:t> Pointwise convolution (1x1) </a:t>
            </a:r>
            <a:r>
              <a:rPr lang="en-US" sz="1800" dirty="0" err="1">
                <a:effectLst/>
                <a:latin typeface="Times New Roman" panose="02020603050405020304" pitchFamily="18" charset="0"/>
                <a:ea typeface="Times New Roman" panose="02020603050405020304" pitchFamily="18" charset="0"/>
              </a:rPr>
              <a:t>thực</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hiện</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trộn</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các</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kênh</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lại</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với</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nhau</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gồm</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các</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thành</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phần</a:t>
            </a:r>
            <a:r>
              <a:rPr lang="en-US" sz="1800" dirty="0">
                <a:effectLst/>
                <a:latin typeface="Times New Roman" panose="02020603050405020304" pitchFamily="18" charset="0"/>
                <a:ea typeface="Times New Roman" panose="02020603050405020304" pitchFamily="18" charset="0"/>
              </a:rPr>
              <a:t>:</a:t>
            </a:r>
          </a:p>
          <a:p>
            <a:endParaRPr lang="en-US" dirty="0"/>
          </a:p>
          <a:p>
            <a:pPr marL="342900" marR="0" lvl="0" indent="-342900" algn="just">
              <a:lnSpc>
                <a:spcPct val="150000"/>
              </a:lnSpc>
              <a:spcBef>
                <a:spcPts val="0"/>
              </a:spcBef>
              <a:spcAft>
                <a:spcPts val="1000"/>
              </a:spcAft>
              <a:buFont typeface="Times New Roman" panose="02020603050405020304" pitchFamily="18" charset="0"/>
              <a:buChar char="-"/>
              <a:tabLst>
                <a:tab pos="270510" algn="l"/>
                <a:tab pos="540385" algn="l"/>
              </a:tabLst>
            </a:pPr>
            <a:r>
              <a:rPr lang="en-US" sz="1800" dirty="0">
                <a:effectLst/>
                <a:latin typeface="Times New Roman" panose="02020603050405020304" pitchFamily="18" charset="0"/>
                <a:ea typeface="Cambria" panose="02040503050406030204" pitchFamily="18" charset="0"/>
              </a:rPr>
              <a:t>Expand (1x1 conv + ReLU6) </a:t>
            </a:r>
            <a:r>
              <a:rPr lang="en-US" sz="1800" dirty="0" err="1">
                <a:effectLst/>
                <a:latin typeface="Times New Roman" panose="02020603050405020304" pitchFamily="18" charset="0"/>
                <a:ea typeface="Cambria" panose="02040503050406030204" pitchFamily="18" charset="0"/>
              </a:rPr>
              <a:t>giúp</a:t>
            </a:r>
            <a:r>
              <a:rPr lang="en-US" sz="1800" dirty="0">
                <a:effectLst/>
                <a:latin typeface="Times New Roman" panose="02020603050405020304" pitchFamily="18" charset="0"/>
                <a:ea typeface="Cambria" panose="02040503050406030204" pitchFamily="18" charset="0"/>
              </a:rPr>
              <a:t> </a:t>
            </a:r>
            <a:r>
              <a:rPr lang="en-US" sz="1800" dirty="0" err="1">
                <a:effectLst/>
                <a:latin typeface="Times New Roman" panose="02020603050405020304" pitchFamily="18" charset="0"/>
                <a:ea typeface="Cambria" panose="02040503050406030204" pitchFamily="18" charset="0"/>
              </a:rPr>
              <a:t>tăng</a:t>
            </a:r>
            <a:r>
              <a:rPr lang="en-US" sz="1800" dirty="0">
                <a:effectLst/>
                <a:latin typeface="Times New Roman" panose="02020603050405020304" pitchFamily="18" charset="0"/>
                <a:ea typeface="Cambria" panose="02040503050406030204" pitchFamily="18" charset="0"/>
              </a:rPr>
              <a:t> </a:t>
            </a:r>
            <a:r>
              <a:rPr lang="en-US" sz="1800" dirty="0" err="1">
                <a:effectLst/>
                <a:latin typeface="Times New Roman" panose="02020603050405020304" pitchFamily="18" charset="0"/>
                <a:ea typeface="Cambria" panose="02040503050406030204" pitchFamily="18" charset="0"/>
              </a:rPr>
              <a:t>số</a:t>
            </a:r>
            <a:r>
              <a:rPr lang="en-US" sz="1800" dirty="0">
                <a:effectLst/>
                <a:latin typeface="Times New Roman" panose="02020603050405020304" pitchFamily="18" charset="0"/>
                <a:ea typeface="Cambria" panose="02040503050406030204" pitchFamily="18" charset="0"/>
              </a:rPr>
              <a:t> </a:t>
            </a:r>
            <a:r>
              <a:rPr lang="en-US" sz="1800" dirty="0" err="1">
                <a:effectLst/>
                <a:latin typeface="Times New Roman" panose="02020603050405020304" pitchFamily="18" charset="0"/>
                <a:ea typeface="Cambria" panose="02040503050406030204" pitchFamily="18" charset="0"/>
              </a:rPr>
              <a:t>kênh</a:t>
            </a:r>
            <a:r>
              <a:rPr lang="en-US" sz="1800" dirty="0">
                <a:effectLst/>
                <a:latin typeface="Times New Roman" panose="02020603050405020304" pitchFamily="18" charset="0"/>
                <a:ea typeface="Cambria" panose="02040503050406030204" pitchFamily="18" charset="0"/>
              </a:rPr>
              <a:t> </a:t>
            </a:r>
          </a:p>
          <a:p>
            <a:pPr marL="342900" marR="0" lvl="0" indent="-342900" algn="just">
              <a:lnSpc>
                <a:spcPct val="150000"/>
              </a:lnSpc>
              <a:spcBef>
                <a:spcPts val="0"/>
              </a:spcBef>
              <a:spcAft>
                <a:spcPts val="1000"/>
              </a:spcAft>
              <a:buFont typeface="Times New Roman" panose="02020603050405020304" pitchFamily="18" charset="0"/>
              <a:buChar char="-"/>
              <a:tabLst>
                <a:tab pos="270510" algn="l"/>
                <a:tab pos="540385" algn="l"/>
              </a:tabLst>
            </a:pPr>
            <a:r>
              <a:rPr lang="en-US" sz="1800" dirty="0" err="1">
                <a:effectLst/>
                <a:latin typeface="Times New Roman" panose="02020603050405020304" pitchFamily="18" charset="0"/>
                <a:ea typeface="Cambria" panose="02040503050406030204" pitchFamily="18" charset="0"/>
              </a:rPr>
              <a:t>Depthwise</a:t>
            </a:r>
            <a:r>
              <a:rPr lang="en-US" sz="1800" dirty="0">
                <a:effectLst/>
                <a:latin typeface="Times New Roman" panose="02020603050405020304" pitchFamily="18" charset="0"/>
                <a:ea typeface="Cambria" panose="02040503050406030204" pitchFamily="18" charset="0"/>
              </a:rPr>
              <a:t> Convolution (3x3 + ReLU6) </a:t>
            </a:r>
            <a:r>
              <a:rPr lang="en-US" sz="1800" dirty="0" err="1">
                <a:effectLst/>
                <a:latin typeface="Times New Roman" panose="02020603050405020304" pitchFamily="18" charset="0"/>
                <a:ea typeface="Cambria" panose="02040503050406030204" pitchFamily="18" charset="0"/>
              </a:rPr>
              <a:t>lọc</a:t>
            </a:r>
            <a:r>
              <a:rPr lang="en-US" sz="1800" dirty="0">
                <a:effectLst/>
                <a:latin typeface="Times New Roman" panose="02020603050405020304" pitchFamily="18" charset="0"/>
                <a:ea typeface="Cambria" panose="02040503050406030204" pitchFamily="18" charset="0"/>
              </a:rPr>
              <a:t> </a:t>
            </a:r>
            <a:r>
              <a:rPr lang="en-US" sz="1800" dirty="0" err="1">
                <a:effectLst/>
                <a:latin typeface="Times New Roman" panose="02020603050405020304" pitchFamily="18" charset="0"/>
                <a:ea typeface="Cambria" panose="02040503050406030204" pitchFamily="18" charset="0"/>
              </a:rPr>
              <a:t>không</a:t>
            </a:r>
            <a:r>
              <a:rPr lang="en-US" sz="1800" dirty="0">
                <a:effectLst/>
                <a:latin typeface="Times New Roman" panose="02020603050405020304" pitchFamily="18" charset="0"/>
                <a:ea typeface="Cambria" panose="02040503050406030204" pitchFamily="18" charset="0"/>
              </a:rPr>
              <a:t> </a:t>
            </a:r>
            <a:r>
              <a:rPr lang="en-US" sz="1800" dirty="0" err="1">
                <a:effectLst/>
                <a:latin typeface="Times New Roman" panose="02020603050405020304" pitchFamily="18" charset="0"/>
                <a:ea typeface="Cambria" panose="02040503050406030204" pitchFamily="18" charset="0"/>
              </a:rPr>
              <a:t>gian</a:t>
            </a:r>
            <a:r>
              <a:rPr lang="en-US" sz="1800" dirty="0">
                <a:effectLst/>
                <a:latin typeface="Times New Roman" panose="02020603050405020304" pitchFamily="18" charset="0"/>
                <a:ea typeface="Cambria" panose="02040503050406030204" pitchFamily="18" charset="0"/>
              </a:rPr>
              <a:t> </a:t>
            </a:r>
            <a:r>
              <a:rPr lang="en-US" sz="1800" dirty="0" err="1">
                <a:effectLst/>
                <a:latin typeface="Times New Roman" panose="02020603050405020304" pitchFamily="18" charset="0"/>
                <a:ea typeface="Cambria" panose="02040503050406030204" pitchFamily="18" charset="0"/>
              </a:rPr>
              <a:t>riêng</a:t>
            </a:r>
            <a:r>
              <a:rPr lang="en-US" sz="1800" dirty="0">
                <a:effectLst/>
                <a:latin typeface="Times New Roman" panose="02020603050405020304" pitchFamily="18" charset="0"/>
                <a:ea typeface="Cambria" panose="02040503050406030204" pitchFamily="18" charset="0"/>
              </a:rPr>
              <a:t> </a:t>
            </a:r>
            <a:r>
              <a:rPr lang="en-US" sz="1800" dirty="0" err="1">
                <a:effectLst/>
                <a:latin typeface="Times New Roman" panose="02020603050405020304" pitchFamily="18" charset="0"/>
                <a:ea typeface="Cambria" panose="02040503050406030204" pitchFamily="18" charset="0"/>
              </a:rPr>
              <a:t>từng</a:t>
            </a:r>
            <a:r>
              <a:rPr lang="en-US" sz="1800" dirty="0">
                <a:effectLst/>
                <a:latin typeface="Times New Roman" panose="02020603050405020304" pitchFamily="18" charset="0"/>
                <a:ea typeface="Cambria" panose="02040503050406030204" pitchFamily="18" charset="0"/>
              </a:rPr>
              <a:t> </a:t>
            </a:r>
            <a:r>
              <a:rPr lang="en-US" sz="1800" dirty="0" err="1">
                <a:effectLst/>
                <a:latin typeface="Times New Roman" panose="02020603050405020304" pitchFamily="18" charset="0"/>
                <a:ea typeface="Cambria" panose="02040503050406030204" pitchFamily="18" charset="0"/>
              </a:rPr>
              <a:t>kênh</a:t>
            </a:r>
            <a:endParaRPr lang="en-US" sz="1800" dirty="0">
              <a:effectLst/>
              <a:latin typeface="Times New Roman" panose="02020603050405020304" pitchFamily="18" charset="0"/>
              <a:ea typeface="Cambria" panose="02040503050406030204" pitchFamily="18" charset="0"/>
            </a:endParaRPr>
          </a:p>
          <a:p>
            <a:pPr marL="342900" marR="0" lvl="0" indent="-342900" algn="just">
              <a:lnSpc>
                <a:spcPct val="150000"/>
              </a:lnSpc>
              <a:spcBef>
                <a:spcPts val="0"/>
              </a:spcBef>
              <a:spcAft>
                <a:spcPts val="1000"/>
              </a:spcAft>
              <a:buFont typeface="Times New Roman" panose="02020603050405020304" pitchFamily="18" charset="0"/>
              <a:buChar char="-"/>
              <a:tabLst>
                <a:tab pos="270510" algn="l"/>
                <a:tab pos="540385" algn="l"/>
              </a:tabLst>
            </a:pPr>
            <a:r>
              <a:rPr lang="en-US" sz="1800" dirty="0">
                <a:effectLst/>
                <a:latin typeface="Times New Roman" panose="02020603050405020304" pitchFamily="18" charset="0"/>
                <a:ea typeface="Cambria" panose="02040503050406030204" pitchFamily="18" charset="0"/>
              </a:rPr>
              <a:t>Project (1x1 conv, </a:t>
            </a:r>
            <a:r>
              <a:rPr lang="en-US" sz="1800" dirty="0" err="1">
                <a:effectLst/>
                <a:latin typeface="Times New Roman" panose="02020603050405020304" pitchFamily="18" charset="0"/>
                <a:ea typeface="Cambria" panose="02040503050406030204" pitchFamily="18" charset="0"/>
              </a:rPr>
              <a:t>không</a:t>
            </a:r>
            <a:r>
              <a:rPr lang="en-US" sz="1800" dirty="0">
                <a:effectLst/>
                <a:latin typeface="Times New Roman" panose="02020603050405020304" pitchFamily="18" charset="0"/>
                <a:ea typeface="Cambria" panose="02040503050406030204" pitchFamily="18" charset="0"/>
              </a:rPr>
              <a:t> activation) </a:t>
            </a:r>
            <a:r>
              <a:rPr lang="en-US" sz="1800" dirty="0" err="1">
                <a:effectLst/>
                <a:latin typeface="Times New Roman" panose="02020603050405020304" pitchFamily="18" charset="0"/>
                <a:ea typeface="Cambria" panose="02040503050406030204" pitchFamily="18" charset="0"/>
              </a:rPr>
              <a:t>thực</a:t>
            </a:r>
            <a:r>
              <a:rPr lang="en-US" sz="1800" dirty="0">
                <a:effectLst/>
                <a:latin typeface="Times New Roman" panose="02020603050405020304" pitchFamily="18" charset="0"/>
                <a:ea typeface="Cambria" panose="02040503050406030204" pitchFamily="18" charset="0"/>
              </a:rPr>
              <a:t> </a:t>
            </a:r>
            <a:r>
              <a:rPr lang="en-US" sz="1800" dirty="0" err="1">
                <a:effectLst/>
                <a:latin typeface="Times New Roman" panose="02020603050405020304" pitchFamily="18" charset="0"/>
                <a:ea typeface="Cambria" panose="02040503050406030204" pitchFamily="18" charset="0"/>
              </a:rPr>
              <a:t>hiện</a:t>
            </a:r>
            <a:r>
              <a:rPr lang="en-US" sz="1800" dirty="0">
                <a:effectLst/>
                <a:latin typeface="Times New Roman" panose="02020603050405020304" pitchFamily="18" charset="0"/>
                <a:ea typeface="Cambria" panose="02040503050406030204" pitchFamily="18" charset="0"/>
              </a:rPr>
              <a:t> </a:t>
            </a:r>
            <a:r>
              <a:rPr lang="en-US" sz="1800" dirty="0" err="1">
                <a:effectLst/>
                <a:latin typeface="Times New Roman" panose="02020603050405020304" pitchFamily="18" charset="0"/>
                <a:ea typeface="Cambria" panose="02040503050406030204" pitchFamily="18" charset="0"/>
              </a:rPr>
              <a:t>giảm</a:t>
            </a:r>
            <a:r>
              <a:rPr lang="en-US" sz="1800" dirty="0">
                <a:effectLst/>
                <a:latin typeface="Times New Roman" panose="02020603050405020304" pitchFamily="18" charset="0"/>
                <a:ea typeface="Cambria" panose="02040503050406030204" pitchFamily="18" charset="0"/>
              </a:rPr>
              <a:t> </a:t>
            </a:r>
            <a:r>
              <a:rPr lang="en-US" sz="1800" dirty="0" err="1">
                <a:effectLst/>
                <a:latin typeface="Times New Roman" panose="02020603050405020304" pitchFamily="18" charset="0"/>
                <a:ea typeface="Cambria" panose="02040503050406030204" pitchFamily="18" charset="0"/>
              </a:rPr>
              <a:t>số</a:t>
            </a:r>
            <a:r>
              <a:rPr lang="en-US" sz="1800" dirty="0">
                <a:effectLst/>
                <a:latin typeface="Times New Roman" panose="02020603050405020304" pitchFamily="18" charset="0"/>
                <a:ea typeface="Cambria" panose="02040503050406030204" pitchFamily="18" charset="0"/>
              </a:rPr>
              <a:t> </a:t>
            </a:r>
            <a:r>
              <a:rPr lang="en-US" sz="1800" dirty="0" err="1">
                <a:effectLst/>
                <a:latin typeface="Times New Roman" panose="02020603050405020304" pitchFamily="18" charset="0"/>
                <a:ea typeface="Cambria" panose="02040503050406030204" pitchFamily="18" charset="0"/>
              </a:rPr>
              <a:t>kênh</a:t>
            </a:r>
            <a:r>
              <a:rPr lang="en-US" sz="1800" dirty="0">
                <a:effectLst/>
                <a:latin typeface="Times New Roman" panose="02020603050405020304" pitchFamily="18" charset="0"/>
                <a:ea typeface="Cambria" panose="02040503050406030204" pitchFamily="18" charset="0"/>
              </a:rPr>
              <a:t> - linear bottleneck. Sau </a:t>
            </a:r>
            <a:r>
              <a:rPr lang="en-US" sz="1800" dirty="0" err="1">
                <a:effectLst/>
                <a:latin typeface="Times New Roman" panose="02020603050405020304" pitchFamily="18" charset="0"/>
                <a:ea typeface="Cambria" panose="02040503050406030204" pitchFamily="18" charset="0"/>
              </a:rPr>
              <a:t>khi</a:t>
            </a:r>
            <a:r>
              <a:rPr lang="en-US" sz="1800" dirty="0">
                <a:effectLst/>
                <a:latin typeface="Times New Roman" panose="02020603050405020304" pitchFamily="18" charset="0"/>
                <a:ea typeface="Cambria" panose="02040503050406030204" pitchFamily="18" charset="0"/>
              </a:rPr>
              <a:t> </a:t>
            </a:r>
            <a:r>
              <a:rPr lang="en-US" sz="1800" dirty="0" err="1">
                <a:effectLst/>
                <a:latin typeface="Times New Roman" panose="02020603050405020304" pitchFamily="18" charset="0"/>
                <a:ea typeface="Cambria" panose="02040503050406030204" pitchFamily="18" charset="0"/>
              </a:rPr>
              <a:t>giảm</a:t>
            </a:r>
            <a:r>
              <a:rPr lang="en-US" sz="1800" dirty="0">
                <a:effectLst/>
                <a:latin typeface="Times New Roman" panose="02020603050405020304" pitchFamily="18" charset="0"/>
                <a:ea typeface="Cambria" panose="02040503050406030204" pitchFamily="18" charset="0"/>
              </a:rPr>
              <a:t> </a:t>
            </a:r>
            <a:r>
              <a:rPr lang="en-US" sz="1800" dirty="0" err="1">
                <a:effectLst/>
                <a:latin typeface="Times New Roman" panose="02020603050405020304" pitchFamily="18" charset="0"/>
                <a:ea typeface="Cambria" panose="02040503050406030204" pitchFamily="18" charset="0"/>
              </a:rPr>
              <a:t>chiều</a:t>
            </a:r>
            <a:r>
              <a:rPr lang="en-US" sz="1800" dirty="0">
                <a:effectLst/>
                <a:latin typeface="Times New Roman" panose="02020603050405020304" pitchFamily="18" charset="0"/>
                <a:ea typeface="Cambria" panose="02040503050406030204" pitchFamily="18" charset="0"/>
              </a:rPr>
              <a:t> ở </a:t>
            </a:r>
            <a:r>
              <a:rPr lang="en-US" sz="1800" dirty="0" err="1">
                <a:effectLst/>
                <a:latin typeface="Times New Roman" panose="02020603050405020304" pitchFamily="18" charset="0"/>
                <a:ea typeface="Cambria" panose="02040503050406030204" pitchFamily="18" charset="0"/>
              </a:rPr>
              <a:t>bước</a:t>
            </a:r>
            <a:r>
              <a:rPr lang="en-US" sz="1800" dirty="0">
                <a:effectLst/>
                <a:latin typeface="Times New Roman" panose="02020603050405020304" pitchFamily="18" charset="0"/>
                <a:ea typeface="Cambria" panose="02040503050406030204" pitchFamily="18" charset="0"/>
              </a:rPr>
              <a:t> </a:t>
            </a:r>
            <a:r>
              <a:rPr lang="en-US" sz="1800" dirty="0" err="1">
                <a:effectLst/>
                <a:latin typeface="Times New Roman" panose="02020603050405020304" pitchFamily="18" charset="0"/>
                <a:ea typeface="Cambria" panose="02040503050406030204" pitchFamily="18" charset="0"/>
              </a:rPr>
              <a:t>cuối</a:t>
            </a:r>
            <a:r>
              <a:rPr lang="en-US" sz="1800" dirty="0">
                <a:effectLst/>
                <a:latin typeface="Times New Roman" panose="02020603050405020304" pitchFamily="18" charset="0"/>
                <a:ea typeface="Cambria" panose="02040503050406030204" pitchFamily="18" charset="0"/>
              </a:rPr>
              <a:t>, </a:t>
            </a:r>
            <a:r>
              <a:rPr lang="en-US" sz="1800" dirty="0" err="1">
                <a:effectLst/>
                <a:latin typeface="Times New Roman" panose="02020603050405020304" pitchFamily="18" charset="0"/>
                <a:ea typeface="Cambria" panose="02040503050406030204" pitchFamily="18" charset="0"/>
              </a:rPr>
              <a:t>không</a:t>
            </a:r>
            <a:r>
              <a:rPr lang="en-US" sz="1800" dirty="0">
                <a:effectLst/>
                <a:latin typeface="Times New Roman" panose="02020603050405020304" pitchFamily="18" charset="0"/>
                <a:ea typeface="Cambria" panose="02040503050406030204" pitchFamily="18" charset="0"/>
              </a:rPr>
              <a:t> </a:t>
            </a:r>
            <a:r>
              <a:rPr lang="en-US" sz="1800" dirty="0" err="1">
                <a:effectLst/>
                <a:latin typeface="Times New Roman" panose="02020603050405020304" pitchFamily="18" charset="0"/>
                <a:ea typeface="Cambria" panose="02040503050406030204" pitchFamily="18" charset="0"/>
              </a:rPr>
              <a:t>dùng</a:t>
            </a:r>
            <a:r>
              <a:rPr lang="en-US" sz="1800" dirty="0">
                <a:effectLst/>
                <a:latin typeface="Times New Roman" panose="02020603050405020304" pitchFamily="18" charset="0"/>
                <a:ea typeface="Cambria" panose="02040503050406030204" pitchFamily="18" charset="0"/>
              </a:rPr>
              <a:t> </a:t>
            </a:r>
            <a:r>
              <a:rPr lang="en-US" sz="1800" dirty="0" err="1">
                <a:effectLst/>
                <a:latin typeface="Times New Roman" panose="02020603050405020304" pitchFamily="18" charset="0"/>
                <a:ea typeface="Cambria" panose="02040503050406030204" pitchFamily="18" charset="0"/>
              </a:rPr>
              <a:t>ReLU</a:t>
            </a:r>
            <a:r>
              <a:rPr lang="en-US" sz="1800" dirty="0">
                <a:effectLst/>
                <a:latin typeface="Times New Roman" panose="02020603050405020304" pitchFamily="18" charset="0"/>
                <a:ea typeface="Cambria" panose="02040503050406030204" pitchFamily="18" charset="0"/>
              </a:rPr>
              <a:t> </a:t>
            </a:r>
            <a:r>
              <a:rPr lang="en-US" sz="1800" dirty="0" err="1">
                <a:effectLst/>
                <a:latin typeface="Times New Roman" panose="02020603050405020304" pitchFamily="18" charset="0"/>
                <a:ea typeface="Cambria" panose="02040503050406030204" pitchFamily="18" charset="0"/>
              </a:rPr>
              <a:t>nữa</a:t>
            </a:r>
            <a:r>
              <a:rPr lang="en-US" sz="1800" dirty="0">
                <a:effectLst/>
                <a:latin typeface="Times New Roman" panose="02020603050405020304" pitchFamily="18" charset="0"/>
                <a:ea typeface="Cambria" panose="02040503050406030204" pitchFamily="18" charset="0"/>
              </a:rPr>
              <a:t>. </a:t>
            </a:r>
            <a:r>
              <a:rPr lang="en-US" sz="1800" dirty="0" err="1">
                <a:effectLst/>
                <a:latin typeface="Times New Roman" panose="02020603050405020304" pitchFamily="18" charset="0"/>
                <a:ea typeface="Cambria" panose="02040503050406030204" pitchFamily="18" charset="0"/>
              </a:rPr>
              <a:t>Tránh</a:t>
            </a:r>
            <a:r>
              <a:rPr lang="en-US" sz="1800" dirty="0">
                <a:effectLst/>
                <a:latin typeface="Times New Roman" panose="02020603050405020304" pitchFamily="18" charset="0"/>
                <a:ea typeface="Cambria" panose="02040503050406030204" pitchFamily="18" charset="0"/>
              </a:rPr>
              <a:t> </a:t>
            </a:r>
            <a:r>
              <a:rPr lang="en-US" sz="1800" dirty="0" err="1">
                <a:effectLst/>
                <a:latin typeface="Times New Roman" panose="02020603050405020304" pitchFamily="18" charset="0"/>
                <a:ea typeface="Cambria" panose="02040503050406030204" pitchFamily="18" charset="0"/>
              </a:rPr>
              <a:t>mất</a:t>
            </a:r>
            <a:r>
              <a:rPr lang="en-US" sz="1800" dirty="0">
                <a:effectLst/>
                <a:latin typeface="Times New Roman" panose="02020603050405020304" pitchFamily="18" charset="0"/>
                <a:ea typeface="Cambria" panose="02040503050406030204" pitchFamily="18" charset="0"/>
              </a:rPr>
              <a:t> </a:t>
            </a:r>
            <a:r>
              <a:rPr lang="en-US" sz="1800" dirty="0" err="1">
                <a:effectLst/>
                <a:latin typeface="Times New Roman" panose="02020603050405020304" pitchFamily="18" charset="0"/>
                <a:ea typeface="Cambria" panose="02040503050406030204" pitchFamily="18" charset="0"/>
              </a:rPr>
              <a:t>thông</a:t>
            </a:r>
            <a:r>
              <a:rPr lang="en-US" sz="1800" dirty="0">
                <a:effectLst/>
                <a:latin typeface="Times New Roman" panose="02020603050405020304" pitchFamily="18" charset="0"/>
                <a:ea typeface="Cambria" panose="02040503050406030204" pitchFamily="18" charset="0"/>
              </a:rPr>
              <a:t> tin do </a:t>
            </a:r>
            <a:r>
              <a:rPr lang="en-US" sz="1800" dirty="0" err="1">
                <a:effectLst/>
                <a:latin typeface="Times New Roman" panose="02020603050405020304" pitchFamily="18" charset="0"/>
                <a:ea typeface="Cambria" panose="02040503050406030204" pitchFamily="18" charset="0"/>
              </a:rPr>
              <a:t>ReLU</a:t>
            </a:r>
            <a:r>
              <a:rPr lang="en-US" sz="1800" dirty="0">
                <a:effectLst/>
                <a:latin typeface="Times New Roman" panose="02020603050405020304" pitchFamily="18" charset="0"/>
                <a:ea typeface="Cambria" panose="02040503050406030204" pitchFamily="18" charset="0"/>
              </a:rPr>
              <a:t> </a:t>
            </a:r>
            <a:r>
              <a:rPr lang="en-US" sz="1800" dirty="0" err="1">
                <a:effectLst/>
                <a:latin typeface="Times New Roman" panose="02020603050405020304" pitchFamily="18" charset="0"/>
                <a:ea typeface="Cambria" panose="02040503050406030204" pitchFamily="18" charset="0"/>
              </a:rPr>
              <a:t>có</a:t>
            </a:r>
            <a:r>
              <a:rPr lang="en-US" sz="1800" dirty="0">
                <a:effectLst/>
                <a:latin typeface="Times New Roman" panose="02020603050405020304" pitchFamily="18" charset="0"/>
                <a:ea typeface="Cambria" panose="02040503050406030204" pitchFamily="18" charset="0"/>
              </a:rPr>
              <a:t> </a:t>
            </a:r>
            <a:r>
              <a:rPr lang="en-US" sz="1800" dirty="0" err="1">
                <a:effectLst/>
                <a:latin typeface="Times New Roman" panose="02020603050405020304" pitchFamily="18" charset="0"/>
                <a:ea typeface="Cambria" panose="02040503050406030204" pitchFamily="18" charset="0"/>
              </a:rPr>
              <a:t>thể</a:t>
            </a:r>
            <a:r>
              <a:rPr lang="en-US" sz="1800" dirty="0">
                <a:effectLst/>
                <a:latin typeface="Times New Roman" panose="02020603050405020304" pitchFamily="18" charset="0"/>
                <a:ea typeface="Cambria" panose="02040503050406030204" pitchFamily="18" charset="0"/>
              </a:rPr>
              <a:t> </a:t>
            </a:r>
            <a:r>
              <a:rPr lang="en-US" sz="1800" dirty="0" err="1">
                <a:effectLst/>
                <a:latin typeface="Times New Roman" panose="02020603050405020304" pitchFamily="18" charset="0"/>
                <a:ea typeface="Cambria" panose="02040503050406030204" pitchFamily="18" charset="0"/>
              </a:rPr>
              <a:t>loại</a:t>
            </a:r>
            <a:r>
              <a:rPr lang="en-US" sz="1800" dirty="0">
                <a:effectLst/>
                <a:latin typeface="Times New Roman" panose="02020603050405020304" pitchFamily="18" charset="0"/>
                <a:ea typeface="Cambria" panose="02040503050406030204" pitchFamily="18" charset="0"/>
              </a:rPr>
              <a:t> </a:t>
            </a:r>
            <a:r>
              <a:rPr lang="en-US" sz="1800" dirty="0" err="1">
                <a:effectLst/>
                <a:latin typeface="Times New Roman" panose="02020603050405020304" pitchFamily="18" charset="0"/>
                <a:ea typeface="Cambria" panose="02040503050406030204" pitchFamily="18" charset="0"/>
              </a:rPr>
              <a:t>bỏ</a:t>
            </a:r>
            <a:r>
              <a:rPr lang="en-US" sz="1800" dirty="0">
                <a:effectLst/>
                <a:latin typeface="Times New Roman" panose="02020603050405020304" pitchFamily="18" charset="0"/>
                <a:ea typeface="Cambria" panose="02040503050406030204" pitchFamily="18" charset="0"/>
              </a:rPr>
              <a:t> </a:t>
            </a:r>
            <a:r>
              <a:rPr lang="en-US" sz="1800" dirty="0" err="1">
                <a:effectLst/>
                <a:latin typeface="Times New Roman" panose="02020603050405020304" pitchFamily="18" charset="0"/>
                <a:ea typeface="Cambria" panose="02040503050406030204" pitchFamily="18" charset="0"/>
              </a:rPr>
              <a:t>các</a:t>
            </a:r>
            <a:r>
              <a:rPr lang="en-US" sz="1800" dirty="0">
                <a:effectLst/>
                <a:latin typeface="Times New Roman" panose="02020603050405020304" pitchFamily="18" charset="0"/>
                <a:ea typeface="Cambria" panose="02040503050406030204" pitchFamily="18" charset="0"/>
              </a:rPr>
              <a:t> </a:t>
            </a:r>
            <a:r>
              <a:rPr lang="en-US" sz="1800" dirty="0" err="1">
                <a:effectLst/>
                <a:latin typeface="Times New Roman" panose="02020603050405020304" pitchFamily="18" charset="0"/>
                <a:ea typeface="Cambria" panose="02040503050406030204" pitchFamily="18" charset="0"/>
              </a:rPr>
              <a:t>giá</a:t>
            </a:r>
            <a:r>
              <a:rPr lang="en-US" sz="1800" dirty="0">
                <a:effectLst/>
                <a:latin typeface="Times New Roman" panose="02020603050405020304" pitchFamily="18" charset="0"/>
                <a:ea typeface="Cambria" panose="02040503050406030204" pitchFamily="18" charset="0"/>
              </a:rPr>
              <a:t> </a:t>
            </a:r>
            <a:r>
              <a:rPr lang="en-US" sz="1800" dirty="0" err="1">
                <a:effectLst/>
                <a:latin typeface="Times New Roman" panose="02020603050405020304" pitchFamily="18" charset="0"/>
                <a:ea typeface="Cambria" panose="02040503050406030204" pitchFamily="18" charset="0"/>
              </a:rPr>
              <a:t>trị</a:t>
            </a:r>
            <a:r>
              <a:rPr lang="en-US" sz="1800" dirty="0">
                <a:effectLst/>
                <a:latin typeface="Times New Roman" panose="02020603050405020304" pitchFamily="18" charset="0"/>
                <a:ea typeface="Cambria" panose="02040503050406030204" pitchFamily="18" charset="0"/>
              </a:rPr>
              <a:t> </a:t>
            </a:r>
            <a:r>
              <a:rPr lang="en-US" sz="1800" dirty="0" err="1">
                <a:effectLst/>
                <a:latin typeface="Times New Roman" panose="02020603050405020304" pitchFamily="18" charset="0"/>
                <a:ea typeface="Cambria" panose="02040503050406030204" pitchFamily="18" charset="0"/>
              </a:rPr>
              <a:t>nhỏ</a:t>
            </a:r>
            <a:r>
              <a:rPr lang="en-US" sz="1800" dirty="0">
                <a:effectLst/>
                <a:latin typeface="Times New Roman" panose="02020603050405020304" pitchFamily="18" charset="0"/>
                <a:ea typeface="Cambria" panose="02040503050406030204" pitchFamily="18" charset="0"/>
              </a:rPr>
              <a:t> (</a:t>
            </a:r>
            <a:r>
              <a:rPr lang="en-US" sz="1800" dirty="0" err="1">
                <a:effectLst/>
                <a:latin typeface="Times New Roman" panose="02020603050405020304" pitchFamily="18" charset="0"/>
                <a:ea typeface="Cambria" panose="02040503050406030204" pitchFamily="18" charset="0"/>
              </a:rPr>
              <a:t>nhưng</a:t>
            </a:r>
            <a:r>
              <a:rPr lang="en-US" sz="1800" dirty="0">
                <a:effectLst/>
                <a:latin typeface="Times New Roman" panose="02020603050405020304" pitchFamily="18" charset="0"/>
                <a:ea typeface="Cambria" panose="02040503050406030204" pitchFamily="18" charset="0"/>
              </a:rPr>
              <a:t> </a:t>
            </a:r>
            <a:r>
              <a:rPr lang="en-US" sz="1800" dirty="0" err="1">
                <a:effectLst/>
                <a:latin typeface="Times New Roman" panose="02020603050405020304" pitchFamily="18" charset="0"/>
                <a:ea typeface="Cambria" panose="02040503050406030204" pitchFamily="18" charset="0"/>
              </a:rPr>
              <a:t>quan</a:t>
            </a:r>
            <a:r>
              <a:rPr lang="en-US" sz="1800" dirty="0">
                <a:effectLst/>
                <a:latin typeface="Times New Roman" panose="02020603050405020304" pitchFamily="18" charset="0"/>
                <a:ea typeface="Cambria" panose="02040503050406030204" pitchFamily="18" charset="0"/>
              </a:rPr>
              <a:t> </a:t>
            </a:r>
            <a:r>
              <a:rPr lang="en-US" sz="1800" dirty="0" err="1">
                <a:effectLst/>
                <a:latin typeface="Times New Roman" panose="02020603050405020304" pitchFamily="18" charset="0"/>
                <a:ea typeface="Cambria" panose="02040503050406030204" pitchFamily="18" charset="0"/>
              </a:rPr>
              <a:t>trọng</a:t>
            </a:r>
            <a:r>
              <a:rPr lang="en-US" sz="1800" dirty="0">
                <a:effectLst/>
                <a:latin typeface="Times New Roman" panose="02020603050405020304" pitchFamily="18" charset="0"/>
                <a:ea typeface="Cambria" panose="02040503050406030204" pitchFamily="18" charset="0"/>
              </a:rPr>
              <a:t>) → </a:t>
            </a:r>
            <a:r>
              <a:rPr lang="en-US" sz="1800" dirty="0" err="1">
                <a:effectLst/>
                <a:latin typeface="Times New Roman" panose="02020603050405020304" pitchFamily="18" charset="0"/>
                <a:ea typeface="Cambria" panose="02040503050406030204" pitchFamily="18" charset="0"/>
              </a:rPr>
              <a:t>giữ</a:t>
            </a:r>
            <a:r>
              <a:rPr lang="en-US" sz="1800" dirty="0">
                <a:effectLst/>
                <a:latin typeface="Times New Roman" panose="02020603050405020304" pitchFamily="18" charset="0"/>
                <a:ea typeface="Cambria" panose="02040503050406030204" pitchFamily="18" charset="0"/>
              </a:rPr>
              <a:t> </a:t>
            </a:r>
            <a:r>
              <a:rPr lang="en-US" sz="1800" dirty="0" err="1">
                <a:effectLst/>
                <a:latin typeface="Times New Roman" panose="02020603050405020304" pitchFamily="18" charset="0"/>
                <a:ea typeface="Cambria" panose="02040503050406030204" pitchFamily="18" charset="0"/>
              </a:rPr>
              <a:t>nguyên</a:t>
            </a:r>
            <a:r>
              <a:rPr lang="en-US" sz="1800" dirty="0">
                <a:effectLst/>
                <a:latin typeface="Times New Roman" panose="02020603050405020304" pitchFamily="18" charset="0"/>
                <a:ea typeface="Cambria" panose="02040503050406030204" pitchFamily="18" charset="0"/>
              </a:rPr>
              <a:t> </a:t>
            </a:r>
            <a:r>
              <a:rPr lang="en-US" sz="1800" dirty="0" err="1">
                <a:effectLst/>
                <a:latin typeface="Times New Roman" panose="02020603050405020304" pitchFamily="18" charset="0"/>
                <a:ea typeface="Cambria" panose="02040503050406030204" pitchFamily="18" charset="0"/>
              </a:rPr>
              <a:t>tính</a:t>
            </a:r>
            <a:r>
              <a:rPr lang="en-US" sz="1800" dirty="0">
                <a:effectLst/>
                <a:latin typeface="Times New Roman" panose="02020603050405020304" pitchFamily="18" charset="0"/>
                <a:ea typeface="Cambria" panose="02040503050406030204" pitchFamily="18" charset="0"/>
              </a:rPr>
              <a:t> </a:t>
            </a:r>
            <a:r>
              <a:rPr lang="en-US" sz="1800" dirty="0" err="1">
                <a:effectLst/>
                <a:latin typeface="Times New Roman" panose="02020603050405020304" pitchFamily="18" charset="0"/>
                <a:ea typeface="Cambria" panose="02040503050406030204" pitchFamily="18" charset="0"/>
              </a:rPr>
              <a:t>tuyến</a:t>
            </a:r>
            <a:r>
              <a:rPr lang="en-US" sz="1800" dirty="0">
                <a:effectLst/>
                <a:latin typeface="Times New Roman" panose="02020603050405020304" pitchFamily="18" charset="0"/>
                <a:ea typeface="Cambria" panose="02040503050406030204" pitchFamily="18" charset="0"/>
              </a:rPr>
              <a:t> </a:t>
            </a:r>
            <a:r>
              <a:rPr lang="en-US" sz="1800" dirty="0" err="1">
                <a:effectLst/>
                <a:latin typeface="Times New Roman" panose="02020603050405020304" pitchFamily="18" charset="0"/>
                <a:ea typeface="Cambria" panose="02040503050406030204" pitchFamily="18" charset="0"/>
              </a:rPr>
              <a:t>tính</a:t>
            </a:r>
            <a:r>
              <a:rPr lang="en-US" sz="1800" dirty="0">
                <a:effectLst/>
                <a:latin typeface="Times New Roman" panose="02020603050405020304" pitchFamily="18" charset="0"/>
                <a:ea typeface="Cambria" panose="02040503050406030204" pitchFamily="18" charset="0"/>
              </a:rPr>
              <a:t> </a:t>
            </a:r>
            <a:r>
              <a:rPr lang="en-US" sz="1800" dirty="0" err="1">
                <a:effectLst/>
                <a:latin typeface="Times New Roman" panose="02020603050405020304" pitchFamily="18" charset="0"/>
                <a:ea typeface="Cambria" panose="02040503050406030204" pitchFamily="18" charset="0"/>
              </a:rPr>
              <a:t>tại</a:t>
            </a:r>
            <a:r>
              <a:rPr lang="en-US" sz="1800" dirty="0">
                <a:effectLst/>
                <a:latin typeface="Times New Roman" panose="02020603050405020304" pitchFamily="18" charset="0"/>
                <a:ea typeface="Cambria" panose="02040503050406030204" pitchFamily="18" charset="0"/>
              </a:rPr>
              <a:t> </a:t>
            </a:r>
            <a:r>
              <a:rPr lang="en-US" sz="1800" dirty="0" err="1">
                <a:effectLst/>
                <a:latin typeface="Times New Roman" panose="02020603050405020304" pitchFamily="18" charset="0"/>
                <a:ea typeface="Cambria" panose="02040503050406030204" pitchFamily="18" charset="0"/>
              </a:rPr>
              <a:t>vùng</a:t>
            </a:r>
            <a:r>
              <a:rPr lang="en-US" sz="1800" dirty="0">
                <a:effectLst/>
                <a:latin typeface="Times New Roman" panose="02020603050405020304" pitchFamily="18" charset="0"/>
                <a:ea typeface="Cambria" panose="02040503050406030204" pitchFamily="18" charset="0"/>
              </a:rPr>
              <a:t> </a:t>
            </a:r>
            <a:r>
              <a:rPr lang="en-US" sz="1800" dirty="0" err="1">
                <a:effectLst/>
                <a:latin typeface="Times New Roman" panose="02020603050405020304" pitchFamily="18" charset="0"/>
                <a:ea typeface="Cambria" panose="02040503050406030204" pitchFamily="18" charset="0"/>
              </a:rPr>
              <a:t>thấp</a:t>
            </a:r>
            <a:r>
              <a:rPr lang="en-US" sz="1800" dirty="0">
                <a:effectLst/>
                <a:latin typeface="Times New Roman" panose="02020603050405020304" pitchFamily="18" charset="0"/>
                <a:ea typeface="Cambria" panose="02040503050406030204" pitchFamily="18" charset="0"/>
              </a:rPr>
              <a:t> </a:t>
            </a:r>
            <a:r>
              <a:rPr lang="en-US" sz="1800" dirty="0" err="1">
                <a:effectLst/>
                <a:latin typeface="Times New Roman" panose="02020603050405020304" pitchFamily="18" charset="0"/>
                <a:ea typeface="Cambria" panose="02040503050406030204" pitchFamily="18" charset="0"/>
              </a:rPr>
              <a:t>chiều</a:t>
            </a:r>
            <a:endParaRPr lang="en-US" sz="1800" dirty="0">
              <a:effectLst/>
              <a:latin typeface="Times New Roman" panose="02020603050405020304" pitchFamily="18" charset="0"/>
              <a:ea typeface="Cambria" panose="02040503050406030204" pitchFamily="18" charset="0"/>
            </a:endParaRPr>
          </a:p>
          <a:p>
            <a:pPr marL="342900" marR="0" lvl="0" indent="-342900" algn="just">
              <a:lnSpc>
                <a:spcPct val="150000"/>
              </a:lnSpc>
              <a:spcBef>
                <a:spcPts val="0"/>
              </a:spcBef>
              <a:spcAft>
                <a:spcPts val="1000"/>
              </a:spcAft>
              <a:buFont typeface="Times New Roman" panose="02020603050405020304" pitchFamily="18" charset="0"/>
              <a:buChar char="-"/>
              <a:tabLst>
                <a:tab pos="270510" algn="l"/>
                <a:tab pos="540385" algn="l"/>
              </a:tabLst>
            </a:pPr>
            <a:r>
              <a:rPr lang="en-US" sz="1800" dirty="0">
                <a:effectLst/>
                <a:latin typeface="Times New Roman" panose="02020603050405020304" pitchFamily="18" charset="0"/>
                <a:ea typeface="Cambria" panose="02040503050406030204" pitchFamily="18" charset="0"/>
              </a:rPr>
              <a:t>Skip connection </a:t>
            </a:r>
            <a:r>
              <a:rPr lang="en-US" sz="1800" dirty="0" err="1">
                <a:effectLst/>
                <a:latin typeface="Times New Roman" panose="02020603050405020304" pitchFamily="18" charset="0"/>
                <a:ea typeface="Cambria" panose="02040503050406030204" pitchFamily="18" charset="0"/>
              </a:rPr>
              <a:t>truyền</a:t>
            </a:r>
            <a:r>
              <a:rPr lang="en-US" sz="1800" dirty="0">
                <a:effectLst/>
                <a:latin typeface="Times New Roman" panose="02020603050405020304" pitchFamily="18" charset="0"/>
                <a:ea typeface="Cambria" panose="02040503050406030204" pitchFamily="18" charset="0"/>
              </a:rPr>
              <a:t> </a:t>
            </a:r>
            <a:r>
              <a:rPr lang="en-US" sz="1800" dirty="0" err="1">
                <a:effectLst/>
                <a:latin typeface="Times New Roman" panose="02020603050405020304" pitchFamily="18" charset="0"/>
                <a:ea typeface="Cambria" panose="02040503050406030204" pitchFamily="18" charset="0"/>
              </a:rPr>
              <a:t>các</a:t>
            </a:r>
            <a:r>
              <a:rPr lang="en-US" sz="1800" dirty="0">
                <a:effectLst/>
                <a:latin typeface="Times New Roman" panose="02020603050405020304" pitchFamily="18" charset="0"/>
                <a:ea typeface="Cambria" panose="02040503050406030204" pitchFamily="18" charset="0"/>
              </a:rPr>
              <a:t> </a:t>
            </a:r>
            <a:r>
              <a:rPr lang="en-US" sz="1800" dirty="0" err="1">
                <a:effectLst/>
                <a:latin typeface="Times New Roman" panose="02020603050405020304" pitchFamily="18" charset="0"/>
                <a:ea typeface="Cambria" panose="02040503050406030204" pitchFamily="18" charset="0"/>
              </a:rPr>
              <a:t>thông</a:t>
            </a:r>
            <a:r>
              <a:rPr lang="en-US" sz="1800" dirty="0">
                <a:effectLst/>
                <a:latin typeface="Times New Roman" panose="02020603050405020304" pitchFamily="18" charset="0"/>
                <a:ea typeface="Cambria" panose="02040503050406030204" pitchFamily="18" charset="0"/>
              </a:rPr>
              <a:t> tin </a:t>
            </a:r>
            <a:r>
              <a:rPr lang="en-US" sz="1800" dirty="0" err="1">
                <a:effectLst/>
                <a:latin typeface="Times New Roman" panose="02020603050405020304" pitchFamily="18" charset="0"/>
                <a:ea typeface="Cambria" panose="02040503050406030204" pitchFamily="18" charset="0"/>
              </a:rPr>
              <a:t>gốc</a:t>
            </a:r>
            <a:r>
              <a:rPr lang="en-US" sz="1800" dirty="0">
                <a:effectLst/>
                <a:latin typeface="Times New Roman" panose="02020603050405020304" pitchFamily="18" charset="0"/>
                <a:ea typeface="Cambria" panose="02040503050406030204" pitchFamily="18" charset="0"/>
              </a:rPr>
              <a:t> - inverted residual</a:t>
            </a:r>
          </a:p>
          <a:p>
            <a:endParaRPr lang="en-US" dirty="0"/>
          </a:p>
        </p:txBody>
      </p:sp>
      <p:sp>
        <p:nvSpPr>
          <p:cNvPr id="4" name="Slide Number Placeholder 3"/>
          <p:cNvSpPr>
            <a:spLocks noGrp="1"/>
          </p:cNvSpPr>
          <p:nvPr>
            <p:ph type="sldNum" sz="quarter" idx="5"/>
          </p:nvPr>
        </p:nvSpPr>
        <p:spPr/>
        <p:txBody>
          <a:bodyPr/>
          <a:lstStyle/>
          <a:p>
            <a:fld id="{DFBF8197-EED4-4EBE-92EA-36C7EB54B110}" type="slidenum">
              <a:rPr lang="en-US" smtClean="0"/>
              <a:t>13</a:t>
            </a:fld>
            <a:endParaRPr lang="en-US"/>
          </a:p>
        </p:txBody>
      </p:sp>
    </p:spTree>
    <p:extLst>
      <p:ext uri="{BB962C8B-B14F-4D97-AF65-F5344CB8AC3E}">
        <p14:creationId xmlns:p14="http://schemas.microsoft.com/office/powerpoint/2010/main" val="394689172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err="1">
                <a:effectLst/>
                <a:latin typeface="Times New Roman" panose="02020603050405020304" pitchFamily="18" charset="0"/>
                <a:ea typeface="Times New Roman" panose="02020603050405020304" pitchFamily="18" charset="0"/>
              </a:rPr>
              <a:t>Một</a:t>
            </a:r>
            <a:r>
              <a:rPr lang="en-US" sz="1800" dirty="0">
                <a:effectLst/>
                <a:latin typeface="Times New Roman" panose="02020603050405020304" pitchFamily="18" charset="0"/>
                <a:ea typeface="Times New Roman" panose="02020603050405020304" pitchFamily="18" charset="0"/>
              </a:rPr>
              <a:t> block </a:t>
            </a:r>
            <a:r>
              <a:rPr lang="en-US" sz="1800" dirty="0" err="1">
                <a:effectLst/>
                <a:latin typeface="Times New Roman" panose="02020603050405020304" pitchFamily="18" charset="0"/>
                <a:ea typeface="Times New Roman" panose="02020603050405020304" pitchFamily="18" charset="0"/>
              </a:rPr>
              <a:t>của</a:t>
            </a:r>
            <a:r>
              <a:rPr lang="en-US" sz="1800" dirty="0">
                <a:effectLst/>
                <a:latin typeface="Times New Roman" panose="02020603050405020304" pitchFamily="18" charset="0"/>
                <a:ea typeface="Times New Roman" panose="02020603050405020304" pitchFamily="18" charset="0"/>
              </a:rPr>
              <a:t> MobileNetV2 </a:t>
            </a:r>
            <a:r>
              <a:rPr lang="en-US" sz="1800" dirty="0" err="1">
                <a:effectLst/>
                <a:latin typeface="Times New Roman" panose="02020603050405020304" pitchFamily="18" charset="0"/>
                <a:ea typeface="Times New Roman" panose="02020603050405020304" pitchFamily="18" charset="0"/>
              </a:rPr>
              <a:t>sử</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dụng</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Depthwise</a:t>
            </a:r>
            <a:r>
              <a:rPr lang="en-US" sz="1800" dirty="0">
                <a:effectLst/>
                <a:latin typeface="Times New Roman" panose="02020603050405020304" pitchFamily="18" charset="0"/>
                <a:ea typeface="Times New Roman" panose="02020603050405020304" pitchFamily="18" charset="0"/>
              </a:rPr>
              <a:t> convolution </a:t>
            </a:r>
            <a:r>
              <a:rPr lang="en-US" sz="1800" dirty="0" err="1">
                <a:effectLst/>
                <a:latin typeface="Times New Roman" panose="02020603050405020304" pitchFamily="18" charset="0"/>
                <a:ea typeface="Times New Roman" panose="02020603050405020304" pitchFamily="18" charset="0"/>
              </a:rPr>
              <a:t>thực</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hiện</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áp</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dụng</a:t>
            </a:r>
            <a:r>
              <a:rPr lang="en-US" sz="1800" dirty="0">
                <a:effectLst/>
                <a:latin typeface="Times New Roman" panose="02020603050405020304" pitchFamily="18" charset="0"/>
                <a:ea typeface="Times New Roman" panose="02020603050405020304" pitchFamily="18" charset="0"/>
              </a:rPr>
              <a:t> 1 </a:t>
            </a:r>
            <a:r>
              <a:rPr lang="en-US" sz="1800" dirty="0" err="1">
                <a:effectLst/>
                <a:latin typeface="Times New Roman" panose="02020603050405020304" pitchFamily="18" charset="0"/>
                <a:ea typeface="Times New Roman" panose="02020603050405020304" pitchFamily="18" charset="0"/>
              </a:rPr>
              <a:t>bộ</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lọc</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riêng</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cho</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từng</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kênh</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và</a:t>
            </a:r>
            <a:r>
              <a:rPr lang="en-US" sz="1800" dirty="0">
                <a:effectLst/>
                <a:latin typeface="Times New Roman" panose="02020603050405020304" pitchFamily="18" charset="0"/>
                <a:ea typeface="Times New Roman" panose="02020603050405020304" pitchFamily="18" charset="0"/>
              </a:rPr>
              <a:t> Pointwise convolution (1x1) </a:t>
            </a:r>
            <a:r>
              <a:rPr lang="en-US" sz="1800" dirty="0" err="1">
                <a:effectLst/>
                <a:latin typeface="Times New Roman" panose="02020603050405020304" pitchFamily="18" charset="0"/>
                <a:ea typeface="Times New Roman" panose="02020603050405020304" pitchFamily="18" charset="0"/>
              </a:rPr>
              <a:t>thực</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hiện</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trộn</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các</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kênh</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lại</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với</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nhau</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gồm</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các</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thành</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phần</a:t>
            </a:r>
            <a:r>
              <a:rPr lang="en-US" sz="1800" dirty="0">
                <a:effectLst/>
                <a:latin typeface="Times New Roman" panose="02020603050405020304" pitchFamily="18" charset="0"/>
                <a:ea typeface="Times New Roman" panose="02020603050405020304" pitchFamily="18" charset="0"/>
              </a:rPr>
              <a:t>:</a:t>
            </a:r>
          </a:p>
          <a:p>
            <a:endParaRPr lang="en-US" dirty="0"/>
          </a:p>
          <a:p>
            <a:pPr marL="342900" marR="0" lvl="0" indent="-342900" algn="just">
              <a:lnSpc>
                <a:spcPct val="150000"/>
              </a:lnSpc>
              <a:spcBef>
                <a:spcPts val="0"/>
              </a:spcBef>
              <a:spcAft>
                <a:spcPts val="1000"/>
              </a:spcAft>
              <a:buFont typeface="Times New Roman" panose="02020603050405020304" pitchFamily="18" charset="0"/>
              <a:buChar char="-"/>
              <a:tabLst>
                <a:tab pos="270510" algn="l"/>
                <a:tab pos="540385" algn="l"/>
              </a:tabLst>
            </a:pPr>
            <a:r>
              <a:rPr lang="en-US" sz="1800" dirty="0">
                <a:effectLst/>
                <a:latin typeface="Times New Roman" panose="02020603050405020304" pitchFamily="18" charset="0"/>
                <a:ea typeface="Cambria" panose="02040503050406030204" pitchFamily="18" charset="0"/>
              </a:rPr>
              <a:t>Expand (1x1 conv + ReLU6) </a:t>
            </a:r>
            <a:r>
              <a:rPr lang="en-US" sz="1800" dirty="0" err="1">
                <a:effectLst/>
                <a:latin typeface="Times New Roman" panose="02020603050405020304" pitchFamily="18" charset="0"/>
                <a:ea typeface="Cambria" panose="02040503050406030204" pitchFamily="18" charset="0"/>
              </a:rPr>
              <a:t>giúp</a:t>
            </a:r>
            <a:r>
              <a:rPr lang="en-US" sz="1800" dirty="0">
                <a:effectLst/>
                <a:latin typeface="Times New Roman" panose="02020603050405020304" pitchFamily="18" charset="0"/>
                <a:ea typeface="Cambria" panose="02040503050406030204" pitchFamily="18" charset="0"/>
              </a:rPr>
              <a:t> </a:t>
            </a:r>
            <a:r>
              <a:rPr lang="en-US" sz="1800" dirty="0" err="1">
                <a:effectLst/>
                <a:latin typeface="Times New Roman" panose="02020603050405020304" pitchFamily="18" charset="0"/>
                <a:ea typeface="Cambria" panose="02040503050406030204" pitchFamily="18" charset="0"/>
              </a:rPr>
              <a:t>tăng</a:t>
            </a:r>
            <a:r>
              <a:rPr lang="en-US" sz="1800" dirty="0">
                <a:effectLst/>
                <a:latin typeface="Times New Roman" panose="02020603050405020304" pitchFamily="18" charset="0"/>
                <a:ea typeface="Cambria" panose="02040503050406030204" pitchFamily="18" charset="0"/>
              </a:rPr>
              <a:t> </a:t>
            </a:r>
            <a:r>
              <a:rPr lang="en-US" sz="1800" dirty="0" err="1">
                <a:effectLst/>
                <a:latin typeface="Times New Roman" panose="02020603050405020304" pitchFamily="18" charset="0"/>
                <a:ea typeface="Cambria" panose="02040503050406030204" pitchFamily="18" charset="0"/>
              </a:rPr>
              <a:t>số</a:t>
            </a:r>
            <a:r>
              <a:rPr lang="en-US" sz="1800" dirty="0">
                <a:effectLst/>
                <a:latin typeface="Times New Roman" panose="02020603050405020304" pitchFamily="18" charset="0"/>
                <a:ea typeface="Cambria" panose="02040503050406030204" pitchFamily="18" charset="0"/>
              </a:rPr>
              <a:t> </a:t>
            </a:r>
            <a:r>
              <a:rPr lang="en-US" sz="1800" dirty="0" err="1">
                <a:effectLst/>
                <a:latin typeface="Times New Roman" panose="02020603050405020304" pitchFamily="18" charset="0"/>
                <a:ea typeface="Cambria" panose="02040503050406030204" pitchFamily="18" charset="0"/>
              </a:rPr>
              <a:t>kênh</a:t>
            </a:r>
            <a:r>
              <a:rPr lang="en-US" sz="1800" dirty="0">
                <a:effectLst/>
                <a:latin typeface="Times New Roman" panose="02020603050405020304" pitchFamily="18" charset="0"/>
                <a:ea typeface="Cambria" panose="02040503050406030204" pitchFamily="18" charset="0"/>
              </a:rPr>
              <a:t> </a:t>
            </a:r>
          </a:p>
          <a:p>
            <a:pPr marL="342900" marR="0" lvl="0" indent="-342900" algn="just">
              <a:lnSpc>
                <a:spcPct val="150000"/>
              </a:lnSpc>
              <a:spcBef>
                <a:spcPts val="0"/>
              </a:spcBef>
              <a:spcAft>
                <a:spcPts val="1000"/>
              </a:spcAft>
              <a:buFont typeface="Times New Roman" panose="02020603050405020304" pitchFamily="18" charset="0"/>
              <a:buChar char="-"/>
              <a:tabLst>
                <a:tab pos="270510" algn="l"/>
                <a:tab pos="540385" algn="l"/>
              </a:tabLst>
            </a:pPr>
            <a:r>
              <a:rPr lang="en-US" sz="1800" dirty="0" err="1">
                <a:effectLst/>
                <a:latin typeface="Times New Roman" panose="02020603050405020304" pitchFamily="18" charset="0"/>
                <a:ea typeface="Cambria" panose="02040503050406030204" pitchFamily="18" charset="0"/>
              </a:rPr>
              <a:t>Depthwise</a:t>
            </a:r>
            <a:r>
              <a:rPr lang="en-US" sz="1800" dirty="0">
                <a:effectLst/>
                <a:latin typeface="Times New Roman" panose="02020603050405020304" pitchFamily="18" charset="0"/>
                <a:ea typeface="Cambria" panose="02040503050406030204" pitchFamily="18" charset="0"/>
              </a:rPr>
              <a:t> Convolution (3x3 + ReLU6) </a:t>
            </a:r>
            <a:r>
              <a:rPr lang="en-US" sz="1800" dirty="0" err="1">
                <a:effectLst/>
                <a:latin typeface="Times New Roman" panose="02020603050405020304" pitchFamily="18" charset="0"/>
                <a:ea typeface="Cambria" panose="02040503050406030204" pitchFamily="18" charset="0"/>
              </a:rPr>
              <a:t>lọc</a:t>
            </a:r>
            <a:r>
              <a:rPr lang="en-US" sz="1800" dirty="0">
                <a:effectLst/>
                <a:latin typeface="Times New Roman" panose="02020603050405020304" pitchFamily="18" charset="0"/>
                <a:ea typeface="Cambria" panose="02040503050406030204" pitchFamily="18" charset="0"/>
              </a:rPr>
              <a:t> </a:t>
            </a:r>
            <a:r>
              <a:rPr lang="en-US" sz="1800" dirty="0" err="1">
                <a:effectLst/>
                <a:latin typeface="Times New Roman" panose="02020603050405020304" pitchFamily="18" charset="0"/>
                <a:ea typeface="Cambria" panose="02040503050406030204" pitchFamily="18" charset="0"/>
              </a:rPr>
              <a:t>không</a:t>
            </a:r>
            <a:r>
              <a:rPr lang="en-US" sz="1800" dirty="0">
                <a:effectLst/>
                <a:latin typeface="Times New Roman" panose="02020603050405020304" pitchFamily="18" charset="0"/>
                <a:ea typeface="Cambria" panose="02040503050406030204" pitchFamily="18" charset="0"/>
              </a:rPr>
              <a:t> </a:t>
            </a:r>
            <a:r>
              <a:rPr lang="en-US" sz="1800" dirty="0" err="1">
                <a:effectLst/>
                <a:latin typeface="Times New Roman" panose="02020603050405020304" pitchFamily="18" charset="0"/>
                <a:ea typeface="Cambria" panose="02040503050406030204" pitchFamily="18" charset="0"/>
              </a:rPr>
              <a:t>gian</a:t>
            </a:r>
            <a:r>
              <a:rPr lang="en-US" sz="1800" dirty="0">
                <a:effectLst/>
                <a:latin typeface="Times New Roman" panose="02020603050405020304" pitchFamily="18" charset="0"/>
                <a:ea typeface="Cambria" panose="02040503050406030204" pitchFamily="18" charset="0"/>
              </a:rPr>
              <a:t> </a:t>
            </a:r>
            <a:r>
              <a:rPr lang="en-US" sz="1800" dirty="0" err="1">
                <a:effectLst/>
                <a:latin typeface="Times New Roman" panose="02020603050405020304" pitchFamily="18" charset="0"/>
                <a:ea typeface="Cambria" panose="02040503050406030204" pitchFamily="18" charset="0"/>
              </a:rPr>
              <a:t>riêng</a:t>
            </a:r>
            <a:r>
              <a:rPr lang="en-US" sz="1800" dirty="0">
                <a:effectLst/>
                <a:latin typeface="Times New Roman" panose="02020603050405020304" pitchFamily="18" charset="0"/>
                <a:ea typeface="Cambria" panose="02040503050406030204" pitchFamily="18" charset="0"/>
              </a:rPr>
              <a:t> </a:t>
            </a:r>
            <a:r>
              <a:rPr lang="en-US" sz="1800" dirty="0" err="1">
                <a:effectLst/>
                <a:latin typeface="Times New Roman" panose="02020603050405020304" pitchFamily="18" charset="0"/>
                <a:ea typeface="Cambria" panose="02040503050406030204" pitchFamily="18" charset="0"/>
              </a:rPr>
              <a:t>từng</a:t>
            </a:r>
            <a:r>
              <a:rPr lang="en-US" sz="1800" dirty="0">
                <a:effectLst/>
                <a:latin typeface="Times New Roman" panose="02020603050405020304" pitchFamily="18" charset="0"/>
                <a:ea typeface="Cambria" panose="02040503050406030204" pitchFamily="18" charset="0"/>
              </a:rPr>
              <a:t> </a:t>
            </a:r>
            <a:r>
              <a:rPr lang="en-US" sz="1800" dirty="0" err="1">
                <a:effectLst/>
                <a:latin typeface="Times New Roman" panose="02020603050405020304" pitchFamily="18" charset="0"/>
                <a:ea typeface="Cambria" panose="02040503050406030204" pitchFamily="18" charset="0"/>
              </a:rPr>
              <a:t>kênh</a:t>
            </a:r>
            <a:endParaRPr lang="en-US" sz="1800" dirty="0">
              <a:effectLst/>
              <a:latin typeface="Times New Roman" panose="02020603050405020304" pitchFamily="18" charset="0"/>
              <a:ea typeface="Cambria" panose="02040503050406030204" pitchFamily="18" charset="0"/>
            </a:endParaRPr>
          </a:p>
          <a:p>
            <a:pPr marL="342900" marR="0" lvl="0" indent="-342900" algn="just">
              <a:lnSpc>
                <a:spcPct val="150000"/>
              </a:lnSpc>
              <a:spcBef>
                <a:spcPts val="0"/>
              </a:spcBef>
              <a:spcAft>
                <a:spcPts val="1000"/>
              </a:spcAft>
              <a:buFont typeface="Times New Roman" panose="02020603050405020304" pitchFamily="18" charset="0"/>
              <a:buChar char="-"/>
              <a:tabLst>
                <a:tab pos="270510" algn="l"/>
                <a:tab pos="540385" algn="l"/>
              </a:tabLst>
            </a:pPr>
            <a:r>
              <a:rPr lang="en-US" sz="1800" dirty="0">
                <a:effectLst/>
                <a:latin typeface="Times New Roman" panose="02020603050405020304" pitchFamily="18" charset="0"/>
                <a:ea typeface="Cambria" panose="02040503050406030204" pitchFamily="18" charset="0"/>
              </a:rPr>
              <a:t>Project (1x1 conv, </a:t>
            </a:r>
            <a:r>
              <a:rPr lang="en-US" sz="1800" dirty="0" err="1">
                <a:effectLst/>
                <a:latin typeface="Times New Roman" panose="02020603050405020304" pitchFamily="18" charset="0"/>
                <a:ea typeface="Cambria" panose="02040503050406030204" pitchFamily="18" charset="0"/>
              </a:rPr>
              <a:t>không</a:t>
            </a:r>
            <a:r>
              <a:rPr lang="en-US" sz="1800" dirty="0">
                <a:effectLst/>
                <a:latin typeface="Times New Roman" panose="02020603050405020304" pitchFamily="18" charset="0"/>
                <a:ea typeface="Cambria" panose="02040503050406030204" pitchFamily="18" charset="0"/>
              </a:rPr>
              <a:t> activation) </a:t>
            </a:r>
            <a:r>
              <a:rPr lang="en-US" sz="1800" dirty="0" err="1">
                <a:effectLst/>
                <a:latin typeface="Times New Roman" panose="02020603050405020304" pitchFamily="18" charset="0"/>
                <a:ea typeface="Cambria" panose="02040503050406030204" pitchFamily="18" charset="0"/>
              </a:rPr>
              <a:t>thực</a:t>
            </a:r>
            <a:r>
              <a:rPr lang="en-US" sz="1800" dirty="0">
                <a:effectLst/>
                <a:latin typeface="Times New Roman" panose="02020603050405020304" pitchFamily="18" charset="0"/>
                <a:ea typeface="Cambria" panose="02040503050406030204" pitchFamily="18" charset="0"/>
              </a:rPr>
              <a:t> </a:t>
            </a:r>
            <a:r>
              <a:rPr lang="en-US" sz="1800" dirty="0" err="1">
                <a:effectLst/>
                <a:latin typeface="Times New Roman" panose="02020603050405020304" pitchFamily="18" charset="0"/>
                <a:ea typeface="Cambria" panose="02040503050406030204" pitchFamily="18" charset="0"/>
              </a:rPr>
              <a:t>hiện</a:t>
            </a:r>
            <a:r>
              <a:rPr lang="en-US" sz="1800" dirty="0">
                <a:effectLst/>
                <a:latin typeface="Times New Roman" panose="02020603050405020304" pitchFamily="18" charset="0"/>
                <a:ea typeface="Cambria" panose="02040503050406030204" pitchFamily="18" charset="0"/>
              </a:rPr>
              <a:t> </a:t>
            </a:r>
            <a:r>
              <a:rPr lang="en-US" sz="1800" dirty="0" err="1">
                <a:effectLst/>
                <a:latin typeface="Times New Roman" panose="02020603050405020304" pitchFamily="18" charset="0"/>
                <a:ea typeface="Cambria" panose="02040503050406030204" pitchFamily="18" charset="0"/>
              </a:rPr>
              <a:t>giảm</a:t>
            </a:r>
            <a:r>
              <a:rPr lang="en-US" sz="1800" dirty="0">
                <a:effectLst/>
                <a:latin typeface="Times New Roman" panose="02020603050405020304" pitchFamily="18" charset="0"/>
                <a:ea typeface="Cambria" panose="02040503050406030204" pitchFamily="18" charset="0"/>
              </a:rPr>
              <a:t> </a:t>
            </a:r>
            <a:r>
              <a:rPr lang="en-US" sz="1800" dirty="0" err="1">
                <a:effectLst/>
                <a:latin typeface="Times New Roman" panose="02020603050405020304" pitchFamily="18" charset="0"/>
                <a:ea typeface="Cambria" panose="02040503050406030204" pitchFamily="18" charset="0"/>
              </a:rPr>
              <a:t>số</a:t>
            </a:r>
            <a:r>
              <a:rPr lang="en-US" sz="1800" dirty="0">
                <a:effectLst/>
                <a:latin typeface="Times New Roman" panose="02020603050405020304" pitchFamily="18" charset="0"/>
                <a:ea typeface="Cambria" panose="02040503050406030204" pitchFamily="18" charset="0"/>
              </a:rPr>
              <a:t> </a:t>
            </a:r>
            <a:r>
              <a:rPr lang="en-US" sz="1800" dirty="0" err="1">
                <a:effectLst/>
                <a:latin typeface="Times New Roman" panose="02020603050405020304" pitchFamily="18" charset="0"/>
                <a:ea typeface="Cambria" panose="02040503050406030204" pitchFamily="18" charset="0"/>
              </a:rPr>
              <a:t>kênh</a:t>
            </a:r>
            <a:r>
              <a:rPr lang="en-US" sz="1800" dirty="0">
                <a:effectLst/>
                <a:latin typeface="Times New Roman" panose="02020603050405020304" pitchFamily="18" charset="0"/>
                <a:ea typeface="Cambria" panose="02040503050406030204" pitchFamily="18" charset="0"/>
              </a:rPr>
              <a:t> - linear bottleneck. Sau </a:t>
            </a:r>
            <a:r>
              <a:rPr lang="en-US" sz="1800" dirty="0" err="1">
                <a:effectLst/>
                <a:latin typeface="Times New Roman" panose="02020603050405020304" pitchFamily="18" charset="0"/>
                <a:ea typeface="Cambria" panose="02040503050406030204" pitchFamily="18" charset="0"/>
              </a:rPr>
              <a:t>khi</a:t>
            </a:r>
            <a:r>
              <a:rPr lang="en-US" sz="1800" dirty="0">
                <a:effectLst/>
                <a:latin typeface="Times New Roman" panose="02020603050405020304" pitchFamily="18" charset="0"/>
                <a:ea typeface="Cambria" panose="02040503050406030204" pitchFamily="18" charset="0"/>
              </a:rPr>
              <a:t> </a:t>
            </a:r>
            <a:r>
              <a:rPr lang="en-US" sz="1800" dirty="0" err="1">
                <a:effectLst/>
                <a:latin typeface="Times New Roman" panose="02020603050405020304" pitchFamily="18" charset="0"/>
                <a:ea typeface="Cambria" panose="02040503050406030204" pitchFamily="18" charset="0"/>
              </a:rPr>
              <a:t>giảm</a:t>
            </a:r>
            <a:r>
              <a:rPr lang="en-US" sz="1800" dirty="0">
                <a:effectLst/>
                <a:latin typeface="Times New Roman" panose="02020603050405020304" pitchFamily="18" charset="0"/>
                <a:ea typeface="Cambria" panose="02040503050406030204" pitchFamily="18" charset="0"/>
              </a:rPr>
              <a:t> </a:t>
            </a:r>
            <a:r>
              <a:rPr lang="en-US" sz="1800" dirty="0" err="1">
                <a:effectLst/>
                <a:latin typeface="Times New Roman" panose="02020603050405020304" pitchFamily="18" charset="0"/>
                <a:ea typeface="Cambria" panose="02040503050406030204" pitchFamily="18" charset="0"/>
              </a:rPr>
              <a:t>chiều</a:t>
            </a:r>
            <a:r>
              <a:rPr lang="en-US" sz="1800" dirty="0">
                <a:effectLst/>
                <a:latin typeface="Times New Roman" panose="02020603050405020304" pitchFamily="18" charset="0"/>
                <a:ea typeface="Cambria" panose="02040503050406030204" pitchFamily="18" charset="0"/>
              </a:rPr>
              <a:t> ở </a:t>
            </a:r>
            <a:r>
              <a:rPr lang="en-US" sz="1800" dirty="0" err="1">
                <a:effectLst/>
                <a:latin typeface="Times New Roman" panose="02020603050405020304" pitchFamily="18" charset="0"/>
                <a:ea typeface="Cambria" panose="02040503050406030204" pitchFamily="18" charset="0"/>
              </a:rPr>
              <a:t>bước</a:t>
            </a:r>
            <a:r>
              <a:rPr lang="en-US" sz="1800" dirty="0">
                <a:effectLst/>
                <a:latin typeface="Times New Roman" panose="02020603050405020304" pitchFamily="18" charset="0"/>
                <a:ea typeface="Cambria" panose="02040503050406030204" pitchFamily="18" charset="0"/>
              </a:rPr>
              <a:t> </a:t>
            </a:r>
            <a:r>
              <a:rPr lang="en-US" sz="1800" dirty="0" err="1">
                <a:effectLst/>
                <a:latin typeface="Times New Roman" panose="02020603050405020304" pitchFamily="18" charset="0"/>
                <a:ea typeface="Cambria" panose="02040503050406030204" pitchFamily="18" charset="0"/>
              </a:rPr>
              <a:t>cuối</a:t>
            </a:r>
            <a:r>
              <a:rPr lang="en-US" sz="1800" dirty="0">
                <a:effectLst/>
                <a:latin typeface="Times New Roman" panose="02020603050405020304" pitchFamily="18" charset="0"/>
                <a:ea typeface="Cambria" panose="02040503050406030204" pitchFamily="18" charset="0"/>
              </a:rPr>
              <a:t>, </a:t>
            </a:r>
            <a:r>
              <a:rPr lang="en-US" sz="1800" dirty="0" err="1">
                <a:effectLst/>
                <a:latin typeface="Times New Roman" panose="02020603050405020304" pitchFamily="18" charset="0"/>
                <a:ea typeface="Cambria" panose="02040503050406030204" pitchFamily="18" charset="0"/>
              </a:rPr>
              <a:t>không</a:t>
            </a:r>
            <a:r>
              <a:rPr lang="en-US" sz="1800" dirty="0">
                <a:effectLst/>
                <a:latin typeface="Times New Roman" panose="02020603050405020304" pitchFamily="18" charset="0"/>
                <a:ea typeface="Cambria" panose="02040503050406030204" pitchFamily="18" charset="0"/>
              </a:rPr>
              <a:t> </a:t>
            </a:r>
            <a:r>
              <a:rPr lang="en-US" sz="1800" dirty="0" err="1">
                <a:effectLst/>
                <a:latin typeface="Times New Roman" panose="02020603050405020304" pitchFamily="18" charset="0"/>
                <a:ea typeface="Cambria" panose="02040503050406030204" pitchFamily="18" charset="0"/>
              </a:rPr>
              <a:t>dùng</a:t>
            </a:r>
            <a:r>
              <a:rPr lang="en-US" sz="1800" dirty="0">
                <a:effectLst/>
                <a:latin typeface="Times New Roman" panose="02020603050405020304" pitchFamily="18" charset="0"/>
                <a:ea typeface="Cambria" panose="02040503050406030204" pitchFamily="18" charset="0"/>
              </a:rPr>
              <a:t> </a:t>
            </a:r>
            <a:r>
              <a:rPr lang="en-US" sz="1800" dirty="0" err="1">
                <a:effectLst/>
                <a:latin typeface="Times New Roman" panose="02020603050405020304" pitchFamily="18" charset="0"/>
                <a:ea typeface="Cambria" panose="02040503050406030204" pitchFamily="18" charset="0"/>
              </a:rPr>
              <a:t>ReLU</a:t>
            </a:r>
            <a:r>
              <a:rPr lang="en-US" sz="1800" dirty="0">
                <a:effectLst/>
                <a:latin typeface="Times New Roman" panose="02020603050405020304" pitchFamily="18" charset="0"/>
                <a:ea typeface="Cambria" panose="02040503050406030204" pitchFamily="18" charset="0"/>
              </a:rPr>
              <a:t> </a:t>
            </a:r>
            <a:r>
              <a:rPr lang="en-US" sz="1800" dirty="0" err="1">
                <a:effectLst/>
                <a:latin typeface="Times New Roman" panose="02020603050405020304" pitchFamily="18" charset="0"/>
                <a:ea typeface="Cambria" panose="02040503050406030204" pitchFamily="18" charset="0"/>
              </a:rPr>
              <a:t>nữa</a:t>
            </a:r>
            <a:r>
              <a:rPr lang="en-US" sz="1800" dirty="0">
                <a:effectLst/>
                <a:latin typeface="Times New Roman" panose="02020603050405020304" pitchFamily="18" charset="0"/>
                <a:ea typeface="Cambria" panose="02040503050406030204" pitchFamily="18" charset="0"/>
              </a:rPr>
              <a:t>. </a:t>
            </a:r>
            <a:r>
              <a:rPr lang="en-US" sz="1800" dirty="0" err="1">
                <a:effectLst/>
                <a:latin typeface="Times New Roman" panose="02020603050405020304" pitchFamily="18" charset="0"/>
                <a:ea typeface="Cambria" panose="02040503050406030204" pitchFamily="18" charset="0"/>
              </a:rPr>
              <a:t>Tránh</a:t>
            </a:r>
            <a:r>
              <a:rPr lang="en-US" sz="1800" dirty="0">
                <a:effectLst/>
                <a:latin typeface="Times New Roman" panose="02020603050405020304" pitchFamily="18" charset="0"/>
                <a:ea typeface="Cambria" panose="02040503050406030204" pitchFamily="18" charset="0"/>
              </a:rPr>
              <a:t> </a:t>
            </a:r>
            <a:r>
              <a:rPr lang="en-US" sz="1800" dirty="0" err="1">
                <a:effectLst/>
                <a:latin typeface="Times New Roman" panose="02020603050405020304" pitchFamily="18" charset="0"/>
                <a:ea typeface="Cambria" panose="02040503050406030204" pitchFamily="18" charset="0"/>
              </a:rPr>
              <a:t>mất</a:t>
            </a:r>
            <a:r>
              <a:rPr lang="en-US" sz="1800" dirty="0">
                <a:effectLst/>
                <a:latin typeface="Times New Roman" panose="02020603050405020304" pitchFamily="18" charset="0"/>
                <a:ea typeface="Cambria" panose="02040503050406030204" pitchFamily="18" charset="0"/>
              </a:rPr>
              <a:t> </a:t>
            </a:r>
            <a:r>
              <a:rPr lang="en-US" sz="1800" dirty="0" err="1">
                <a:effectLst/>
                <a:latin typeface="Times New Roman" panose="02020603050405020304" pitchFamily="18" charset="0"/>
                <a:ea typeface="Cambria" panose="02040503050406030204" pitchFamily="18" charset="0"/>
              </a:rPr>
              <a:t>thông</a:t>
            </a:r>
            <a:r>
              <a:rPr lang="en-US" sz="1800" dirty="0">
                <a:effectLst/>
                <a:latin typeface="Times New Roman" panose="02020603050405020304" pitchFamily="18" charset="0"/>
                <a:ea typeface="Cambria" panose="02040503050406030204" pitchFamily="18" charset="0"/>
              </a:rPr>
              <a:t> tin do </a:t>
            </a:r>
            <a:r>
              <a:rPr lang="en-US" sz="1800" dirty="0" err="1">
                <a:effectLst/>
                <a:latin typeface="Times New Roman" panose="02020603050405020304" pitchFamily="18" charset="0"/>
                <a:ea typeface="Cambria" panose="02040503050406030204" pitchFamily="18" charset="0"/>
              </a:rPr>
              <a:t>ReLU</a:t>
            </a:r>
            <a:r>
              <a:rPr lang="en-US" sz="1800" dirty="0">
                <a:effectLst/>
                <a:latin typeface="Times New Roman" panose="02020603050405020304" pitchFamily="18" charset="0"/>
                <a:ea typeface="Cambria" panose="02040503050406030204" pitchFamily="18" charset="0"/>
              </a:rPr>
              <a:t> </a:t>
            </a:r>
            <a:r>
              <a:rPr lang="en-US" sz="1800" dirty="0" err="1">
                <a:effectLst/>
                <a:latin typeface="Times New Roman" panose="02020603050405020304" pitchFamily="18" charset="0"/>
                <a:ea typeface="Cambria" panose="02040503050406030204" pitchFamily="18" charset="0"/>
              </a:rPr>
              <a:t>có</a:t>
            </a:r>
            <a:r>
              <a:rPr lang="en-US" sz="1800" dirty="0">
                <a:effectLst/>
                <a:latin typeface="Times New Roman" panose="02020603050405020304" pitchFamily="18" charset="0"/>
                <a:ea typeface="Cambria" panose="02040503050406030204" pitchFamily="18" charset="0"/>
              </a:rPr>
              <a:t> </a:t>
            </a:r>
            <a:r>
              <a:rPr lang="en-US" sz="1800" dirty="0" err="1">
                <a:effectLst/>
                <a:latin typeface="Times New Roman" panose="02020603050405020304" pitchFamily="18" charset="0"/>
                <a:ea typeface="Cambria" panose="02040503050406030204" pitchFamily="18" charset="0"/>
              </a:rPr>
              <a:t>thể</a:t>
            </a:r>
            <a:r>
              <a:rPr lang="en-US" sz="1800" dirty="0">
                <a:effectLst/>
                <a:latin typeface="Times New Roman" panose="02020603050405020304" pitchFamily="18" charset="0"/>
                <a:ea typeface="Cambria" panose="02040503050406030204" pitchFamily="18" charset="0"/>
              </a:rPr>
              <a:t> </a:t>
            </a:r>
            <a:r>
              <a:rPr lang="en-US" sz="1800" dirty="0" err="1">
                <a:effectLst/>
                <a:latin typeface="Times New Roman" panose="02020603050405020304" pitchFamily="18" charset="0"/>
                <a:ea typeface="Cambria" panose="02040503050406030204" pitchFamily="18" charset="0"/>
              </a:rPr>
              <a:t>loại</a:t>
            </a:r>
            <a:r>
              <a:rPr lang="en-US" sz="1800" dirty="0">
                <a:effectLst/>
                <a:latin typeface="Times New Roman" panose="02020603050405020304" pitchFamily="18" charset="0"/>
                <a:ea typeface="Cambria" panose="02040503050406030204" pitchFamily="18" charset="0"/>
              </a:rPr>
              <a:t> </a:t>
            </a:r>
            <a:r>
              <a:rPr lang="en-US" sz="1800" dirty="0" err="1">
                <a:effectLst/>
                <a:latin typeface="Times New Roman" panose="02020603050405020304" pitchFamily="18" charset="0"/>
                <a:ea typeface="Cambria" panose="02040503050406030204" pitchFamily="18" charset="0"/>
              </a:rPr>
              <a:t>bỏ</a:t>
            </a:r>
            <a:r>
              <a:rPr lang="en-US" sz="1800" dirty="0">
                <a:effectLst/>
                <a:latin typeface="Times New Roman" panose="02020603050405020304" pitchFamily="18" charset="0"/>
                <a:ea typeface="Cambria" panose="02040503050406030204" pitchFamily="18" charset="0"/>
              </a:rPr>
              <a:t> </a:t>
            </a:r>
            <a:r>
              <a:rPr lang="en-US" sz="1800" dirty="0" err="1">
                <a:effectLst/>
                <a:latin typeface="Times New Roman" panose="02020603050405020304" pitchFamily="18" charset="0"/>
                <a:ea typeface="Cambria" panose="02040503050406030204" pitchFamily="18" charset="0"/>
              </a:rPr>
              <a:t>các</a:t>
            </a:r>
            <a:r>
              <a:rPr lang="en-US" sz="1800" dirty="0">
                <a:effectLst/>
                <a:latin typeface="Times New Roman" panose="02020603050405020304" pitchFamily="18" charset="0"/>
                <a:ea typeface="Cambria" panose="02040503050406030204" pitchFamily="18" charset="0"/>
              </a:rPr>
              <a:t> </a:t>
            </a:r>
            <a:r>
              <a:rPr lang="en-US" sz="1800" dirty="0" err="1">
                <a:effectLst/>
                <a:latin typeface="Times New Roman" panose="02020603050405020304" pitchFamily="18" charset="0"/>
                <a:ea typeface="Cambria" panose="02040503050406030204" pitchFamily="18" charset="0"/>
              </a:rPr>
              <a:t>giá</a:t>
            </a:r>
            <a:r>
              <a:rPr lang="en-US" sz="1800" dirty="0">
                <a:effectLst/>
                <a:latin typeface="Times New Roman" panose="02020603050405020304" pitchFamily="18" charset="0"/>
                <a:ea typeface="Cambria" panose="02040503050406030204" pitchFamily="18" charset="0"/>
              </a:rPr>
              <a:t> </a:t>
            </a:r>
            <a:r>
              <a:rPr lang="en-US" sz="1800" dirty="0" err="1">
                <a:effectLst/>
                <a:latin typeface="Times New Roman" panose="02020603050405020304" pitchFamily="18" charset="0"/>
                <a:ea typeface="Cambria" panose="02040503050406030204" pitchFamily="18" charset="0"/>
              </a:rPr>
              <a:t>trị</a:t>
            </a:r>
            <a:r>
              <a:rPr lang="en-US" sz="1800" dirty="0">
                <a:effectLst/>
                <a:latin typeface="Times New Roman" panose="02020603050405020304" pitchFamily="18" charset="0"/>
                <a:ea typeface="Cambria" panose="02040503050406030204" pitchFamily="18" charset="0"/>
              </a:rPr>
              <a:t> </a:t>
            </a:r>
            <a:r>
              <a:rPr lang="en-US" sz="1800" dirty="0" err="1">
                <a:effectLst/>
                <a:latin typeface="Times New Roman" panose="02020603050405020304" pitchFamily="18" charset="0"/>
                <a:ea typeface="Cambria" panose="02040503050406030204" pitchFamily="18" charset="0"/>
              </a:rPr>
              <a:t>nhỏ</a:t>
            </a:r>
            <a:r>
              <a:rPr lang="en-US" sz="1800" dirty="0">
                <a:effectLst/>
                <a:latin typeface="Times New Roman" panose="02020603050405020304" pitchFamily="18" charset="0"/>
                <a:ea typeface="Cambria" panose="02040503050406030204" pitchFamily="18" charset="0"/>
              </a:rPr>
              <a:t> (</a:t>
            </a:r>
            <a:r>
              <a:rPr lang="en-US" sz="1800" dirty="0" err="1">
                <a:effectLst/>
                <a:latin typeface="Times New Roman" panose="02020603050405020304" pitchFamily="18" charset="0"/>
                <a:ea typeface="Cambria" panose="02040503050406030204" pitchFamily="18" charset="0"/>
              </a:rPr>
              <a:t>nhưng</a:t>
            </a:r>
            <a:r>
              <a:rPr lang="en-US" sz="1800" dirty="0">
                <a:effectLst/>
                <a:latin typeface="Times New Roman" panose="02020603050405020304" pitchFamily="18" charset="0"/>
                <a:ea typeface="Cambria" panose="02040503050406030204" pitchFamily="18" charset="0"/>
              </a:rPr>
              <a:t> </a:t>
            </a:r>
            <a:r>
              <a:rPr lang="en-US" sz="1800" dirty="0" err="1">
                <a:effectLst/>
                <a:latin typeface="Times New Roman" panose="02020603050405020304" pitchFamily="18" charset="0"/>
                <a:ea typeface="Cambria" panose="02040503050406030204" pitchFamily="18" charset="0"/>
              </a:rPr>
              <a:t>quan</a:t>
            </a:r>
            <a:r>
              <a:rPr lang="en-US" sz="1800" dirty="0">
                <a:effectLst/>
                <a:latin typeface="Times New Roman" panose="02020603050405020304" pitchFamily="18" charset="0"/>
                <a:ea typeface="Cambria" panose="02040503050406030204" pitchFamily="18" charset="0"/>
              </a:rPr>
              <a:t> </a:t>
            </a:r>
            <a:r>
              <a:rPr lang="en-US" sz="1800" dirty="0" err="1">
                <a:effectLst/>
                <a:latin typeface="Times New Roman" panose="02020603050405020304" pitchFamily="18" charset="0"/>
                <a:ea typeface="Cambria" panose="02040503050406030204" pitchFamily="18" charset="0"/>
              </a:rPr>
              <a:t>trọng</a:t>
            </a:r>
            <a:r>
              <a:rPr lang="en-US" sz="1800" dirty="0">
                <a:effectLst/>
                <a:latin typeface="Times New Roman" panose="02020603050405020304" pitchFamily="18" charset="0"/>
                <a:ea typeface="Cambria" panose="02040503050406030204" pitchFamily="18" charset="0"/>
              </a:rPr>
              <a:t>) → </a:t>
            </a:r>
            <a:r>
              <a:rPr lang="en-US" sz="1800" dirty="0" err="1">
                <a:effectLst/>
                <a:latin typeface="Times New Roman" panose="02020603050405020304" pitchFamily="18" charset="0"/>
                <a:ea typeface="Cambria" panose="02040503050406030204" pitchFamily="18" charset="0"/>
              </a:rPr>
              <a:t>giữ</a:t>
            </a:r>
            <a:r>
              <a:rPr lang="en-US" sz="1800" dirty="0">
                <a:effectLst/>
                <a:latin typeface="Times New Roman" panose="02020603050405020304" pitchFamily="18" charset="0"/>
                <a:ea typeface="Cambria" panose="02040503050406030204" pitchFamily="18" charset="0"/>
              </a:rPr>
              <a:t> </a:t>
            </a:r>
            <a:r>
              <a:rPr lang="en-US" sz="1800" dirty="0" err="1">
                <a:effectLst/>
                <a:latin typeface="Times New Roman" panose="02020603050405020304" pitchFamily="18" charset="0"/>
                <a:ea typeface="Cambria" panose="02040503050406030204" pitchFamily="18" charset="0"/>
              </a:rPr>
              <a:t>nguyên</a:t>
            </a:r>
            <a:r>
              <a:rPr lang="en-US" sz="1800" dirty="0">
                <a:effectLst/>
                <a:latin typeface="Times New Roman" panose="02020603050405020304" pitchFamily="18" charset="0"/>
                <a:ea typeface="Cambria" panose="02040503050406030204" pitchFamily="18" charset="0"/>
              </a:rPr>
              <a:t> </a:t>
            </a:r>
            <a:r>
              <a:rPr lang="en-US" sz="1800" dirty="0" err="1">
                <a:effectLst/>
                <a:latin typeface="Times New Roman" panose="02020603050405020304" pitchFamily="18" charset="0"/>
                <a:ea typeface="Cambria" panose="02040503050406030204" pitchFamily="18" charset="0"/>
              </a:rPr>
              <a:t>tính</a:t>
            </a:r>
            <a:r>
              <a:rPr lang="en-US" sz="1800" dirty="0">
                <a:effectLst/>
                <a:latin typeface="Times New Roman" panose="02020603050405020304" pitchFamily="18" charset="0"/>
                <a:ea typeface="Cambria" panose="02040503050406030204" pitchFamily="18" charset="0"/>
              </a:rPr>
              <a:t> </a:t>
            </a:r>
            <a:r>
              <a:rPr lang="en-US" sz="1800" dirty="0" err="1">
                <a:effectLst/>
                <a:latin typeface="Times New Roman" panose="02020603050405020304" pitchFamily="18" charset="0"/>
                <a:ea typeface="Cambria" panose="02040503050406030204" pitchFamily="18" charset="0"/>
              </a:rPr>
              <a:t>tuyến</a:t>
            </a:r>
            <a:r>
              <a:rPr lang="en-US" sz="1800" dirty="0">
                <a:effectLst/>
                <a:latin typeface="Times New Roman" panose="02020603050405020304" pitchFamily="18" charset="0"/>
                <a:ea typeface="Cambria" panose="02040503050406030204" pitchFamily="18" charset="0"/>
              </a:rPr>
              <a:t> </a:t>
            </a:r>
            <a:r>
              <a:rPr lang="en-US" sz="1800" dirty="0" err="1">
                <a:effectLst/>
                <a:latin typeface="Times New Roman" panose="02020603050405020304" pitchFamily="18" charset="0"/>
                <a:ea typeface="Cambria" panose="02040503050406030204" pitchFamily="18" charset="0"/>
              </a:rPr>
              <a:t>tính</a:t>
            </a:r>
            <a:r>
              <a:rPr lang="en-US" sz="1800" dirty="0">
                <a:effectLst/>
                <a:latin typeface="Times New Roman" panose="02020603050405020304" pitchFamily="18" charset="0"/>
                <a:ea typeface="Cambria" panose="02040503050406030204" pitchFamily="18" charset="0"/>
              </a:rPr>
              <a:t> </a:t>
            </a:r>
            <a:r>
              <a:rPr lang="en-US" sz="1800" dirty="0" err="1">
                <a:effectLst/>
                <a:latin typeface="Times New Roman" panose="02020603050405020304" pitchFamily="18" charset="0"/>
                <a:ea typeface="Cambria" panose="02040503050406030204" pitchFamily="18" charset="0"/>
              </a:rPr>
              <a:t>tại</a:t>
            </a:r>
            <a:r>
              <a:rPr lang="en-US" sz="1800" dirty="0">
                <a:effectLst/>
                <a:latin typeface="Times New Roman" panose="02020603050405020304" pitchFamily="18" charset="0"/>
                <a:ea typeface="Cambria" panose="02040503050406030204" pitchFamily="18" charset="0"/>
              </a:rPr>
              <a:t> </a:t>
            </a:r>
            <a:r>
              <a:rPr lang="en-US" sz="1800" dirty="0" err="1">
                <a:effectLst/>
                <a:latin typeface="Times New Roman" panose="02020603050405020304" pitchFamily="18" charset="0"/>
                <a:ea typeface="Cambria" panose="02040503050406030204" pitchFamily="18" charset="0"/>
              </a:rPr>
              <a:t>vùng</a:t>
            </a:r>
            <a:r>
              <a:rPr lang="en-US" sz="1800" dirty="0">
                <a:effectLst/>
                <a:latin typeface="Times New Roman" panose="02020603050405020304" pitchFamily="18" charset="0"/>
                <a:ea typeface="Cambria" panose="02040503050406030204" pitchFamily="18" charset="0"/>
              </a:rPr>
              <a:t> </a:t>
            </a:r>
            <a:r>
              <a:rPr lang="en-US" sz="1800" dirty="0" err="1">
                <a:effectLst/>
                <a:latin typeface="Times New Roman" panose="02020603050405020304" pitchFamily="18" charset="0"/>
                <a:ea typeface="Cambria" panose="02040503050406030204" pitchFamily="18" charset="0"/>
              </a:rPr>
              <a:t>thấp</a:t>
            </a:r>
            <a:r>
              <a:rPr lang="en-US" sz="1800" dirty="0">
                <a:effectLst/>
                <a:latin typeface="Times New Roman" panose="02020603050405020304" pitchFamily="18" charset="0"/>
                <a:ea typeface="Cambria" panose="02040503050406030204" pitchFamily="18" charset="0"/>
              </a:rPr>
              <a:t> </a:t>
            </a:r>
            <a:r>
              <a:rPr lang="en-US" sz="1800" dirty="0" err="1">
                <a:effectLst/>
                <a:latin typeface="Times New Roman" panose="02020603050405020304" pitchFamily="18" charset="0"/>
                <a:ea typeface="Cambria" panose="02040503050406030204" pitchFamily="18" charset="0"/>
              </a:rPr>
              <a:t>chiều</a:t>
            </a:r>
            <a:endParaRPr lang="en-US" sz="1800" dirty="0">
              <a:effectLst/>
              <a:latin typeface="Times New Roman" panose="02020603050405020304" pitchFamily="18" charset="0"/>
              <a:ea typeface="Cambria" panose="02040503050406030204" pitchFamily="18" charset="0"/>
            </a:endParaRPr>
          </a:p>
          <a:p>
            <a:pPr marL="342900" marR="0" lvl="0" indent="-342900" algn="just">
              <a:lnSpc>
                <a:spcPct val="150000"/>
              </a:lnSpc>
              <a:spcBef>
                <a:spcPts val="0"/>
              </a:spcBef>
              <a:spcAft>
                <a:spcPts val="1000"/>
              </a:spcAft>
              <a:buFont typeface="Times New Roman" panose="02020603050405020304" pitchFamily="18" charset="0"/>
              <a:buChar char="-"/>
              <a:tabLst>
                <a:tab pos="270510" algn="l"/>
                <a:tab pos="540385" algn="l"/>
              </a:tabLst>
            </a:pPr>
            <a:r>
              <a:rPr lang="en-US" sz="1800" dirty="0">
                <a:effectLst/>
                <a:latin typeface="Times New Roman" panose="02020603050405020304" pitchFamily="18" charset="0"/>
                <a:ea typeface="Cambria" panose="02040503050406030204" pitchFamily="18" charset="0"/>
              </a:rPr>
              <a:t>Skip connection </a:t>
            </a:r>
            <a:r>
              <a:rPr lang="en-US" sz="1800" dirty="0" err="1">
                <a:effectLst/>
                <a:latin typeface="Times New Roman" panose="02020603050405020304" pitchFamily="18" charset="0"/>
                <a:ea typeface="Cambria" panose="02040503050406030204" pitchFamily="18" charset="0"/>
              </a:rPr>
              <a:t>truyền</a:t>
            </a:r>
            <a:r>
              <a:rPr lang="en-US" sz="1800" dirty="0">
                <a:effectLst/>
                <a:latin typeface="Times New Roman" panose="02020603050405020304" pitchFamily="18" charset="0"/>
                <a:ea typeface="Cambria" panose="02040503050406030204" pitchFamily="18" charset="0"/>
              </a:rPr>
              <a:t> </a:t>
            </a:r>
            <a:r>
              <a:rPr lang="en-US" sz="1800" dirty="0" err="1">
                <a:effectLst/>
                <a:latin typeface="Times New Roman" panose="02020603050405020304" pitchFamily="18" charset="0"/>
                <a:ea typeface="Cambria" panose="02040503050406030204" pitchFamily="18" charset="0"/>
              </a:rPr>
              <a:t>các</a:t>
            </a:r>
            <a:r>
              <a:rPr lang="en-US" sz="1800" dirty="0">
                <a:effectLst/>
                <a:latin typeface="Times New Roman" panose="02020603050405020304" pitchFamily="18" charset="0"/>
                <a:ea typeface="Cambria" panose="02040503050406030204" pitchFamily="18" charset="0"/>
              </a:rPr>
              <a:t> </a:t>
            </a:r>
            <a:r>
              <a:rPr lang="en-US" sz="1800" dirty="0" err="1">
                <a:effectLst/>
                <a:latin typeface="Times New Roman" panose="02020603050405020304" pitchFamily="18" charset="0"/>
                <a:ea typeface="Cambria" panose="02040503050406030204" pitchFamily="18" charset="0"/>
              </a:rPr>
              <a:t>thông</a:t>
            </a:r>
            <a:r>
              <a:rPr lang="en-US" sz="1800" dirty="0">
                <a:effectLst/>
                <a:latin typeface="Times New Roman" panose="02020603050405020304" pitchFamily="18" charset="0"/>
                <a:ea typeface="Cambria" panose="02040503050406030204" pitchFamily="18" charset="0"/>
              </a:rPr>
              <a:t> tin </a:t>
            </a:r>
            <a:r>
              <a:rPr lang="en-US" sz="1800" dirty="0" err="1">
                <a:effectLst/>
                <a:latin typeface="Times New Roman" panose="02020603050405020304" pitchFamily="18" charset="0"/>
                <a:ea typeface="Cambria" panose="02040503050406030204" pitchFamily="18" charset="0"/>
              </a:rPr>
              <a:t>gốc</a:t>
            </a:r>
            <a:r>
              <a:rPr lang="en-US" sz="1800" dirty="0">
                <a:effectLst/>
                <a:latin typeface="Times New Roman" panose="02020603050405020304" pitchFamily="18" charset="0"/>
                <a:ea typeface="Cambria" panose="02040503050406030204" pitchFamily="18" charset="0"/>
              </a:rPr>
              <a:t> - inverted residual</a:t>
            </a:r>
          </a:p>
          <a:p>
            <a:endParaRPr lang="en-US" dirty="0"/>
          </a:p>
        </p:txBody>
      </p:sp>
      <p:sp>
        <p:nvSpPr>
          <p:cNvPr id="4" name="Slide Number Placeholder 3"/>
          <p:cNvSpPr>
            <a:spLocks noGrp="1"/>
          </p:cNvSpPr>
          <p:nvPr>
            <p:ph type="sldNum" sz="quarter" idx="5"/>
          </p:nvPr>
        </p:nvSpPr>
        <p:spPr/>
        <p:txBody>
          <a:bodyPr/>
          <a:lstStyle/>
          <a:p>
            <a:fld id="{DFBF8197-EED4-4EBE-92EA-36C7EB54B110}" type="slidenum">
              <a:rPr lang="en-US" smtClean="0"/>
              <a:t>14</a:t>
            </a:fld>
            <a:endParaRPr lang="en-US"/>
          </a:p>
        </p:txBody>
      </p:sp>
    </p:spTree>
    <p:extLst>
      <p:ext uri="{BB962C8B-B14F-4D97-AF65-F5344CB8AC3E}">
        <p14:creationId xmlns:p14="http://schemas.microsoft.com/office/powerpoint/2010/main" val="294095325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FBF8197-EED4-4EBE-92EA-36C7EB54B110}" type="slidenum">
              <a:rPr lang="en-US" smtClean="0"/>
              <a:t>20</a:t>
            </a:fld>
            <a:endParaRPr lang="en-US"/>
          </a:p>
        </p:txBody>
      </p:sp>
    </p:spTree>
    <p:extLst>
      <p:ext uri="{BB962C8B-B14F-4D97-AF65-F5344CB8AC3E}">
        <p14:creationId xmlns:p14="http://schemas.microsoft.com/office/powerpoint/2010/main" val="23383892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26/06/2025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26/06/2025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26/06/2025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26/06/2025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26/06/2025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26/06/2025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26/06/2025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26/06/2025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26/06/2025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26/06/2025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26/06/2025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26/06/2025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3.jpeg"/><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svg"/><Relationship Id="rId7" Type="http://schemas.openxmlformats.org/officeDocument/2006/relationships/image" Target="../media/image9.sv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8.png"/><Relationship Id="rId11" Type="http://schemas.openxmlformats.org/officeDocument/2006/relationships/image" Target="../media/image13.svg"/><Relationship Id="rId5" Type="http://schemas.openxmlformats.org/officeDocument/2006/relationships/image" Target="../media/image7.sv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svg"/></Relationships>
</file>

<file path=ppt/slides/_rels/slide3.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Layout" Target="../slideLayouts/slideLayout7.xml"/><Relationship Id="rId5" Type="http://schemas.openxmlformats.org/officeDocument/2006/relationships/image" Target="../media/image17.svg"/><Relationship Id="rId4" Type="http://schemas.openxmlformats.org/officeDocument/2006/relationships/image" Target="../media/image16.png"/></Relationships>
</file>

<file path=ppt/slides/_rels/slide4.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Layout" Target="../slideLayouts/slideLayout7.xml"/><Relationship Id="rId5" Type="http://schemas.openxmlformats.org/officeDocument/2006/relationships/image" Target="../media/image17.svg"/><Relationship Id="rId4" Type="http://schemas.openxmlformats.org/officeDocument/2006/relationships/image" Target="../media/image16.png"/></Relationships>
</file>

<file path=ppt/slides/_rels/slide5.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Layout" Target="../slideLayouts/slideLayout7.xml"/><Relationship Id="rId5" Type="http://schemas.openxmlformats.org/officeDocument/2006/relationships/image" Target="../media/image17.svg"/><Relationship Id="rId4" Type="http://schemas.openxmlformats.org/officeDocument/2006/relationships/image" Target="../media/image16.png"/></Relationships>
</file>

<file path=ppt/slides/_rels/slide6.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17.svg"/><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9.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15.sv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20.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15.sv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21.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15.sv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22.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15.svg"/></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23.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15.svg"/></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24.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15.svg"/></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25.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15.svg"/></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26.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15.svg"/></Relationships>
</file>

<file path=ppt/slides/_rels/slide15.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Layout" Target="../slideLayouts/slideLayout7.xml"/><Relationship Id="rId5" Type="http://schemas.openxmlformats.org/officeDocument/2006/relationships/image" Target="../media/image17.svg"/><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Layout" Target="../slideLayouts/slideLayout7.xml"/><Relationship Id="rId5" Type="http://schemas.openxmlformats.org/officeDocument/2006/relationships/image" Target="../media/image17.svg"/><Relationship Id="rId4" Type="http://schemas.openxmlformats.org/officeDocument/2006/relationships/image" Target="../media/image16.png"/></Relationships>
</file>

<file path=ppt/slides/_rels/slide17.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Layout" Target="../slideLayouts/slideLayout7.xml"/><Relationship Id="rId5" Type="http://schemas.openxmlformats.org/officeDocument/2006/relationships/image" Target="../media/image17.svg"/><Relationship Id="rId4" Type="http://schemas.openxmlformats.org/officeDocument/2006/relationships/image" Target="../media/image16.png"/></Relationships>
</file>

<file path=ppt/slides/_rels/slide18.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Layout" Target="../slideLayouts/slideLayout7.xml"/><Relationship Id="rId5" Type="http://schemas.openxmlformats.org/officeDocument/2006/relationships/image" Target="../media/image17.svg"/><Relationship Id="rId4" Type="http://schemas.openxmlformats.org/officeDocument/2006/relationships/image" Target="../media/image16.png"/></Relationships>
</file>

<file path=ppt/slides/_rels/slide19.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Layout" Target="../slideLayouts/slideLayout7.xml"/><Relationship Id="rId6" Type="http://schemas.openxmlformats.org/officeDocument/2006/relationships/image" Target="../media/image27.png"/><Relationship Id="rId5" Type="http://schemas.openxmlformats.org/officeDocument/2006/relationships/image" Target="../media/image17.svg"/><Relationship Id="rId4" Type="http://schemas.openxmlformats.org/officeDocument/2006/relationships/image" Target="../media/image16.png"/></Relationships>
</file>

<file path=ppt/slides/_rels/slide20.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4.png"/><Relationship Id="rId7" Type="http://schemas.openxmlformats.org/officeDocument/2006/relationships/image" Target="../media/image28.pn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15.svg"/></Relationships>
</file>

<file path=ppt/slides/_rels/slide21.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Layout" Target="../slideLayouts/slideLayout7.xml"/><Relationship Id="rId5" Type="http://schemas.openxmlformats.org/officeDocument/2006/relationships/image" Target="../media/image17.svg"/><Relationship Id="rId4" Type="http://schemas.openxmlformats.org/officeDocument/2006/relationships/image" Target="../media/image16.png"/></Relationships>
</file>

<file path=ppt/slides/_rels/slide22.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Layout" Target="../slideLayouts/slideLayout7.xml"/><Relationship Id="rId5" Type="http://schemas.openxmlformats.org/officeDocument/2006/relationships/image" Target="../media/image17.svg"/><Relationship Id="rId4" Type="http://schemas.openxmlformats.org/officeDocument/2006/relationships/image" Target="../media/image16.png"/></Relationships>
</file>

<file path=ppt/slides/_rels/slide23.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image" Target="../media/image30.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rgbClr val="FDF7EF">
                <a:alpha val="100000"/>
              </a:srgbClr>
            </a:gs>
            <a:gs pos="100000">
              <a:srgbClr val="FFFFFF">
                <a:alpha val="100000"/>
              </a:srgbClr>
            </a:gs>
          </a:gsLst>
          <a:lin ang="0"/>
        </a:gradFill>
        <a:effectLst/>
      </p:bgPr>
    </p:bg>
    <p:spTree>
      <p:nvGrpSpPr>
        <p:cNvPr id="1" name=""/>
        <p:cNvGrpSpPr/>
        <p:nvPr/>
      </p:nvGrpSpPr>
      <p:grpSpPr>
        <a:xfrm>
          <a:off x="0" y="0"/>
          <a:ext cx="0" cy="0"/>
          <a:chOff x="0" y="0"/>
          <a:chExt cx="0" cy="0"/>
        </a:xfrm>
      </p:grpSpPr>
      <p:sp>
        <p:nvSpPr>
          <p:cNvPr id="2" name="AutoShape 2"/>
          <p:cNvSpPr/>
          <p:nvPr/>
        </p:nvSpPr>
        <p:spPr>
          <a:xfrm flipH="1">
            <a:off x="1371600" y="4139596"/>
            <a:ext cx="0" cy="3212756"/>
          </a:xfrm>
          <a:prstGeom prst="line">
            <a:avLst/>
          </a:prstGeom>
          <a:ln w="133350" cap="flat">
            <a:solidFill>
              <a:srgbClr val="D15353"/>
            </a:solidFill>
            <a:prstDash val="solid"/>
            <a:headEnd type="none" w="sm" len="sm"/>
            <a:tailEnd type="none" w="sm" len="sm"/>
          </a:ln>
        </p:spPr>
      </p:sp>
      <p:sp>
        <p:nvSpPr>
          <p:cNvPr id="3" name="Freeform 3"/>
          <p:cNvSpPr/>
          <p:nvPr/>
        </p:nvSpPr>
        <p:spPr>
          <a:xfrm rot="6681127" flipV="1">
            <a:off x="8304240" y="1994542"/>
            <a:ext cx="16773519" cy="10003117"/>
          </a:xfrm>
          <a:custGeom>
            <a:avLst/>
            <a:gdLst/>
            <a:ahLst/>
            <a:cxnLst/>
            <a:rect l="l" t="t" r="r" b="b"/>
            <a:pathLst>
              <a:path w="16773519" h="10003117">
                <a:moveTo>
                  <a:pt x="0" y="10003117"/>
                </a:moveTo>
                <a:lnTo>
                  <a:pt x="16773519" y="10003117"/>
                </a:lnTo>
                <a:lnTo>
                  <a:pt x="16773519" y="0"/>
                </a:lnTo>
                <a:lnTo>
                  <a:pt x="0" y="0"/>
                </a:lnTo>
                <a:lnTo>
                  <a:pt x="0" y="10003117"/>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TextBox 4"/>
          <p:cNvSpPr txBox="1"/>
          <p:nvPr/>
        </p:nvSpPr>
        <p:spPr>
          <a:xfrm>
            <a:off x="1600200" y="3961295"/>
            <a:ext cx="16469948" cy="3034805"/>
          </a:xfrm>
          <a:prstGeom prst="rect">
            <a:avLst/>
          </a:prstGeom>
        </p:spPr>
        <p:txBody>
          <a:bodyPr wrap="square" lIns="0" tIns="0" rIns="0" bIns="0" rtlCol="0" anchor="t">
            <a:spAutoFit/>
          </a:bodyPr>
          <a:lstStyle/>
          <a:p>
            <a:pPr algn="just">
              <a:lnSpc>
                <a:spcPts val="12734"/>
              </a:lnSpc>
            </a:pPr>
            <a:r>
              <a:rPr lang="en-US" sz="6000" b="1" dirty="0">
                <a:solidFill>
                  <a:srgbClr val="253439"/>
                </a:solidFill>
                <a:latin typeface="Quicksand Bold"/>
                <a:ea typeface="Quicksand Bold"/>
                <a:cs typeface="Quicksand Bold"/>
                <a:sym typeface="Quicksand Bold"/>
              </a:rPr>
              <a:t>ỨNG DỤNG MÔ HÌNH HỌC SÂU </a:t>
            </a:r>
          </a:p>
          <a:p>
            <a:pPr algn="just">
              <a:lnSpc>
                <a:spcPts val="12734"/>
              </a:lnSpc>
            </a:pPr>
            <a:r>
              <a:rPr lang="en-US" sz="6000" b="1" dirty="0">
                <a:solidFill>
                  <a:srgbClr val="253439"/>
                </a:solidFill>
                <a:latin typeface="Quicksand Bold"/>
                <a:ea typeface="Quicksand Bold"/>
                <a:cs typeface="Quicksand Bold"/>
                <a:sym typeface="Quicksand Bold"/>
              </a:rPr>
              <a:t>TRONG DỰ BÁO SỰ CỐ ÙN TẮC GIAO THÔNG</a:t>
            </a:r>
          </a:p>
        </p:txBody>
      </p:sp>
      <p:sp>
        <p:nvSpPr>
          <p:cNvPr id="6" name="AutoShape 6"/>
          <p:cNvSpPr/>
          <p:nvPr/>
        </p:nvSpPr>
        <p:spPr>
          <a:xfrm flipV="1">
            <a:off x="6519400" y="9982811"/>
            <a:ext cx="4055161" cy="14287"/>
          </a:xfrm>
          <a:prstGeom prst="line">
            <a:avLst/>
          </a:prstGeom>
          <a:ln w="9525" cap="flat">
            <a:solidFill>
              <a:srgbClr val="253439"/>
            </a:solidFill>
            <a:prstDash val="solid"/>
            <a:headEnd type="none" w="sm" len="sm"/>
            <a:tailEnd type="none" w="sm" len="sm"/>
          </a:ln>
        </p:spPr>
      </p:sp>
      <p:sp>
        <p:nvSpPr>
          <p:cNvPr id="10" name="TextBox 10"/>
          <p:cNvSpPr txBox="1"/>
          <p:nvPr/>
        </p:nvSpPr>
        <p:spPr>
          <a:xfrm>
            <a:off x="3627809" y="1060401"/>
            <a:ext cx="11582828" cy="2060500"/>
          </a:xfrm>
          <a:prstGeom prst="rect">
            <a:avLst/>
          </a:prstGeom>
        </p:spPr>
        <p:txBody>
          <a:bodyPr lIns="0" tIns="0" rIns="0" bIns="0" rtlCol="0" anchor="t">
            <a:spAutoFit/>
          </a:bodyPr>
          <a:lstStyle/>
          <a:p>
            <a:pPr marL="0" lvl="0" indent="0" algn="ctr">
              <a:lnSpc>
                <a:spcPts val="5499"/>
              </a:lnSpc>
              <a:spcBef>
                <a:spcPct val="0"/>
              </a:spcBef>
            </a:pPr>
            <a:r>
              <a:rPr lang="en-US" sz="3927" b="1" dirty="0">
                <a:solidFill>
                  <a:srgbClr val="0F4662"/>
                </a:solidFill>
                <a:latin typeface="Quicksand Medium"/>
                <a:ea typeface="Quicksand Medium"/>
                <a:cs typeface="Quicksand Medium"/>
                <a:sym typeface="Quicksand Medium"/>
              </a:rPr>
              <a:t>BỘ NÔNG NGHIỆP VÀ MÔI TRƯỜNG</a:t>
            </a:r>
          </a:p>
          <a:p>
            <a:pPr marL="0" lvl="0" indent="0" algn="ctr">
              <a:lnSpc>
                <a:spcPts val="5499"/>
              </a:lnSpc>
              <a:spcBef>
                <a:spcPct val="0"/>
              </a:spcBef>
            </a:pPr>
            <a:r>
              <a:rPr lang="vi-VN" sz="3927" b="1" dirty="0">
                <a:solidFill>
                  <a:srgbClr val="0F4662"/>
                </a:solidFill>
                <a:latin typeface="Quicksand Medium"/>
                <a:ea typeface="Quicksand Medium"/>
                <a:cs typeface="Quicksand Medium"/>
                <a:sym typeface="Quicksand Medium"/>
              </a:rPr>
              <a:t>TRƯỜNG ĐẠI HỌC THỦY LỢI</a:t>
            </a:r>
            <a:endParaRPr lang="en-US" sz="3927" b="1" dirty="0">
              <a:solidFill>
                <a:srgbClr val="0F4662"/>
              </a:solidFill>
              <a:latin typeface="Quicksand Medium"/>
              <a:ea typeface="Quicksand Medium"/>
              <a:cs typeface="Quicksand Medium"/>
              <a:sym typeface="Quicksand Medium"/>
            </a:endParaRPr>
          </a:p>
          <a:p>
            <a:pPr marL="0" lvl="0" indent="0" algn="ctr">
              <a:lnSpc>
                <a:spcPts val="5499"/>
              </a:lnSpc>
              <a:spcBef>
                <a:spcPct val="0"/>
              </a:spcBef>
            </a:pPr>
            <a:r>
              <a:rPr lang="en-US" sz="3927" b="1" dirty="0">
                <a:solidFill>
                  <a:srgbClr val="0F4662"/>
                </a:solidFill>
                <a:latin typeface="Quicksand Medium"/>
                <a:ea typeface="Quicksand Medium"/>
                <a:cs typeface="Quicksand Medium"/>
                <a:sym typeface="Quicksand Medium"/>
              </a:rPr>
              <a:t>KHOA CÔNG NGHỆ THÔNG TIN</a:t>
            </a:r>
          </a:p>
        </p:txBody>
      </p:sp>
      <p:sp>
        <p:nvSpPr>
          <p:cNvPr id="11" name="TextBox 11"/>
          <p:cNvSpPr txBox="1"/>
          <p:nvPr/>
        </p:nvSpPr>
        <p:spPr>
          <a:xfrm>
            <a:off x="5052733" y="9450759"/>
            <a:ext cx="6988496" cy="529811"/>
          </a:xfrm>
          <a:prstGeom prst="rect">
            <a:avLst/>
          </a:prstGeom>
        </p:spPr>
        <p:txBody>
          <a:bodyPr lIns="0" tIns="0" rIns="0" bIns="0" rtlCol="0" anchor="t">
            <a:spAutoFit/>
          </a:bodyPr>
          <a:lstStyle/>
          <a:p>
            <a:pPr marL="0" lvl="0" indent="0" algn="ctr">
              <a:lnSpc>
                <a:spcPts val="4397"/>
              </a:lnSpc>
              <a:spcBef>
                <a:spcPct val="0"/>
              </a:spcBef>
            </a:pPr>
            <a:r>
              <a:rPr lang="en-US" sz="3141" b="1" dirty="0" err="1">
                <a:solidFill>
                  <a:srgbClr val="0F4662"/>
                </a:solidFill>
                <a:latin typeface="Quicksand Medium"/>
                <a:ea typeface="Quicksand Medium"/>
                <a:cs typeface="Quicksand Medium"/>
                <a:sym typeface="Quicksand Medium"/>
              </a:rPr>
              <a:t>Tháng</a:t>
            </a:r>
            <a:r>
              <a:rPr lang="en-US" sz="3141" b="1" dirty="0">
                <a:solidFill>
                  <a:srgbClr val="0F4662"/>
                </a:solidFill>
                <a:latin typeface="Quicksand Medium"/>
                <a:ea typeface="Quicksand Medium"/>
                <a:cs typeface="Quicksand Medium"/>
                <a:sym typeface="Quicksand Medium"/>
              </a:rPr>
              <a:t> 6, 2025</a:t>
            </a:r>
          </a:p>
        </p:txBody>
      </p:sp>
      <p:pic>
        <p:nvPicPr>
          <p:cNvPr id="16" name="Picture 2" descr="Download logo trường Đại học Thủy Lợi (TLU) file vector AI, EPS, SVG, CDR,  PS, PNG không nền – Logo Trường Học">
            <a:extLst>
              <a:ext uri="{FF2B5EF4-FFF2-40B4-BE49-F238E27FC236}">
                <a16:creationId xmlns:a16="http://schemas.microsoft.com/office/drawing/2014/main" id="{1BEE0869-6722-4BB0-948B-F00EEF44020F}"/>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143000" y="463657"/>
            <a:ext cx="3047999" cy="2541269"/>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29">
            <a:extLst>
              <a:ext uri="{FF2B5EF4-FFF2-40B4-BE49-F238E27FC236}">
                <a16:creationId xmlns:a16="http://schemas.microsoft.com/office/drawing/2014/main" id="{99446D15-3C41-3EE6-A7E7-E14A7C01BC83}"/>
              </a:ext>
            </a:extLst>
          </p:cNvPr>
          <p:cNvSpPr txBox="1"/>
          <p:nvPr/>
        </p:nvSpPr>
        <p:spPr>
          <a:xfrm>
            <a:off x="5549322" y="7352352"/>
            <a:ext cx="6859629" cy="195592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en-US" sz="2800" dirty="0" err="1">
                <a:latin typeface="Quicksand Medium" panose="020B0604020202020204" charset="0"/>
                <a:ea typeface="Roboto" panose="02000000000000000000" pitchFamily="2" charset="0"/>
              </a:rPr>
              <a:t>Người</a:t>
            </a:r>
            <a:r>
              <a:rPr lang="en-US" sz="2800" dirty="0">
                <a:latin typeface="Quicksand Medium" panose="020B0604020202020204" charset="0"/>
                <a:ea typeface="Roboto" panose="02000000000000000000" pitchFamily="2" charset="0"/>
              </a:rPr>
              <a:t> </a:t>
            </a:r>
            <a:r>
              <a:rPr lang="en-US" sz="2800" dirty="0" err="1">
                <a:latin typeface="Quicksand Medium" panose="020B0604020202020204" charset="0"/>
                <a:ea typeface="Roboto" panose="02000000000000000000" pitchFamily="2" charset="0"/>
              </a:rPr>
              <a:t>hướng</a:t>
            </a:r>
            <a:r>
              <a:rPr lang="en-US" sz="2800" dirty="0">
                <a:latin typeface="Quicksand Medium" panose="020B0604020202020204" charset="0"/>
                <a:ea typeface="Roboto" panose="02000000000000000000" pitchFamily="2" charset="0"/>
              </a:rPr>
              <a:t> </a:t>
            </a:r>
            <a:r>
              <a:rPr lang="en-US" sz="2800" dirty="0" err="1">
                <a:latin typeface="Quicksand Medium" panose="020B0604020202020204" charset="0"/>
                <a:ea typeface="Roboto" panose="02000000000000000000" pitchFamily="2" charset="0"/>
              </a:rPr>
              <a:t>dẫn</a:t>
            </a:r>
            <a:r>
              <a:rPr lang="en-US" sz="2800" dirty="0">
                <a:latin typeface="Quicksand Medium" panose="020B0604020202020204" charset="0"/>
                <a:ea typeface="Roboto" panose="02000000000000000000" pitchFamily="2" charset="0"/>
              </a:rPr>
              <a:t>: TS. </a:t>
            </a:r>
            <a:r>
              <a:rPr lang="en-US" sz="2800" dirty="0" err="1">
                <a:latin typeface="Quicksand Medium" panose="020B0604020202020204" charset="0"/>
                <a:ea typeface="Roboto" panose="02000000000000000000" pitchFamily="2" charset="0"/>
              </a:rPr>
              <a:t>Trần</a:t>
            </a:r>
            <a:r>
              <a:rPr lang="en-US" sz="2800" dirty="0">
                <a:latin typeface="Quicksand Medium" panose="020B0604020202020204" charset="0"/>
                <a:ea typeface="Roboto" panose="02000000000000000000" pitchFamily="2" charset="0"/>
              </a:rPr>
              <a:t> </a:t>
            </a:r>
            <a:r>
              <a:rPr lang="en-US" sz="2800" dirty="0" err="1">
                <a:latin typeface="Quicksand Medium" panose="020B0604020202020204" charset="0"/>
                <a:ea typeface="Roboto" panose="02000000000000000000" pitchFamily="2" charset="0"/>
              </a:rPr>
              <a:t>Mạnh</a:t>
            </a:r>
            <a:r>
              <a:rPr lang="en-US" sz="2800" dirty="0">
                <a:latin typeface="Quicksand Medium" panose="020B0604020202020204" charset="0"/>
                <a:ea typeface="Roboto" panose="02000000000000000000" pitchFamily="2" charset="0"/>
              </a:rPr>
              <a:t> </a:t>
            </a:r>
            <a:r>
              <a:rPr lang="en-US" sz="2800" dirty="0" err="1">
                <a:latin typeface="Quicksand Medium" panose="020B0604020202020204" charset="0"/>
                <a:ea typeface="Roboto" panose="02000000000000000000" pitchFamily="2" charset="0"/>
              </a:rPr>
              <a:t>Tuấn</a:t>
            </a:r>
            <a:endParaRPr lang="en-US" sz="2800" dirty="0">
              <a:latin typeface="Quicksand Medium" panose="020B0604020202020204" charset="0"/>
              <a:ea typeface="Roboto" panose="02000000000000000000" pitchFamily="2" charset="0"/>
            </a:endParaRPr>
          </a:p>
          <a:p>
            <a:pPr>
              <a:lnSpc>
                <a:spcPct val="150000"/>
              </a:lnSpc>
            </a:pPr>
            <a:r>
              <a:rPr lang="en-US" sz="2800" dirty="0" err="1">
                <a:latin typeface="Quicksand Medium" panose="020B0604020202020204" charset="0"/>
                <a:ea typeface="Roboto" panose="02000000000000000000" pitchFamily="2" charset="0"/>
              </a:rPr>
              <a:t>Học</a:t>
            </a:r>
            <a:r>
              <a:rPr lang="en-US" sz="2800" dirty="0">
                <a:latin typeface="Quicksand Medium" panose="020B0604020202020204" charset="0"/>
                <a:ea typeface="Roboto" panose="02000000000000000000" pitchFamily="2" charset="0"/>
              </a:rPr>
              <a:t> </a:t>
            </a:r>
            <a:r>
              <a:rPr lang="en-US" sz="2800" dirty="0" err="1">
                <a:latin typeface="Quicksand Medium" panose="020B0604020202020204" charset="0"/>
                <a:ea typeface="Roboto" panose="02000000000000000000" pitchFamily="2" charset="0"/>
              </a:rPr>
              <a:t>viên</a:t>
            </a:r>
            <a:r>
              <a:rPr lang="en-US" sz="2800" dirty="0">
                <a:latin typeface="Quicksand Medium" panose="020B0604020202020204" charset="0"/>
                <a:ea typeface="Roboto" panose="02000000000000000000" pitchFamily="2" charset="0"/>
              </a:rPr>
              <a:t>: Vũ </a:t>
            </a:r>
            <a:r>
              <a:rPr lang="en-US" sz="2800" dirty="0" err="1">
                <a:latin typeface="Quicksand Medium" panose="020B0604020202020204" charset="0"/>
                <a:ea typeface="Roboto" panose="02000000000000000000" pitchFamily="2" charset="0"/>
              </a:rPr>
              <a:t>Bá</a:t>
            </a:r>
            <a:r>
              <a:rPr lang="en-US" sz="2800" dirty="0">
                <a:latin typeface="Quicksand Medium" panose="020B0604020202020204" charset="0"/>
                <a:ea typeface="Roboto" panose="02000000000000000000" pitchFamily="2" charset="0"/>
              </a:rPr>
              <a:t> </a:t>
            </a:r>
            <a:r>
              <a:rPr lang="en-US" sz="2800" dirty="0" err="1">
                <a:latin typeface="Quicksand Medium" panose="020B0604020202020204" charset="0"/>
                <a:ea typeface="Roboto" panose="02000000000000000000" pitchFamily="2" charset="0"/>
              </a:rPr>
              <a:t>Ngọc</a:t>
            </a:r>
            <a:r>
              <a:rPr lang="en-US" sz="2800" dirty="0">
                <a:latin typeface="Quicksand Medium" panose="020B0604020202020204" charset="0"/>
                <a:ea typeface="Roboto" panose="02000000000000000000" pitchFamily="2" charset="0"/>
              </a:rPr>
              <a:t> Minh </a:t>
            </a:r>
          </a:p>
          <a:p>
            <a:pPr>
              <a:lnSpc>
                <a:spcPct val="150000"/>
              </a:lnSpc>
            </a:pPr>
            <a:r>
              <a:rPr lang="en-US" sz="2800" dirty="0" err="1">
                <a:latin typeface="Quicksand Medium" panose="020B0604020202020204" charset="0"/>
                <a:ea typeface="Roboto" panose="02000000000000000000" pitchFamily="2" charset="0"/>
              </a:rPr>
              <a:t>Lớp</a:t>
            </a:r>
            <a:r>
              <a:rPr lang="en-US" sz="2800" dirty="0">
                <a:latin typeface="Quicksand Medium" panose="020B0604020202020204" charset="0"/>
                <a:ea typeface="Roboto" panose="02000000000000000000" pitchFamily="2" charset="0"/>
              </a:rPr>
              <a:t>: 30CNTT11</a:t>
            </a:r>
          </a:p>
        </p:txBody>
      </p:sp>
      <p:sp>
        <p:nvSpPr>
          <p:cNvPr id="18" name="TextBox 29">
            <a:extLst>
              <a:ext uri="{FF2B5EF4-FFF2-40B4-BE49-F238E27FC236}">
                <a16:creationId xmlns:a16="http://schemas.microsoft.com/office/drawing/2014/main" id="{1758A088-F754-40E1-BB62-4D95BFBD6E94}"/>
              </a:ext>
            </a:extLst>
          </p:cNvPr>
          <p:cNvSpPr txBox="1"/>
          <p:nvPr/>
        </p:nvSpPr>
        <p:spPr>
          <a:xfrm>
            <a:off x="6073714" y="3436832"/>
            <a:ext cx="5810847" cy="74481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50000"/>
              </a:lnSpc>
            </a:pPr>
            <a:r>
              <a:rPr lang="en-US" sz="3200" dirty="0" err="1">
                <a:latin typeface="Quicksand Medium" panose="020B0604020202020204" charset="0"/>
                <a:ea typeface="Roboto" panose="02000000000000000000" pitchFamily="2" charset="0"/>
              </a:rPr>
              <a:t>Đề</a:t>
            </a:r>
            <a:r>
              <a:rPr lang="en-US" sz="3200" dirty="0">
                <a:latin typeface="Quicksand Medium" panose="020B0604020202020204" charset="0"/>
                <a:ea typeface="Roboto" panose="02000000000000000000" pitchFamily="2" charset="0"/>
              </a:rPr>
              <a:t> </a:t>
            </a:r>
            <a:r>
              <a:rPr lang="en-US" sz="3200" dirty="0" err="1">
                <a:latin typeface="Quicksand Medium" panose="020B0604020202020204" charset="0"/>
                <a:ea typeface="Roboto" panose="02000000000000000000" pitchFamily="2" charset="0"/>
              </a:rPr>
              <a:t>án</a:t>
            </a:r>
            <a:r>
              <a:rPr lang="en-US" sz="3200" dirty="0">
                <a:latin typeface="Quicksand Medium" panose="020B0604020202020204" charset="0"/>
                <a:ea typeface="Roboto" panose="02000000000000000000" pitchFamily="2" charset="0"/>
              </a:rPr>
              <a:t> </a:t>
            </a:r>
            <a:r>
              <a:rPr lang="en-US" sz="3200" dirty="0" err="1">
                <a:latin typeface="Quicksand Medium" panose="020B0604020202020204" charset="0"/>
                <a:ea typeface="Roboto" panose="02000000000000000000" pitchFamily="2" charset="0"/>
              </a:rPr>
              <a:t>thạc</a:t>
            </a:r>
            <a:r>
              <a:rPr lang="en-US" sz="3200" dirty="0">
                <a:latin typeface="Quicksand Medium" panose="020B0604020202020204" charset="0"/>
                <a:ea typeface="Roboto" panose="02000000000000000000" pitchFamily="2" charset="0"/>
              </a:rPr>
              <a:t> </a:t>
            </a:r>
            <a:r>
              <a:rPr lang="en-US" sz="3200" dirty="0" err="1">
                <a:latin typeface="Quicksand Medium" panose="020B0604020202020204" charset="0"/>
                <a:ea typeface="Roboto" panose="02000000000000000000" pitchFamily="2" charset="0"/>
              </a:rPr>
              <a:t>sĩ</a:t>
            </a:r>
            <a:endParaRPr lang="en-US" sz="3200" dirty="0">
              <a:latin typeface="Quicksand Medium" panose="020B0604020202020204" charset="0"/>
              <a:ea typeface="Roboto" panose="02000000000000000000" pitchFamily="2"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177844" y="5133206"/>
            <a:ext cx="1049339" cy="1053168"/>
            <a:chOff x="0" y="0"/>
            <a:chExt cx="1399118" cy="1404225"/>
          </a:xfrm>
        </p:grpSpPr>
        <p:sp>
          <p:nvSpPr>
            <p:cNvPr id="3" name="Freeform 3"/>
            <p:cNvSpPr/>
            <p:nvPr/>
          </p:nvSpPr>
          <p:spPr>
            <a:xfrm>
              <a:off x="0" y="0"/>
              <a:ext cx="1399118" cy="1404225"/>
            </a:xfrm>
            <a:custGeom>
              <a:avLst/>
              <a:gdLst/>
              <a:ahLst/>
              <a:cxnLst/>
              <a:rect l="l" t="t" r="r" b="b"/>
              <a:pathLst>
                <a:path w="1399118" h="1404225">
                  <a:moveTo>
                    <a:pt x="0" y="0"/>
                  </a:moveTo>
                  <a:lnTo>
                    <a:pt x="1399118" y="0"/>
                  </a:lnTo>
                  <a:lnTo>
                    <a:pt x="1399118" y="1404225"/>
                  </a:lnTo>
                  <a:lnTo>
                    <a:pt x="0" y="140422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TextBox 4"/>
            <p:cNvSpPr txBox="1"/>
            <p:nvPr/>
          </p:nvSpPr>
          <p:spPr>
            <a:xfrm>
              <a:off x="82517" y="256072"/>
              <a:ext cx="1234084" cy="1088278"/>
            </a:xfrm>
            <a:prstGeom prst="rect">
              <a:avLst/>
            </a:prstGeom>
          </p:spPr>
          <p:txBody>
            <a:bodyPr lIns="0" tIns="0" rIns="0" bIns="0" rtlCol="0" anchor="t">
              <a:spAutoFit/>
            </a:bodyPr>
            <a:lstStyle/>
            <a:p>
              <a:pPr algn="ctr">
                <a:lnSpc>
                  <a:spcPts val="6343"/>
                </a:lnSpc>
              </a:pPr>
              <a:r>
                <a:rPr lang="en-US" sz="5421" b="1" dirty="0">
                  <a:solidFill>
                    <a:srgbClr val="FFFFFF"/>
                  </a:solidFill>
                  <a:latin typeface="TT Backwards Bold"/>
                  <a:ea typeface="TT Backwards Bold"/>
                  <a:cs typeface="TT Backwards Bold"/>
                  <a:sym typeface="TT Backwards Bold"/>
                </a:rPr>
                <a:t>3</a:t>
              </a:r>
            </a:p>
          </p:txBody>
        </p:sp>
      </p:grpSp>
      <p:sp>
        <p:nvSpPr>
          <p:cNvPr id="5" name="Freeform 5"/>
          <p:cNvSpPr/>
          <p:nvPr/>
        </p:nvSpPr>
        <p:spPr>
          <a:xfrm rot="-4271940">
            <a:off x="11243209" y="-4382419"/>
            <a:ext cx="8624289" cy="10447927"/>
          </a:xfrm>
          <a:custGeom>
            <a:avLst/>
            <a:gdLst/>
            <a:ahLst/>
            <a:cxnLst/>
            <a:rect l="l" t="t" r="r" b="b"/>
            <a:pathLst>
              <a:path w="8624289" h="10447927">
                <a:moveTo>
                  <a:pt x="0" y="0"/>
                </a:moveTo>
                <a:lnTo>
                  <a:pt x="8624288" y="0"/>
                </a:lnTo>
                <a:lnTo>
                  <a:pt x="8624288" y="10447927"/>
                </a:lnTo>
                <a:lnTo>
                  <a:pt x="0" y="1044792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TextBox 6"/>
          <p:cNvSpPr txBox="1"/>
          <p:nvPr/>
        </p:nvSpPr>
        <p:spPr>
          <a:xfrm>
            <a:off x="1344075" y="1843123"/>
            <a:ext cx="15816257" cy="1290121"/>
          </a:xfrm>
          <a:prstGeom prst="rect">
            <a:avLst/>
          </a:prstGeom>
        </p:spPr>
        <p:txBody>
          <a:bodyPr lIns="0" tIns="0" rIns="0" bIns="0" rtlCol="0" anchor="t">
            <a:spAutoFit/>
          </a:bodyPr>
          <a:lstStyle/>
          <a:p>
            <a:pPr algn="ctr">
              <a:lnSpc>
                <a:spcPts val="9704"/>
              </a:lnSpc>
            </a:pPr>
            <a:r>
              <a:rPr lang="en-US" sz="9802" b="1">
                <a:solidFill>
                  <a:srgbClr val="203847"/>
                </a:solidFill>
                <a:latin typeface="Quicksand Semi-Bold"/>
                <a:ea typeface="Quicksand Semi-Bold"/>
                <a:cs typeface="Quicksand Semi-Bold"/>
                <a:sym typeface="Quicksand Semi-Bold"/>
              </a:rPr>
              <a:t>Nội dung trình bày</a:t>
            </a:r>
          </a:p>
        </p:txBody>
      </p:sp>
      <p:sp>
        <p:nvSpPr>
          <p:cNvPr id="7" name="TextBox 7"/>
          <p:cNvSpPr txBox="1"/>
          <p:nvPr/>
        </p:nvSpPr>
        <p:spPr>
          <a:xfrm>
            <a:off x="5493202" y="3800143"/>
            <a:ext cx="3498786" cy="381933"/>
          </a:xfrm>
          <a:prstGeom prst="rect">
            <a:avLst/>
          </a:prstGeom>
        </p:spPr>
        <p:txBody>
          <a:bodyPr lIns="0" tIns="0" rIns="0" bIns="0" rtlCol="0" anchor="t">
            <a:spAutoFit/>
          </a:bodyPr>
          <a:lstStyle/>
          <a:p>
            <a:pPr algn="l">
              <a:lnSpc>
                <a:spcPts val="3270"/>
              </a:lnSpc>
            </a:pPr>
            <a:r>
              <a:rPr lang="en-US" sz="2044" b="1" dirty="0" err="1">
                <a:solidFill>
                  <a:srgbClr val="374F5F"/>
                </a:solidFill>
                <a:latin typeface="Quicksand Medium"/>
                <a:ea typeface="Quicksand Medium"/>
                <a:cs typeface="Quicksand Medium"/>
                <a:sym typeface="Quicksand Medium"/>
              </a:rPr>
              <a:t>Giới</a:t>
            </a:r>
            <a:r>
              <a:rPr lang="en-US" sz="2044" b="1" dirty="0">
                <a:solidFill>
                  <a:srgbClr val="374F5F"/>
                </a:solidFill>
                <a:latin typeface="Quicksand Medium"/>
                <a:ea typeface="Quicksand Medium"/>
                <a:cs typeface="Quicksand Medium"/>
                <a:sym typeface="Quicksand Medium"/>
              </a:rPr>
              <a:t> </a:t>
            </a:r>
            <a:r>
              <a:rPr lang="en-US" sz="2044" b="1" dirty="0" err="1">
                <a:solidFill>
                  <a:srgbClr val="374F5F"/>
                </a:solidFill>
                <a:latin typeface="Quicksand Medium"/>
                <a:ea typeface="Quicksand Medium"/>
                <a:cs typeface="Quicksand Medium"/>
                <a:sym typeface="Quicksand Medium"/>
              </a:rPr>
              <a:t>thiệu</a:t>
            </a:r>
            <a:r>
              <a:rPr lang="en-US" sz="2044" b="1" dirty="0">
                <a:solidFill>
                  <a:srgbClr val="374F5F"/>
                </a:solidFill>
                <a:latin typeface="Quicksand Medium"/>
                <a:ea typeface="Quicksand Medium"/>
                <a:cs typeface="Quicksand Medium"/>
                <a:sym typeface="Quicksand Medium"/>
              </a:rPr>
              <a:t> </a:t>
            </a:r>
            <a:r>
              <a:rPr lang="en-US" sz="2044" b="1" dirty="0" err="1">
                <a:solidFill>
                  <a:srgbClr val="374F5F"/>
                </a:solidFill>
                <a:latin typeface="Quicksand Medium"/>
                <a:ea typeface="Quicksand Medium"/>
                <a:cs typeface="Quicksand Medium"/>
                <a:sym typeface="Quicksand Medium"/>
              </a:rPr>
              <a:t>chung</a:t>
            </a:r>
            <a:endParaRPr lang="en-US" sz="2044" b="1" dirty="0">
              <a:solidFill>
                <a:srgbClr val="374F5F"/>
              </a:solidFill>
              <a:latin typeface="Quicksand Medium"/>
              <a:ea typeface="Quicksand Medium"/>
              <a:cs typeface="Quicksand Medium"/>
              <a:sym typeface="Quicksand Medium"/>
            </a:endParaRPr>
          </a:p>
        </p:txBody>
      </p:sp>
      <p:sp>
        <p:nvSpPr>
          <p:cNvPr id="8" name="TextBox 8"/>
          <p:cNvSpPr txBox="1"/>
          <p:nvPr/>
        </p:nvSpPr>
        <p:spPr>
          <a:xfrm>
            <a:off x="10687958" y="3780483"/>
            <a:ext cx="3498786" cy="803490"/>
          </a:xfrm>
          <a:prstGeom prst="rect">
            <a:avLst/>
          </a:prstGeom>
        </p:spPr>
        <p:txBody>
          <a:bodyPr lIns="0" tIns="0" rIns="0" bIns="0" rtlCol="0" anchor="t">
            <a:spAutoFit/>
          </a:bodyPr>
          <a:lstStyle/>
          <a:p>
            <a:pPr algn="l">
              <a:lnSpc>
                <a:spcPts val="3270"/>
              </a:lnSpc>
            </a:pPr>
            <a:r>
              <a:rPr lang="en-US" sz="2044" b="1" dirty="0" err="1">
                <a:solidFill>
                  <a:srgbClr val="374F5F"/>
                </a:solidFill>
                <a:latin typeface="Quicksand Medium"/>
                <a:ea typeface="Quicksand Medium"/>
                <a:cs typeface="Quicksand Medium"/>
                <a:sym typeface="Quicksand Medium"/>
              </a:rPr>
              <a:t>Tổng</a:t>
            </a:r>
            <a:r>
              <a:rPr lang="en-US" sz="2044" b="1" dirty="0">
                <a:solidFill>
                  <a:srgbClr val="374F5F"/>
                </a:solidFill>
                <a:latin typeface="Quicksand Medium"/>
                <a:ea typeface="Quicksand Medium"/>
                <a:cs typeface="Quicksand Medium"/>
                <a:sym typeface="Quicksand Medium"/>
              </a:rPr>
              <a:t> </a:t>
            </a:r>
            <a:r>
              <a:rPr lang="en-US" sz="2044" b="1" dirty="0" err="1">
                <a:solidFill>
                  <a:srgbClr val="374F5F"/>
                </a:solidFill>
                <a:latin typeface="Quicksand Medium"/>
                <a:ea typeface="Quicksand Medium"/>
                <a:cs typeface="Quicksand Medium"/>
                <a:sym typeface="Quicksand Medium"/>
              </a:rPr>
              <a:t>quan</a:t>
            </a:r>
            <a:r>
              <a:rPr lang="en-US" sz="2044" b="1" dirty="0">
                <a:solidFill>
                  <a:srgbClr val="374F5F"/>
                </a:solidFill>
                <a:latin typeface="Quicksand Medium"/>
                <a:ea typeface="Quicksand Medium"/>
                <a:cs typeface="Quicksand Medium"/>
                <a:sym typeface="Quicksand Medium"/>
              </a:rPr>
              <a:t> </a:t>
            </a:r>
            <a:r>
              <a:rPr lang="en-US" sz="2044" b="1" dirty="0" err="1">
                <a:solidFill>
                  <a:srgbClr val="374F5F"/>
                </a:solidFill>
                <a:latin typeface="Quicksand Medium"/>
                <a:ea typeface="Quicksand Medium"/>
                <a:cs typeface="Quicksand Medium"/>
                <a:sym typeface="Quicksand Medium"/>
              </a:rPr>
              <a:t>đề</a:t>
            </a:r>
            <a:r>
              <a:rPr lang="en-US" sz="2044" b="1" dirty="0">
                <a:solidFill>
                  <a:srgbClr val="374F5F"/>
                </a:solidFill>
                <a:latin typeface="Quicksand Medium"/>
                <a:ea typeface="Quicksand Medium"/>
                <a:cs typeface="Quicksand Medium"/>
                <a:sym typeface="Quicksand Medium"/>
              </a:rPr>
              <a:t> </a:t>
            </a:r>
            <a:r>
              <a:rPr lang="en-US" sz="2044" b="1" dirty="0" err="1">
                <a:solidFill>
                  <a:srgbClr val="374F5F"/>
                </a:solidFill>
                <a:latin typeface="Quicksand Medium"/>
                <a:ea typeface="Quicksand Medium"/>
                <a:cs typeface="Quicksand Medium"/>
                <a:sym typeface="Quicksand Medium"/>
              </a:rPr>
              <a:t>tài</a:t>
            </a:r>
            <a:r>
              <a:rPr lang="en-US" sz="2044" b="1" dirty="0">
                <a:solidFill>
                  <a:srgbClr val="374F5F"/>
                </a:solidFill>
                <a:latin typeface="Quicksand Medium"/>
                <a:ea typeface="Quicksand Medium"/>
                <a:cs typeface="Quicksand Medium"/>
                <a:sym typeface="Quicksand Medium"/>
              </a:rPr>
              <a:t> </a:t>
            </a:r>
            <a:r>
              <a:rPr lang="en-US" sz="2044" b="1" dirty="0" err="1">
                <a:solidFill>
                  <a:srgbClr val="374F5F"/>
                </a:solidFill>
                <a:latin typeface="Quicksand Medium"/>
                <a:ea typeface="Quicksand Medium"/>
                <a:cs typeface="Quicksand Medium"/>
                <a:sym typeface="Quicksand Medium"/>
              </a:rPr>
              <a:t>và</a:t>
            </a:r>
            <a:r>
              <a:rPr lang="en-US" sz="2044" b="1" dirty="0">
                <a:solidFill>
                  <a:srgbClr val="374F5F"/>
                </a:solidFill>
                <a:latin typeface="Quicksand Medium"/>
                <a:ea typeface="Quicksand Medium"/>
                <a:cs typeface="Quicksand Medium"/>
                <a:sym typeface="Quicksand Medium"/>
              </a:rPr>
              <a:t> </a:t>
            </a:r>
            <a:r>
              <a:rPr lang="en-US" sz="2044" b="1" dirty="0" err="1">
                <a:solidFill>
                  <a:srgbClr val="374F5F"/>
                </a:solidFill>
                <a:latin typeface="Quicksand Medium"/>
                <a:ea typeface="Quicksand Medium"/>
                <a:cs typeface="Quicksand Medium"/>
                <a:sym typeface="Quicksand Medium"/>
              </a:rPr>
              <a:t>cơ</a:t>
            </a:r>
            <a:r>
              <a:rPr lang="en-US" sz="2044" b="1" dirty="0">
                <a:solidFill>
                  <a:srgbClr val="374F5F"/>
                </a:solidFill>
                <a:latin typeface="Quicksand Medium"/>
                <a:ea typeface="Quicksand Medium"/>
                <a:cs typeface="Quicksand Medium"/>
                <a:sym typeface="Quicksand Medium"/>
              </a:rPr>
              <a:t> </a:t>
            </a:r>
            <a:r>
              <a:rPr lang="en-US" sz="2044" b="1" dirty="0" err="1">
                <a:solidFill>
                  <a:srgbClr val="374F5F"/>
                </a:solidFill>
                <a:latin typeface="Quicksand Medium"/>
                <a:ea typeface="Quicksand Medium"/>
                <a:cs typeface="Quicksand Medium"/>
                <a:sym typeface="Quicksand Medium"/>
              </a:rPr>
              <a:t>sở</a:t>
            </a:r>
            <a:r>
              <a:rPr lang="en-US" sz="2044" b="1" dirty="0">
                <a:solidFill>
                  <a:srgbClr val="374F5F"/>
                </a:solidFill>
                <a:latin typeface="Quicksand Medium"/>
                <a:ea typeface="Quicksand Medium"/>
                <a:cs typeface="Quicksand Medium"/>
                <a:sym typeface="Quicksand Medium"/>
              </a:rPr>
              <a:t> </a:t>
            </a:r>
            <a:r>
              <a:rPr lang="en-US" sz="2044" b="1" dirty="0" err="1">
                <a:solidFill>
                  <a:srgbClr val="374F5F"/>
                </a:solidFill>
                <a:latin typeface="Quicksand Medium"/>
                <a:ea typeface="Quicksand Medium"/>
                <a:cs typeface="Quicksand Medium"/>
                <a:sym typeface="Quicksand Medium"/>
              </a:rPr>
              <a:t>lý</a:t>
            </a:r>
            <a:r>
              <a:rPr lang="en-US" sz="2044" b="1" dirty="0">
                <a:solidFill>
                  <a:srgbClr val="374F5F"/>
                </a:solidFill>
                <a:latin typeface="Quicksand Medium"/>
                <a:ea typeface="Quicksand Medium"/>
                <a:cs typeface="Quicksand Medium"/>
                <a:sym typeface="Quicksand Medium"/>
              </a:rPr>
              <a:t> </a:t>
            </a:r>
            <a:r>
              <a:rPr lang="en-US" sz="2044" b="1" dirty="0" err="1">
                <a:solidFill>
                  <a:srgbClr val="374F5F"/>
                </a:solidFill>
                <a:latin typeface="Quicksand Medium"/>
                <a:ea typeface="Quicksand Medium"/>
                <a:cs typeface="Quicksand Medium"/>
                <a:sym typeface="Quicksand Medium"/>
              </a:rPr>
              <a:t>thuyết</a:t>
            </a:r>
            <a:endParaRPr lang="en-US" sz="2044" b="1" dirty="0">
              <a:solidFill>
                <a:srgbClr val="374F5F"/>
              </a:solidFill>
              <a:latin typeface="Quicksand Medium"/>
              <a:ea typeface="Quicksand Medium"/>
              <a:cs typeface="Quicksand Medium"/>
              <a:sym typeface="Quicksand Medium"/>
            </a:endParaRPr>
          </a:p>
        </p:txBody>
      </p:sp>
      <p:sp>
        <p:nvSpPr>
          <p:cNvPr id="9" name="TextBox 9"/>
          <p:cNvSpPr txBox="1"/>
          <p:nvPr/>
        </p:nvSpPr>
        <p:spPr>
          <a:xfrm>
            <a:off x="5493202" y="5221849"/>
            <a:ext cx="3498786" cy="803490"/>
          </a:xfrm>
          <a:prstGeom prst="rect">
            <a:avLst/>
          </a:prstGeom>
        </p:spPr>
        <p:txBody>
          <a:bodyPr lIns="0" tIns="0" rIns="0" bIns="0" rtlCol="0" anchor="t">
            <a:spAutoFit/>
          </a:bodyPr>
          <a:lstStyle/>
          <a:p>
            <a:pPr algn="l">
              <a:lnSpc>
                <a:spcPts val="3270"/>
              </a:lnSpc>
            </a:pPr>
            <a:r>
              <a:rPr lang="en-US" sz="2044" b="1" dirty="0" err="1">
                <a:solidFill>
                  <a:srgbClr val="374F5F"/>
                </a:solidFill>
                <a:latin typeface="Quicksand Medium"/>
                <a:ea typeface="Quicksand Medium"/>
                <a:cs typeface="Quicksand Medium"/>
                <a:sym typeface="Quicksand Medium"/>
              </a:rPr>
              <a:t>Mô</a:t>
            </a:r>
            <a:r>
              <a:rPr lang="en-US" sz="2044" b="1" dirty="0">
                <a:solidFill>
                  <a:srgbClr val="374F5F"/>
                </a:solidFill>
                <a:latin typeface="Quicksand Medium"/>
                <a:ea typeface="Quicksand Medium"/>
                <a:cs typeface="Quicksand Medium"/>
                <a:sym typeface="Quicksand Medium"/>
              </a:rPr>
              <a:t> </a:t>
            </a:r>
            <a:r>
              <a:rPr lang="en-US" sz="2044" b="1" dirty="0" err="1">
                <a:solidFill>
                  <a:srgbClr val="374F5F"/>
                </a:solidFill>
                <a:latin typeface="Quicksand Medium"/>
                <a:ea typeface="Quicksand Medium"/>
                <a:cs typeface="Quicksand Medium"/>
                <a:sym typeface="Quicksand Medium"/>
              </a:rPr>
              <a:t>hình</a:t>
            </a:r>
            <a:r>
              <a:rPr lang="en-US" sz="2044" b="1" dirty="0">
                <a:solidFill>
                  <a:srgbClr val="374F5F"/>
                </a:solidFill>
                <a:latin typeface="Quicksand Medium"/>
                <a:ea typeface="Quicksand Medium"/>
                <a:cs typeface="Quicksand Medium"/>
                <a:sym typeface="Quicksand Medium"/>
              </a:rPr>
              <a:t> </a:t>
            </a:r>
            <a:r>
              <a:rPr lang="en-US" sz="2044" b="1" dirty="0" err="1">
                <a:solidFill>
                  <a:srgbClr val="374F5F"/>
                </a:solidFill>
                <a:latin typeface="Quicksand Medium"/>
                <a:ea typeface="Quicksand Medium"/>
                <a:cs typeface="Quicksand Medium"/>
                <a:sym typeface="Quicksand Medium"/>
              </a:rPr>
              <a:t>trong</a:t>
            </a:r>
            <a:r>
              <a:rPr lang="en-US" sz="2044" b="1" dirty="0">
                <a:solidFill>
                  <a:srgbClr val="374F5F"/>
                </a:solidFill>
                <a:latin typeface="Quicksand Medium"/>
                <a:ea typeface="Quicksand Medium"/>
                <a:cs typeface="Quicksand Medium"/>
                <a:sym typeface="Quicksand Medium"/>
              </a:rPr>
              <a:t> </a:t>
            </a:r>
            <a:r>
              <a:rPr lang="en-US" sz="2044" b="1" dirty="0" err="1">
                <a:solidFill>
                  <a:srgbClr val="374F5F"/>
                </a:solidFill>
                <a:latin typeface="Quicksand Medium"/>
                <a:ea typeface="Quicksand Medium"/>
                <a:cs typeface="Quicksand Medium"/>
                <a:sym typeface="Quicksand Medium"/>
              </a:rPr>
              <a:t>dự</a:t>
            </a:r>
            <a:r>
              <a:rPr lang="en-US" sz="2044" b="1" dirty="0">
                <a:solidFill>
                  <a:srgbClr val="374F5F"/>
                </a:solidFill>
                <a:latin typeface="Quicksand Medium"/>
                <a:ea typeface="Quicksand Medium"/>
                <a:cs typeface="Quicksand Medium"/>
                <a:sym typeface="Quicksand Medium"/>
              </a:rPr>
              <a:t> </a:t>
            </a:r>
            <a:r>
              <a:rPr lang="en-US" sz="2044" b="1" dirty="0" err="1">
                <a:solidFill>
                  <a:srgbClr val="374F5F"/>
                </a:solidFill>
                <a:latin typeface="Quicksand Medium"/>
                <a:ea typeface="Quicksand Medium"/>
                <a:cs typeface="Quicksand Medium"/>
                <a:sym typeface="Quicksand Medium"/>
              </a:rPr>
              <a:t>báo</a:t>
            </a:r>
            <a:r>
              <a:rPr lang="en-US" sz="2044" b="1" dirty="0">
                <a:solidFill>
                  <a:srgbClr val="374F5F"/>
                </a:solidFill>
                <a:latin typeface="Quicksand Medium"/>
                <a:ea typeface="Quicksand Medium"/>
                <a:cs typeface="Quicksand Medium"/>
                <a:sym typeface="Quicksand Medium"/>
              </a:rPr>
              <a:t> </a:t>
            </a:r>
            <a:r>
              <a:rPr lang="en-US" sz="2044" b="1" dirty="0" err="1">
                <a:solidFill>
                  <a:srgbClr val="374F5F"/>
                </a:solidFill>
                <a:latin typeface="Quicksand Medium"/>
                <a:ea typeface="Quicksand Medium"/>
                <a:cs typeface="Quicksand Medium"/>
                <a:sym typeface="Quicksand Medium"/>
              </a:rPr>
              <a:t>sự</a:t>
            </a:r>
            <a:r>
              <a:rPr lang="en-US" sz="2044" b="1" dirty="0">
                <a:solidFill>
                  <a:srgbClr val="374F5F"/>
                </a:solidFill>
                <a:latin typeface="Quicksand Medium"/>
                <a:ea typeface="Quicksand Medium"/>
                <a:cs typeface="Quicksand Medium"/>
                <a:sym typeface="Quicksand Medium"/>
              </a:rPr>
              <a:t> </a:t>
            </a:r>
            <a:r>
              <a:rPr lang="en-US" sz="2044" b="1" dirty="0" err="1">
                <a:solidFill>
                  <a:srgbClr val="374F5F"/>
                </a:solidFill>
                <a:latin typeface="Quicksand Medium"/>
                <a:ea typeface="Quicksand Medium"/>
                <a:cs typeface="Quicksand Medium"/>
                <a:sym typeface="Quicksand Medium"/>
              </a:rPr>
              <a:t>cố</a:t>
            </a:r>
            <a:r>
              <a:rPr lang="en-US" sz="2044" b="1" dirty="0">
                <a:solidFill>
                  <a:srgbClr val="374F5F"/>
                </a:solidFill>
                <a:latin typeface="Quicksand Medium"/>
                <a:ea typeface="Quicksand Medium"/>
                <a:cs typeface="Quicksand Medium"/>
                <a:sym typeface="Quicksand Medium"/>
              </a:rPr>
              <a:t> </a:t>
            </a:r>
            <a:r>
              <a:rPr lang="en-US" sz="2044" b="1" dirty="0" err="1">
                <a:solidFill>
                  <a:srgbClr val="374F5F"/>
                </a:solidFill>
                <a:latin typeface="Quicksand Medium"/>
                <a:ea typeface="Quicksand Medium"/>
                <a:cs typeface="Quicksand Medium"/>
                <a:sym typeface="Quicksand Medium"/>
              </a:rPr>
              <a:t>giao</a:t>
            </a:r>
            <a:r>
              <a:rPr lang="en-US" sz="2044" b="1" dirty="0">
                <a:solidFill>
                  <a:srgbClr val="374F5F"/>
                </a:solidFill>
                <a:latin typeface="Quicksand Medium"/>
                <a:ea typeface="Quicksand Medium"/>
                <a:cs typeface="Quicksand Medium"/>
                <a:sym typeface="Quicksand Medium"/>
              </a:rPr>
              <a:t> </a:t>
            </a:r>
            <a:r>
              <a:rPr lang="en-US" sz="2044" b="1" dirty="0" err="1">
                <a:solidFill>
                  <a:srgbClr val="374F5F"/>
                </a:solidFill>
                <a:latin typeface="Quicksand Medium"/>
                <a:ea typeface="Quicksand Medium"/>
                <a:cs typeface="Quicksand Medium"/>
                <a:sym typeface="Quicksand Medium"/>
              </a:rPr>
              <a:t>thông</a:t>
            </a:r>
            <a:endParaRPr lang="en-US" sz="2044" b="1" dirty="0">
              <a:solidFill>
                <a:srgbClr val="374F5F"/>
              </a:solidFill>
              <a:latin typeface="Quicksand Medium"/>
              <a:ea typeface="Quicksand Medium"/>
              <a:cs typeface="Quicksand Medium"/>
              <a:sym typeface="Quicksand Medium"/>
            </a:endParaRPr>
          </a:p>
        </p:txBody>
      </p:sp>
      <p:sp>
        <p:nvSpPr>
          <p:cNvPr id="10" name="TextBox 10"/>
          <p:cNvSpPr txBox="1"/>
          <p:nvPr/>
        </p:nvSpPr>
        <p:spPr>
          <a:xfrm>
            <a:off x="10687958" y="5249365"/>
            <a:ext cx="3498786" cy="380297"/>
          </a:xfrm>
          <a:prstGeom prst="rect">
            <a:avLst/>
          </a:prstGeom>
        </p:spPr>
        <p:txBody>
          <a:bodyPr lIns="0" tIns="0" rIns="0" bIns="0" rtlCol="0" anchor="t">
            <a:spAutoFit/>
          </a:bodyPr>
          <a:lstStyle/>
          <a:p>
            <a:pPr algn="l">
              <a:lnSpc>
                <a:spcPts val="3270"/>
              </a:lnSpc>
            </a:pPr>
            <a:r>
              <a:rPr lang="en-US" sz="2044" b="1" dirty="0" err="1">
                <a:solidFill>
                  <a:srgbClr val="374F5F"/>
                </a:solidFill>
                <a:latin typeface="Quicksand Medium"/>
                <a:ea typeface="Quicksand Medium"/>
                <a:cs typeface="Quicksand Medium"/>
                <a:sym typeface="Quicksand Medium"/>
              </a:rPr>
              <a:t>Áp</a:t>
            </a:r>
            <a:r>
              <a:rPr lang="en-US" sz="2044" b="1" dirty="0">
                <a:solidFill>
                  <a:srgbClr val="374F5F"/>
                </a:solidFill>
                <a:latin typeface="Quicksand Medium"/>
                <a:ea typeface="Quicksand Medium"/>
                <a:cs typeface="Quicksand Medium"/>
                <a:sym typeface="Quicksand Medium"/>
              </a:rPr>
              <a:t> </a:t>
            </a:r>
            <a:r>
              <a:rPr lang="en-US" sz="2044" b="1" dirty="0" err="1">
                <a:solidFill>
                  <a:srgbClr val="374F5F"/>
                </a:solidFill>
                <a:latin typeface="Quicksand Medium"/>
                <a:ea typeface="Quicksand Medium"/>
                <a:cs typeface="Quicksand Medium"/>
                <a:sym typeface="Quicksand Medium"/>
              </a:rPr>
              <a:t>dụng</a:t>
            </a:r>
            <a:r>
              <a:rPr lang="en-US" sz="2044" b="1" dirty="0">
                <a:solidFill>
                  <a:srgbClr val="374F5F"/>
                </a:solidFill>
                <a:latin typeface="Quicksand Medium"/>
                <a:ea typeface="Quicksand Medium"/>
                <a:cs typeface="Quicksand Medium"/>
                <a:sym typeface="Quicksand Medium"/>
              </a:rPr>
              <a:t> </a:t>
            </a:r>
            <a:r>
              <a:rPr lang="en-US" sz="2044" b="1" dirty="0" err="1">
                <a:solidFill>
                  <a:srgbClr val="374F5F"/>
                </a:solidFill>
                <a:latin typeface="Quicksand Medium"/>
                <a:ea typeface="Quicksand Medium"/>
                <a:cs typeface="Quicksand Medium"/>
                <a:sym typeface="Quicksand Medium"/>
              </a:rPr>
              <a:t>trong</a:t>
            </a:r>
            <a:r>
              <a:rPr lang="en-US" sz="2044" b="1" dirty="0">
                <a:solidFill>
                  <a:srgbClr val="374F5F"/>
                </a:solidFill>
                <a:latin typeface="Quicksand Medium"/>
                <a:ea typeface="Quicksand Medium"/>
                <a:cs typeface="Quicksand Medium"/>
                <a:sym typeface="Quicksand Medium"/>
              </a:rPr>
              <a:t> </a:t>
            </a:r>
            <a:r>
              <a:rPr lang="en-US" sz="2044" b="1" dirty="0" err="1">
                <a:solidFill>
                  <a:srgbClr val="374F5F"/>
                </a:solidFill>
                <a:latin typeface="Quicksand Medium"/>
                <a:ea typeface="Quicksand Medium"/>
                <a:cs typeface="Quicksand Medium"/>
                <a:sym typeface="Quicksand Medium"/>
              </a:rPr>
              <a:t>bài</a:t>
            </a:r>
            <a:r>
              <a:rPr lang="en-US" sz="2044" b="1" dirty="0">
                <a:solidFill>
                  <a:srgbClr val="374F5F"/>
                </a:solidFill>
                <a:latin typeface="Quicksand Medium"/>
                <a:ea typeface="Quicksand Medium"/>
                <a:cs typeface="Quicksand Medium"/>
                <a:sym typeface="Quicksand Medium"/>
              </a:rPr>
              <a:t> </a:t>
            </a:r>
            <a:r>
              <a:rPr lang="en-US" sz="2044" b="1" dirty="0" err="1">
                <a:solidFill>
                  <a:srgbClr val="374F5F"/>
                </a:solidFill>
                <a:latin typeface="Quicksand Medium"/>
                <a:ea typeface="Quicksand Medium"/>
                <a:cs typeface="Quicksand Medium"/>
                <a:sym typeface="Quicksand Medium"/>
              </a:rPr>
              <a:t>toán</a:t>
            </a:r>
            <a:endParaRPr lang="en-US" sz="2044" b="1" dirty="0">
              <a:solidFill>
                <a:srgbClr val="374F5F"/>
              </a:solidFill>
              <a:latin typeface="Quicksand Medium"/>
              <a:ea typeface="Quicksand Medium"/>
              <a:cs typeface="Quicksand Medium"/>
              <a:sym typeface="Quicksand Medium"/>
            </a:endParaRPr>
          </a:p>
        </p:txBody>
      </p:sp>
      <p:sp>
        <p:nvSpPr>
          <p:cNvPr id="11" name="Freeform 11"/>
          <p:cNvSpPr/>
          <p:nvPr/>
        </p:nvSpPr>
        <p:spPr>
          <a:xfrm rot="-7020582">
            <a:off x="-3178768" y="7548377"/>
            <a:ext cx="8797390" cy="5022510"/>
          </a:xfrm>
          <a:custGeom>
            <a:avLst/>
            <a:gdLst/>
            <a:ahLst/>
            <a:cxnLst/>
            <a:rect l="l" t="t" r="r" b="b"/>
            <a:pathLst>
              <a:path w="8797390" h="5022510">
                <a:moveTo>
                  <a:pt x="0" y="0"/>
                </a:moveTo>
                <a:lnTo>
                  <a:pt x="8797390" y="0"/>
                </a:lnTo>
                <a:lnTo>
                  <a:pt x="8797390" y="5022509"/>
                </a:lnTo>
                <a:lnTo>
                  <a:pt x="0" y="502250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grpSp>
        <p:nvGrpSpPr>
          <p:cNvPr id="12" name="Group 12"/>
          <p:cNvGrpSpPr/>
          <p:nvPr/>
        </p:nvGrpSpPr>
        <p:grpSpPr>
          <a:xfrm>
            <a:off x="9372600" y="3691839"/>
            <a:ext cx="1049339" cy="1053168"/>
            <a:chOff x="0" y="0"/>
            <a:chExt cx="1399118" cy="1404225"/>
          </a:xfrm>
        </p:grpSpPr>
        <p:sp>
          <p:nvSpPr>
            <p:cNvPr id="13" name="Freeform 13"/>
            <p:cNvSpPr/>
            <p:nvPr/>
          </p:nvSpPr>
          <p:spPr>
            <a:xfrm>
              <a:off x="0" y="0"/>
              <a:ext cx="1399118" cy="1404225"/>
            </a:xfrm>
            <a:custGeom>
              <a:avLst/>
              <a:gdLst/>
              <a:ahLst/>
              <a:cxnLst/>
              <a:rect l="l" t="t" r="r" b="b"/>
              <a:pathLst>
                <a:path w="1399118" h="1404225">
                  <a:moveTo>
                    <a:pt x="0" y="0"/>
                  </a:moveTo>
                  <a:lnTo>
                    <a:pt x="1399118" y="0"/>
                  </a:lnTo>
                  <a:lnTo>
                    <a:pt x="1399118" y="1404225"/>
                  </a:lnTo>
                  <a:lnTo>
                    <a:pt x="0" y="140422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4" name="TextBox 14"/>
            <p:cNvSpPr txBox="1"/>
            <p:nvPr/>
          </p:nvSpPr>
          <p:spPr>
            <a:xfrm>
              <a:off x="82517" y="256072"/>
              <a:ext cx="1234084" cy="1088278"/>
            </a:xfrm>
            <a:prstGeom prst="rect">
              <a:avLst/>
            </a:prstGeom>
          </p:spPr>
          <p:txBody>
            <a:bodyPr lIns="0" tIns="0" rIns="0" bIns="0" rtlCol="0" anchor="t">
              <a:spAutoFit/>
            </a:bodyPr>
            <a:lstStyle/>
            <a:p>
              <a:pPr algn="ctr">
                <a:lnSpc>
                  <a:spcPts val="6343"/>
                </a:lnSpc>
              </a:pPr>
              <a:r>
                <a:rPr lang="en-US" sz="5421" b="1">
                  <a:solidFill>
                    <a:srgbClr val="FFFFFF"/>
                  </a:solidFill>
                  <a:latin typeface="TT Backwards Bold"/>
                  <a:ea typeface="TT Backwards Bold"/>
                  <a:cs typeface="TT Backwards Bold"/>
                  <a:sym typeface="TT Backwards Bold"/>
                </a:rPr>
                <a:t>2</a:t>
              </a:r>
            </a:p>
          </p:txBody>
        </p:sp>
      </p:grpSp>
      <p:grpSp>
        <p:nvGrpSpPr>
          <p:cNvPr id="15" name="Group 15"/>
          <p:cNvGrpSpPr/>
          <p:nvPr/>
        </p:nvGrpSpPr>
        <p:grpSpPr>
          <a:xfrm>
            <a:off x="4177844" y="3739014"/>
            <a:ext cx="1049339" cy="1053168"/>
            <a:chOff x="0" y="0"/>
            <a:chExt cx="1399118" cy="1404225"/>
          </a:xfrm>
        </p:grpSpPr>
        <p:sp>
          <p:nvSpPr>
            <p:cNvPr id="16" name="Freeform 16"/>
            <p:cNvSpPr/>
            <p:nvPr/>
          </p:nvSpPr>
          <p:spPr>
            <a:xfrm>
              <a:off x="0" y="0"/>
              <a:ext cx="1399118" cy="1404225"/>
            </a:xfrm>
            <a:custGeom>
              <a:avLst/>
              <a:gdLst/>
              <a:ahLst/>
              <a:cxnLst/>
              <a:rect l="l" t="t" r="r" b="b"/>
              <a:pathLst>
                <a:path w="1399118" h="1404225">
                  <a:moveTo>
                    <a:pt x="0" y="0"/>
                  </a:moveTo>
                  <a:lnTo>
                    <a:pt x="1399118" y="0"/>
                  </a:lnTo>
                  <a:lnTo>
                    <a:pt x="1399118" y="1404225"/>
                  </a:lnTo>
                  <a:lnTo>
                    <a:pt x="0" y="140422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7" name="TextBox 17"/>
            <p:cNvSpPr txBox="1"/>
            <p:nvPr/>
          </p:nvSpPr>
          <p:spPr>
            <a:xfrm>
              <a:off x="82517" y="256072"/>
              <a:ext cx="1234084" cy="1088278"/>
            </a:xfrm>
            <a:prstGeom prst="rect">
              <a:avLst/>
            </a:prstGeom>
          </p:spPr>
          <p:txBody>
            <a:bodyPr lIns="0" tIns="0" rIns="0" bIns="0" rtlCol="0" anchor="t">
              <a:spAutoFit/>
            </a:bodyPr>
            <a:lstStyle/>
            <a:p>
              <a:pPr algn="ctr">
                <a:lnSpc>
                  <a:spcPts val="6343"/>
                </a:lnSpc>
              </a:pPr>
              <a:r>
                <a:rPr lang="en-US" sz="5421" b="1">
                  <a:solidFill>
                    <a:srgbClr val="FFFFFF"/>
                  </a:solidFill>
                  <a:latin typeface="TT Backwards Bold"/>
                  <a:ea typeface="TT Backwards Bold"/>
                  <a:cs typeface="TT Backwards Bold"/>
                  <a:sym typeface="TT Backwards Bold"/>
                </a:rPr>
                <a:t>1</a:t>
              </a:r>
            </a:p>
          </p:txBody>
        </p:sp>
      </p:grpSp>
      <p:grpSp>
        <p:nvGrpSpPr>
          <p:cNvPr id="18" name="Group 18"/>
          <p:cNvGrpSpPr/>
          <p:nvPr/>
        </p:nvGrpSpPr>
        <p:grpSpPr>
          <a:xfrm>
            <a:off x="9372600" y="5133206"/>
            <a:ext cx="1049339" cy="1053168"/>
            <a:chOff x="0" y="0"/>
            <a:chExt cx="1399118" cy="1404225"/>
          </a:xfrm>
        </p:grpSpPr>
        <p:sp>
          <p:nvSpPr>
            <p:cNvPr id="19" name="Freeform 19"/>
            <p:cNvSpPr/>
            <p:nvPr/>
          </p:nvSpPr>
          <p:spPr>
            <a:xfrm>
              <a:off x="0" y="0"/>
              <a:ext cx="1399118" cy="1404225"/>
            </a:xfrm>
            <a:custGeom>
              <a:avLst/>
              <a:gdLst/>
              <a:ahLst/>
              <a:cxnLst/>
              <a:rect l="l" t="t" r="r" b="b"/>
              <a:pathLst>
                <a:path w="1399118" h="1404225">
                  <a:moveTo>
                    <a:pt x="0" y="0"/>
                  </a:moveTo>
                  <a:lnTo>
                    <a:pt x="1399118" y="0"/>
                  </a:lnTo>
                  <a:lnTo>
                    <a:pt x="1399118" y="1404225"/>
                  </a:lnTo>
                  <a:lnTo>
                    <a:pt x="0" y="140422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0" name="TextBox 20"/>
            <p:cNvSpPr txBox="1"/>
            <p:nvPr/>
          </p:nvSpPr>
          <p:spPr>
            <a:xfrm>
              <a:off x="82517" y="256072"/>
              <a:ext cx="1234084" cy="1088278"/>
            </a:xfrm>
            <a:prstGeom prst="rect">
              <a:avLst/>
            </a:prstGeom>
          </p:spPr>
          <p:txBody>
            <a:bodyPr lIns="0" tIns="0" rIns="0" bIns="0" rtlCol="0" anchor="t">
              <a:spAutoFit/>
            </a:bodyPr>
            <a:lstStyle/>
            <a:p>
              <a:pPr algn="ctr">
                <a:lnSpc>
                  <a:spcPts val="6343"/>
                </a:lnSpc>
              </a:pPr>
              <a:r>
                <a:rPr lang="en-US" sz="5421" b="1">
                  <a:solidFill>
                    <a:srgbClr val="FFFFFF"/>
                  </a:solidFill>
                  <a:latin typeface="TT Backwards Bold"/>
                  <a:ea typeface="TT Backwards Bold"/>
                  <a:cs typeface="TT Backwards Bold"/>
                  <a:sym typeface="TT Backwards Bold"/>
                </a:rPr>
                <a:t>4</a:t>
              </a:r>
            </a:p>
          </p:txBody>
        </p:sp>
      </p:grpSp>
      <p:sp>
        <p:nvSpPr>
          <p:cNvPr id="21" name="Freeform 21"/>
          <p:cNvSpPr/>
          <p:nvPr/>
        </p:nvSpPr>
        <p:spPr>
          <a:xfrm rot="-8730445">
            <a:off x="14504410" y="7547920"/>
            <a:ext cx="5509779" cy="4938766"/>
          </a:xfrm>
          <a:custGeom>
            <a:avLst/>
            <a:gdLst/>
            <a:ahLst/>
            <a:cxnLst/>
            <a:rect l="l" t="t" r="r" b="b"/>
            <a:pathLst>
              <a:path w="5509779" h="4938766">
                <a:moveTo>
                  <a:pt x="0" y="0"/>
                </a:moveTo>
                <a:lnTo>
                  <a:pt x="5509780" y="0"/>
                </a:lnTo>
                <a:lnTo>
                  <a:pt x="5509780" y="4938766"/>
                </a:lnTo>
                <a:lnTo>
                  <a:pt x="0" y="4938766"/>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22" name="Freeform 22"/>
          <p:cNvSpPr/>
          <p:nvPr/>
        </p:nvSpPr>
        <p:spPr>
          <a:xfrm>
            <a:off x="-1537940" y="-2523087"/>
            <a:ext cx="4887620" cy="4381085"/>
          </a:xfrm>
          <a:custGeom>
            <a:avLst/>
            <a:gdLst/>
            <a:ahLst/>
            <a:cxnLst/>
            <a:rect l="l" t="t" r="r" b="b"/>
            <a:pathLst>
              <a:path w="4887620" h="4381085">
                <a:moveTo>
                  <a:pt x="0" y="0"/>
                </a:moveTo>
                <a:lnTo>
                  <a:pt x="4887620" y="0"/>
                </a:lnTo>
                <a:lnTo>
                  <a:pt x="4887620" y="4381085"/>
                </a:lnTo>
                <a:lnTo>
                  <a:pt x="0" y="4381085"/>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grpSp>
        <p:nvGrpSpPr>
          <p:cNvPr id="23" name="Group 2">
            <a:extLst>
              <a:ext uri="{FF2B5EF4-FFF2-40B4-BE49-F238E27FC236}">
                <a16:creationId xmlns:a16="http://schemas.microsoft.com/office/drawing/2014/main" id="{21544403-298D-455D-8203-AAECCA806D9B}"/>
              </a:ext>
            </a:extLst>
          </p:cNvPr>
          <p:cNvGrpSpPr/>
          <p:nvPr/>
        </p:nvGrpSpPr>
        <p:grpSpPr>
          <a:xfrm>
            <a:off x="4181736" y="6546401"/>
            <a:ext cx="1049339" cy="1053168"/>
            <a:chOff x="0" y="0"/>
            <a:chExt cx="1399118" cy="1404225"/>
          </a:xfrm>
        </p:grpSpPr>
        <p:sp>
          <p:nvSpPr>
            <p:cNvPr id="24" name="Freeform 3">
              <a:extLst>
                <a:ext uri="{FF2B5EF4-FFF2-40B4-BE49-F238E27FC236}">
                  <a16:creationId xmlns:a16="http://schemas.microsoft.com/office/drawing/2014/main" id="{B225E98B-C5EB-460D-8712-261E00DE64A4}"/>
                </a:ext>
              </a:extLst>
            </p:cNvPr>
            <p:cNvSpPr/>
            <p:nvPr/>
          </p:nvSpPr>
          <p:spPr>
            <a:xfrm>
              <a:off x="0" y="0"/>
              <a:ext cx="1399118" cy="1404225"/>
            </a:xfrm>
            <a:custGeom>
              <a:avLst/>
              <a:gdLst/>
              <a:ahLst/>
              <a:cxnLst/>
              <a:rect l="l" t="t" r="r" b="b"/>
              <a:pathLst>
                <a:path w="1399118" h="1404225">
                  <a:moveTo>
                    <a:pt x="0" y="0"/>
                  </a:moveTo>
                  <a:lnTo>
                    <a:pt x="1399118" y="0"/>
                  </a:lnTo>
                  <a:lnTo>
                    <a:pt x="1399118" y="1404225"/>
                  </a:lnTo>
                  <a:lnTo>
                    <a:pt x="0" y="140422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5" name="TextBox 4">
              <a:extLst>
                <a:ext uri="{FF2B5EF4-FFF2-40B4-BE49-F238E27FC236}">
                  <a16:creationId xmlns:a16="http://schemas.microsoft.com/office/drawing/2014/main" id="{9396D80F-9774-42A2-AA54-E2BF382B1E06}"/>
                </a:ext>
              </a:extLst>
            </p:cNvPr>
            <p:cNvSpPr txBox="1"/>
            <p:nvPr/>
          </p:nvSpPr>
          <p:spPr>
            <a:xfrm>
              <a:off x="82517" y="256072"/>
              <a:ext cx="1234084" cy="1088278"/>
            </a:xfrm>
            <a:prstGeom prst="rect">
              <a:avLst/>
            </a:prstGeom>
          </p:spPr>
          <p:txBody>
            <a:bodyPr lIns="0" tIns="0" rIns="0" bIns="0" rtlCol="0" anchor="t">
              <a:spAutoFit/>
            </a:bodyPr>
            <a:lstStyle/>
            <a:p>
              <a:pPr algn="ctr">
                <a:lnSpc>
                  <a:spcPts val="6343"/>
                </a:lnSpc>
              </a:pPr>
              <a:r>
                <a:rPr lang="en-US" sz="5421" b="1" dirty="0">
                  <a:solidFill>
                    <a:srgbClr val="FFFFFF"/>
                  </a:solidFill>
                  <a:latin typeface="TT Backwards Bold"/>
                  <a:ea typeface="TT Backwards Bold"/>
                  <a:cs typeface="TT Backwards Bold"/>
                  <a:sym typeface="TT Backwards Bold"/>
                </a:rPr>
                <a:t>5</a:t>
              </a:r>
            </a:p>
          </p:txBody>
        </p:sp>
      </p:grpSp>
      <p:sp>
        <p:nvSpPr>
          <p:cNvPr id="26" name="TextBox 9">
            <a:extLst>
              <a:ext uri="{FF2B5EF4-FFF2-40B4-BE49-F238E27FC236}">
                <a16:creationId xmlns:a16="http://schemas.microsoft.com/office/drawing/2014/main" id="{1F4B7E14-5F56-45EB-B1C7-952A30DFB99F}"/>
              </a:ext>
            </a:extLst>
          </p:cNvPr>
          <p:cNvSpPr txBox="1"/>
          <p:nvPr/>
        </p:nvSpPr>
        <p:spPr>
          <a:xfrm>
            <a:off x="5497094" y="6635044"/>
            <a:ext cx="3498786" cy="803490"/>
          </a:xfrm>
          <a:prstGeom prst="rect">
            <a:avLst/>
          </a:prstGeom>
        </p:spPr>
        <p:txBody>
          <a:bodyPr lIns="0" tIns="0" rIns="0" bIns="0" rtlCol="0" anchor="t">
            <a:spAutoFit/>
          </a:bodyPr>
          <a:lstStyle/>
          <a:p>
            <a:pPr algn="l">
              <a:lnSpc>
                <a:spcPts val="3270"/>
              </a:lnSpc>
            </a:pPr>
            <a:r>
              <a:rPr lang="en-US" sz="2044" b="1" dirty="0" err="1">
                <a:solidFill>
                  <a:srgbClr val="374F5F"/>
                </a:solidFill>
                <a:latin typeface="Quicksand Medium"/>
                <a:ea typeface="Quicksand Medium"/>
                <a:cs typeface="Quicksand Medium"/>
                <a:sym typeface="Quicksand Medium"/>
              </a:rPr>
              <a:t>Kết</a:t>
            </a:r>
            <a:r>
              <a:rPr lang="en-US" sz="2044" b="1" dirty="0">
                <a:solidFill>
                  <a:srgbClr val="374F5F"/>
                </a:solidFill>
                <a:latin typeface="Quicksand Medium"/>
                <a:ea typeface="Quicksand Medium"/>
                <a:cs typeface="Quicksand Medium"/>
                <a:sym typeface="Quicksand Medium"/>
              </a:rPr>
              <a:t> </a:t>
            </a:r>
            <a:r>
              <a:rPr lang="en-US" sz="2044" b="1" dirty="0" err="1">
                <a:solidFill>
                  <a:srgbClr val="374F5F"/>
                </a:solidFill>
                <a:latin typeface="Quicksand Medium"/>
                <a:ea typeface="Quicksand Medium"/>
                <a:cs typeface="Quicksand Medium"/>
                <a:sym typeface="Quicksand Medium"/>
              </a:rPr>
              <a:t>luận</a:t>
            </a:r>
            <a:r>
              <a:rPr lang="en-US" sz="2044" b="1" dirty="0">
                <a:solidFill>
                  <a:srgbClr val="374F5F"/>
                </a:solidFill>
                <a:latin typeface="Quicksand Medium"/>
                <a:ea typeface="Quicksand Medium"/>
                <a:cs typeface="Quicksand Medium"/>
                <a:sym typeface="Quicksand Medium"/>
              </a:rPr>
              <a:t> </a:t>
            </a:r>
            <a:r>
              <a:rPr lang="en-US" sz="2044" b="1" dirty="0" err="1">
                <a:solidFill>
                  <a:srgbClr val="374F5F"/>
                </a:solidFill>
                <a:latin typeface="Quicksand Medium"/>
                <a:ea typeface="Quicksand Medium"/>
                <a:cs typeface="Quicksand Medium"/>
                <a:sym typeface="Quicksand Medium"/>
              </a:rPr>
              <a:t>và</a:t>
            </a:r>
            <a:r>
              <a:rPr lang="en-US" sz="2044" b="1" dirty="0">
                <a:solidFill>
                  <a:srgbClr val="374F5F"/>
                </a:solidFill>
                <a:latin typeface="Quicksand Medium"/>
                <a:ea typeface="Quicksand Medium"/>
                <a:cs typeface="Quicksand Medium"/>
                <a:sym typeface="Quicksand Medium"/>
              </a:rPr>
              <a:t> </a:t>
            </a:r>
            <a:r>
              <a:rPr lang="en-US" sz="2044" b="1" dirty="0" err="1">
                <a:solidFill>
                  <a:srgbClr val="374F5F"/>
                </a:solidFill>
                <a:latin typeface="Quicksand Medium"/>
                <a:ea typeface="Quicksand Medium"/>
                <a:cs typeface="Quicksand Medium"/>
                <a:sym typeface="Quicksand Medium"/>
              </a:rPr>
              <a:t>hướng</a:t>
            </a:r>
            <a:r>
              <a:rPr lang="en-US" sz="2044" b="1" dirty="0">
                <a:solidFill>
                  <a:srgbClr val="374F5F"/>
                </a:solidFill>
                <a:latin typeface="Quicksand Medium"/>
                <a:ea typeface="Quicksand Medium"/>
                <a:cs typeface="Quicksand Medium"/>
                <a:sym typeface="Quicksand Medium"/>
              </a:rPr>
              <a:t> </a:t>
            </a:r>
            <a:r>
              <a:rPr lang="en-US" sz="2044" b="1" dirty="0" err="1">
                <a:solidFill>
                  <a:srgbClr val="374F5F"/>
                </a:solidFill>
                <a:latin typeface="Quicksand Medium"/>
                <a:ea typeface="Quicksand Medium"/>
                <a:cs typeface="Quicksand Medium"/>
                <a:sym typeface="Quicksand Medium"/>
              </a:rPr>
              <a:t>phát</a:t>
            </a:r>
            <a:r>
              <a:rPr lang="en-US" sz="2044" b="1" dirty="0">
                <a:solidFill>
                  <a:srgbClr val="374F5F"/>
                </a:solidFill>
                <a:latin typeface="Quicksand Medium"/>
                <a:ea typeface="Quicksand Medium"/>
                <a:cs typeface="Quicksand Medium"/>
                <a:sym typeface="Quicksand Medium"/>
              </a:rPr>
              <a:t> </a:t>
            </a:r>
            <a:r>
              <a:rPr lang="en-US" sz="2044" b="1" dirty="0" err="1">
                <a:solidFill>
                  <a:srgbClr val="374F5F"/>
                </a:solidFill>
                <a:latin typeface="Quicksand Medium"/>
                <a:ea typeface="Quicksand Medium"/>
                <a:cs typeface="Quicksand Medium"/>
                <a:sym typeface="Quicksand Medium"/>
              </a:rPr>
              <a:t>triển</a:t>
            </a:r>
            <a:endParaRPr lang="en-US" sz="2044" b="1" dirty="0">
              <a:solidFill>
                <a:srgbClr val="374F5F"/>
              </a:solidFill>
              <a:latin typeface="Quicksand Medium"/>
              <a:ea typeface="Quicksand Medium"/>
              <a:cs typeface="Quicksand Medium"/>
              <a:sym typeface="Quicksand Medium"/>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321771"/>
            <a:ext cx="13836268" cy="1177002"/>
          </a:xfrm>
          <a:prstGeom prst="rect">
            <a:avLst/>
          </a:prstGeom>
        </p:spPr>
        <p:txBody>
          <a:bodyPr lIns="0" tIns="0" rIns="0" bIns="0" rtlCol="0" anchor="t">
            <a:spAutoFit/>
          </a:bodyPr>
          <a:lstStyle/>
          <a:p>
            <a:pPr algn="just">
              <a:lnSpc>
                <a:spcPts val="9675"/>
              </a:lnSpc>
              <a:spcBef>
                <a:spcPct val="0"/>
              </a:spcBef>
            </a:pPr>
            <a:r>
              <a:rPr lang="en-US" sz="6911" b="1" dirty="0">
                <a:solidFill>
                  <a:srgbClr val="203847"/>
                </a:solidFill>
                <a:latin typeface="Quicksand Medium" panose="020B0604020202020204" charset="0"/>
                <a:ea typeface="Quicksand Semi-Bold"/>
                <a:cs typeface="Quicksand Semi-Bold"/>
                <a:sym typeface="Quicksand Semi-Bold"/>
              </a:rPr>
              <a:t>1. </a:t>
            </a:r>
            <a:r>
              <a:rPr lang="en-US" sz="6911" b="1" dirty="0" err="1">
                <a:solidFill>
                  <a:srgbClr val="203847"/>
                </a:solidFill>
                <a:latin typeface="Quicksand Medium" panose="020B0604020202020204" charset="0"/>
                <a:ea typeface="Quicksand Semi-Bold"/>
                <a:cs typeface="Quicksand Semi-Bold"/>
                <a:sym typeface="Quicksand Semi-Bold"/>
              </a:rPr>
              <a:t>Giới</a:t>
            </a:r>
            <a:r>
              <a:rPr lang="en-US" sz="6911" b="1" dirty="0">
                <a:solidFill>
                  <a:srgbClr val="203847"/>
                </a:solidFill>
                <a:latin typeface="Quicksand Medium" panose="020B0604020202020204" charset="0"/>
                <a:ea typeface="Quicksand Semi-Bold"/>
                <a:cs typeface="Quicksand Semi-Bold"/>
                <a:sym typeface="Quicksand Semi-Bold"/>
              </a:rPr>
              <a:t> </a:t>
            </a:r>
            <a:r>
              <a:rPr lang="en-US" sz="6911" b="1" dirty="0" err="1">
                <a:solidFill>
                  <a:srgbClr val="203847"/>
                </a:solidFill>
                <a:latin typeface="Quicksand Medium" panose="020B0604020202020204" charset="0"/>
                <a:ea typeface="Quicksand Semi-Bold"/>
                <a:cs typeface="Quicksand Semi-Bold"/>
                <a:sym typeface="Quicksand Semi-Bold"/>
              </a:rPr>
              <a:t>thiệu</a:t>
            </a:r>
            <a:r>
              <a:rPr lang="en-US" sz="6911" b="1" dirty="0">
                <a:solidFill>
                  <a:srgbClr val="203847"/>
                </a:solidFill>
                <a:latin typeface="Quicksand Medium" panose="020B0604020202020204" charset="0"/>
                <a:ea typeface="Quicksand Semi-Bold"/>
                <a:cs typeface="Quicksand Semi-Bold"/>
                <a:sym typeface="Quicksand Semi-Bold"/>
              </a:rPr>
              <a:t> </a:t>
            </a:r>
            <a:r>
              <a:rPr lang="en-US" sz="6911" b="1" dirty="0" err="1">
                <a:solidFill>
                  <a:srgbClr val="203847"/>
                </a:solidFill>
                <a:latin typeface="Quicksand Medium" panose="020B0604020202020204" charset="0"/>
                <a:ea typeface="Quicksand Semi-Bold"/>
                <a:cs typeface="Quicksand Semi-Bold"/>
                <a:sym typeface="Quicksand Semi-Bold"/>
              </a:rPr>
              <a:t>chung</a:t>
            </a:r>
            <a:endParaRPr lang="en-US" sz="6911" b="1" dirty="0">
              <a:solidFill>
                <a:srgbClr val="203847"/>
              </a:solidFill>
              <a:latin typeface="Quicksand Medium" panose="020B0604020202020204" charset="0"/>
              <a:ea typeface="Quicksand Semi-Bold"/>
              <a:cs typeface="Quicksand Semi-Bold"/>
              <a:sym typeface="Quicksand Semi-Bold"/>
            </a:endParaRPr>
          </a:p>
        </p:txBody>
      </p:sp>
      <p:sp>
        <p:nvSpPr>
          <p:cNvPr id="3" name="Freeform 3"/>
          <p:cNvSpPr/>
          <p:nvPr/>
        </p:nvSpPr>
        <p:spPr>
          <a:xfrm rot="2426758">
            <a:off x="11681014" y="-2835641"/>
            <a:ext cx="8782363" cy="5013931"/>
          </a:xfrm>
          <a:custGeom>
            <a:avLst/>
            <a:gdLst/>
            <a:ahLst/>
            <a:cxnLst/>
            <a:rect l="l" t="t" r="r" b="b"/>
            <a:pathLst>
              <a:path w="8782363" h="5013931">
                <a:moveTo>
                  <a:pt x="0" y="0"/>
                </a:moveTo>
                <a:lnTo>
                  <a:pt x="8782362" y="0"/>
                </a:lnTo>
                <a:lnTo>
                  <a:pt x="8782362" y="5013931"/>
                </a:lnTo>
                <a:lnTo>
                  <a:pt x="0" y="501393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4" name="Group 4"/>
          <p:cNvGrpSpPr/>
          <p:nvPr/>
        </p:nvGrpSpPr>
        <p:grpSpPr>
          <a:xfrm>
            <a:off x="-608680" y="9258300"/>
            <a:ext cx="19505361" cy="15817074"/>
            <a:chOff x="0" y="0"/>
            <a:chExt cx="26007147" cy="21089432"/>
          </a:xfrm>
        </p:grpSpPr>
        <p:grpSp>
          <p:nvGrpSpPr>
            <p:cNvPr id="5" name="Group 5"/>
            <p:cNvGrpSpPr/>
            <p:nvPr/>
          </p:nvGrpSpPr>
          <p:grpSpPr>
            <a:xfrm rot="-5400000">
              <a:off x="7701470" y="-7701470"/>
              <a:ext cx="10544716" cy="25947656"/>
              <a:chOff x="0" y="0"/>
              <a:chExt cx="1272376" cy="3130969"/>
            </a:xfrm>
          </p:grpSpPr>
          <p:sp>
            <p:nvSpPr>
              <p:cNvPr id="6" name="Freeform 6"/>
              <p:cNvSpPr/>
              <p:nvPr/>
            </p:nvSpPr>
            <p:spPr>
              <a:xfrm>
                <a:off x="0" y="0"/>
                <a:ext cx="1272376" cy="3130969"/>
              </a:xfrm>
              <a:custGeom>
                <a:avLst/>
                <a:gdLst/>
                <a:ahLst/>
                <a:cxnLst/>
                <a:rect l="l" t="t" r="r" b="b"/>
                <a:pathLst>
                  <a:path w="1272376" h="3130969">
                    <a:moveTo>
                      <a:pt x="0" y="0"/>
                    </a:moveTo>
                    <a:lnTo>
                      <a:pt x="1272376" y="0"/>
                    </a:lnTo>
                    <a:lnTo>
                      <a:pt x="1272376" y="3130969"/>
                    </a:lnTo>
                    <a:lnTo>
                      <a:pt x="0" y="3130969"/>
                    </a:lnTo>
                    <a:close/>
                  </a:path>
                </a:pathLst>
              </a:custGeom>
              <a:solidFill>
                <a:srgbClr val="476376"/>
              </a:solidFill>
            </p:spPr>
          </p:sp>
          <p:sp>
            <p:nvSpPr>
              <p:cNvPr id="7" name="TextBox 7"/>
              <p:cNvSpPr txBox="1"/>
              <p:nvPr/>
            </p:nvSpPr>
            <p:spPr>
              <a:xfrm>
                <a:off x="0" y="-114300"/>
                <a:ext cx="1272376" cy="3245269"/>
              </a:xfrm>
              <a:prstGeom prst="rect">
                <a:avLst/>
              </a:prstGeom>
            </p:spPr>
            <p:txBody>
              <a:bodyPr lIns="50800" tIns="50800" rIns="50800" bIns="50800" rtlCol="0" anchor="ctr"/>
              <a:lstStyle/>
              <a:p>
                <a:pPr algn="ctr">
                  <a:lnSpc>
                    <a:spcPts val="3765"/>
                  </a:lnSpc>
                </a:pPr>
                <a:endParaRPr/>
              </a:p>
            </p:txBody>
          </p:sp>
        </p:grpSp>
        <p:sp>
          <p:nvSpPr>
            <p:cNvPr id="8" name="Freeform 8"/>
            <p:cNvSpPr/>
            <p:nvPr/>
          </p:nvSpPr>
          <p:spPr>
            <a:xfrm rot="-5400000">
              <a:off x="2458858" y="-2458858"/>
              <a:ext cx="21089432" cy="26007147"/>
            </a:xfrm>
            <a:custGeom>
              <a:avLst/>
              <a:gdLst/>
              <a:ahLst/>
              <a:cxnLst/>
              <a:rect l="l" t="t" r="r" b="b"/>
              <a:pathLst>
                <a:path w="21089432" h="26007147">
                  <a:moveTo>
                    <a:pt x="0" y="0"/>
                  </a:moveTo>
                  <a:lnTo>
                    <a:pt x="21089432" y="0"/>
                  </a:lnTo>
                  <a:lnTo>
                    <a:pt x="21089432" y="26007148"/>
                  </a:lnTo>
                  <a:lnTo>
                    <a:pt x="0" y="2600714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sp>
        <p:nvSpPr>
          <p:cNvPr id="10" name="TextBox 10"/>
          <p:cNvSpPr txBox="1"/>
          <p:nvPr/>
        </p:nvSpPr>
        <p:spPr>
          <a:xfrm>
            <a:off x="1028700" y="2092911"/>
            <a:ext cx="15636174" cy="4811317"/>
          </a:xfrm>
          <a:prstGeom prst="rect">
            <a:avLst/>
          </a:prstGeom>
        </p:spPr>
        <p:txBody>
          <a:bodyPr lIns="0" tIns="0" rIns="0" bIns="0" rtlCol="0" anchor="t">
            <a:spAutoFit/>
          </a:bodyPr>
          <a:lstStyle/>
          <a:p>
            <a:pPr marL="402553" lvl="1" algn="l">
              <a:lnSpc>
                <a:spcPts val="6339"/>
              </a:lnSpc>
            </a:pPr>
            <a:r>
              <a:rPr lang="en-US" sz="3729" dirty="0" err="1">
                <a:solidFill>
                  <a:srgbClr val="203847"/>
                </a:solidFill>
                <a:latin typeface="Quicksand Medium" panose="020B0604020202020204" charset="0"/>
                <a:ea typeface="Quicksand"/>
                <a:cs typeface="Quicksand"/>
                <a:sym typeface="Quicksand"/>
              </a:rPr>
              <a:t>Vấn</a:t>
            </a:r>
            <a:r>
              <a:rPr lang="en-US" sz="3729" dirty="0">
                <a:solidFill>
                  <a:srgbClr val="203847"/>
                </a:solidFill>
                <a:latin typeface="Quicksand Medium" panose="020B0604020202020204" charset="0"/>
                <a:ea typeface="Quicksand"/>
                <a:cs typeface="Quicksand"/>
                <a:sym typeface="Quicksand"/>
              </a:rPr>
              <a:t> </a:t>
            </a:r>
            <a:r>
              <a:rPr lang="en-US" sz="3729" dirty="0" err="1">
                <a:solidFill>
                  <a:srgbClr val="203847"/>
                </a:solidFill>
                <a:latin typeface="Quicksand Medium" panose="020B0604020202020204" charset="0"/>
                <a:ea typeface="Quicksand"/>
                <a:cs typeface="Quicksand"/>
                <a:sym typeface="Quicksand"/>
              </a:rPr>
              <a:t>đề</a:t>
            </a:r>
            <a:r>
              <a:rPr lang="en-US" sz="3729" dirty="0">
                <a:solidFill>
                  <a:srgbClr val="203847"/>
                </a:solidFill>
                <a:latin typeface="Quicksand Medium" panose="020B0604020202020204" charset="0"/>
                <a:ea typeface="Quicksand"/>
                <a:cs typeface="Quicksand"/>
                <a:sym typeface="Quicksand"/>
              </a:rPr>
              <a:t>:</a:t>
            </a:r>
          </a:p>
          <a:p>
            <a:pPr marL="805107" lvl="1" indent="-402554" algn="just">
              <a:lnSpc>
                <a:spcPct val="150000"/>
              </a:lnSpc>
              <a:buFont typeface="Arial"/>
              <a:buChar char="•"/>
            </a:pPr>
            <a:r>
              <a:rPr lang="en-US" sz="2200" dirty="0" err="1">
                <a:effectLst/>
                <a:latin typeface="Quicksand Medium" panose="020B0604020202020204" charset="0"/>
                <a:ea typeface="Times New Roman" panose="02020603050405020304" pitchFamily="18" charset="0"/>
              </a:rPr>
              <a:t>Vận</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tải</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đường</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bộ</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là</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một</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cơ</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quan</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theo</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luật</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định</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trong</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xã</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hội</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hiện</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đại</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tuy</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nhiên</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nó</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gây</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thiệt</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hại</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cho</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nền</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kinh</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tế</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toàn</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cầu</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hơn</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một</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triệu</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sinh</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mạng</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và</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hàng</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tỷ</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đô</a:t>
            </a:r>
            <a:r>
              <a:rPr lang="en-US" sz="2200" dirty="0">
                <a:effectLst/>
                <a:latin typeface="Quicksand Medium" panose="020B0604020202020204" charset="0"/>
                <a:ea typeface="Times New Roman" panose="02020603050405020304" pitchFamily="18" charset="0"/>
              </a:rPr>
              <a:t> la </a:t>
            </a:r>
            <a:r>
              <a:rPr lang="en-US" sz="2200" dirty="0" err="1">
                <a:effectLst/>
                <a:latin typeface="Quicksand Medium" panose="020B0604020202020204" charset="0"/>
                <a:ea typeface="Times New Roman" panose="02020603050405020304" pitchFamily="18" charset="0"/>
              </a:rPr>
              <a:t>mỗi</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năm</a:t>
            </a:r>
            <a:r>
              <a:rPr lang="en-US" sz="2200" dirty="0">
                <a:effectLst/>
                <a:latin typeface="Quicksand Medium" panose="020B0604020202020204" charset="0"/>
                <a:ea typeface="Times New Roman" panose="02020603050405020304" pitchFamily="18" charset="0"/>
              </a:rPr>
              <a:t> do </a:t>
            </a:r>
            <a:r>
              <a:rPr lang="en-US" sz="2200" dirty="0" err="1">
                <a:effectLst/>
                <a:latin typeface="Quicksand Medium" panose="020B0604020202020204" charset="0"/>
                <a:ea typeface="Times New Roman" panose="02020603050405020304" pitchFamily="18" charset="0"/>
              </a:rPr>
              <a:t>ùn</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tắc</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giao</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thông</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gia</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tăng</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Các</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nhà</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nghiên</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cứu</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sử</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dụng</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máy</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học</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để</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phát</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hiện</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và</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dự</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đoán</a:t>
            </a:r>
            <a:r>
              <a:rPr lang="en-US" sz="2200" dirty="0">
                <a:effectLst/>
                <a:latin typeface="Quicksand Medium" panose="020B0604020202020204" charset="0"/>
                <a:ea typeface="Times New Roman" panose="02020603050405020304" pitchFamily="18" charset="0"/>
              </a:rPr>
              <a:t> tai </a:t>
            </a:r>
            <a:r>
              <a:rPr lang="en-US" sz="2200" dirty="0" err="1">
                <a:effectLst/>
                <a:latin typeface="Quicksand Medium" panose="020B0604020202020204" charset="0"/>
                <a:ea typeface="Times New Roman" panose="02020603050405020304" pitchFamily="18" charset="0"/>
              </a:rPr>
              <a:t>nạn</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giao</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thông</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bằng</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cách</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kết</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hợp</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phương</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tiện</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truyền</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thông</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xã</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hội</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có</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một</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kho</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dữ</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liệu</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gắn</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thẻ</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địa</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lý</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khổng</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lồ</a:t>
            </a:r>
            <a:r>
              <a:rPr lang="en-US" sz="2200" dirty="0">
                <a:latin typeface="Quicksand Medium" panose="020B0604020202020204" charset="0"/>
                <a:ea typeface="Times New Roman" panose="02020603050405020304" pitchFamily="18" charset="0"/>
              </a:rPr>
              <a:t>.</a:t>
            </a:r>
          </a:p>
          <a:p>
            <a:pPr marL="805107" lvl="1" indent="-402554" algn="just">
              <a:lnSpc>
                <a:spcPct val="150000"/>
              </a:lnSpc>
              <a:buFont typeface="Arial"/>
              <a:buChar char="•"/>
            </a:pPr>
            <a:r>
              <a:rPr lang="en-US" sz="2200" dirty="0" err="1">
                <a:effectLst/>
                <a:latin typeface="Quicksand Medium" panose="020B0604020202020204" charset="0"/>
                <a:ea typeface="Times New Roman" panose="02020603050405020304" pitchFamily="18" charset="0"/>
              </a:rPr>
              <a:t>Các</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hệ</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thống</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phát</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hiện</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sự</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cố</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hiệu</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quả</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có</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vai</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trò</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quan</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trọng</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trong</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việc</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khôi</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phục</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tình</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trạng</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giao</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thông</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bình</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thường</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trên</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đường</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cứu</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sống</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người</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và</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tài</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sản</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Các</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nhà</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nghiên</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cứu</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đã</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nhận</a:t>
            </a:r>
            <a:r>
              <a:rPr lang="en-US" sz="2200" dirty="0">
                <a:effectLst/>
                <a:latin typeface="Quicksand Medium" panose="020B0604020202020204" charset="0"/>
                <a:ea typeface="Times New Roman" panose="02020603050405020304" pitchFamily="18" charset="0"/>
              </a:rPr>
              <a:t> ra </a:t>
            </a:r>
            <a:r>
              <a:rPr lang="en-US" sz="2200" dirty="0" err="1">
                <a:effectLst/>
                <a:latin typeface="Quicksand Medium" panose="020B0604020202020204" charset="0"/>
                <a:ea typeface="Times New Roman" panose="02020603050405020304" pitchFamily="18" charset="0"/>
              </a:rPr>
              <a:t>tầm</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quan</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trọng</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của</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các</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hệ</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thống</a:t>
            </a:r>
            <a:r>
              <a:rPr lang="en-US" sz="2200" dirty="0">
                <a:effectLst/>
                <a:latin typeface="Quicksand Medium" panose="020B0604020202020204" charset="0"/>
                <a:ea typeface="Times New Roman" panose="02020603050405020304" pitchFamily="18" charset="0"/>
              </a:rPr>
              <a:t>. C</a:t>
            </a:r>
            <a:r>
              <a:rPr lang="vi-VN" sz="2200" dirty="0">
                <a:effectLst/>
                <a:latin typeface="Quicksand Medium" panose="020B0604020202020204" charset="0"/>
                <a:ea typeface="Times New Roman" panose="02020603050405020304" pitchFamily="18" charset="0"/>
              </a:rPr>
              <a:t>ác hệ thống phát hiện sự cố tự động (AID) đang được nghiên cứu nhằm giảm thiểu thiệt hại do tai nạn và ùn tắc</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với</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mức</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hiệu</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suất</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chấp</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nhận</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được</a:t>
            </a:r>
            <a:r>
              <a:rPr lang="en-US" sz="2200" dirty="0">
                <a:effectLst/>
                <a:latin typeface="Quicksand Medium" panose="020B0604020202020204" charset="0"/>
                <a:ea typeface="Times New Roman" panose="02020603050405020304" pitchFamily="18" charset="0"/>
              </a:rPr>
              <a:t>. </a:t>
            </a:r>
            <a:endParaRPr lang="en-US" sz="2200" dirty="0">
              <a:latin typeface="Quicksand Medium" panose="020B0604020202020204" charset="0"/>
              <a:ea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321771"/>
            <a:ext cx="13836268" cy="1177002"/>
          </a:xfrm>
          <a:prstGeom prst="rect">
            <a:avLst/>
          </a:prstGeom>
        </p:spPr>
        <p:txBody>
          <a:bodyPr lIns="0" tIns="0" rIns="0" bIns="0" rtlCol="0" anchor="t">
            <a:spAutoFit/>
          </a:bodyPr>
          <a:lstStyle/>
          <a:p>
            <a:pPr algn="just">
              <a:lnSpc>
                <a:spcPts val="9675"/>
              </a:lnSpc>
              <a:spcBef>
                <a:spcPct val="0"/>
              </a:spcBef>
            </a:pPr>
            <a:r>
              <a:rPr lang="en-US" sz="6911" b="1" dirty="0">
                <a:solidFill>
                  <a:srgbClr val="203847"/>
                </a:solidFill>
                <a:latin typeface="Quicksand Medium" panose="020B0604020202020204" charset="0"/>
                <a:ea typeface="Quicksand Semi-Bold"/>
                <a:cs typeface="Quicksand Semi-Bold"/>
                <a:sym typeface="Quicksand Semi-Bold"/>
              </a:rPr>
              <a:t>1. </a:t>
            </a:r>
            <a:r>
              <a:rPr lang="en-US" sz="6911" b="1" dirty="0" err="1">
                <a:solidFill>
                  <a:srgbClr val="203847"/>
                </a:solidFill>
                <a:latin typeface="Quicksand Medium" panose="020B0604020202020204" charset="0"/>
                <a:ea typeface="Quicksand Semi-Bold"/>
                <a:cs typeface="Quicksand Semi-Bold"/>
                <a:sym typeface="Quicksand Semi-Bold"/>
              </a:rPr>
              <a:t>Giới</a:t>
            </a:r>
            <a:r>
              <a:rPr lang="en-US" sz="6911" b="1" dirty="0">
                <a:solidFill>
                  <a:srgbClr val="203847"/>
                </a:solidFill>
                <a:latin typeface="Quicksand Medium" panose="020B0604020202020204" charset="0"/>
                <a:ea typeface="Quicksand Semi-Bold"/>
                <a:cs typeface="Quicksand Semi-Bold"/>
                <a:sym typeface="Quicksand Semi-Bold"/>
              </a:rPr>
              <a:t> </a:t>
            </a:r>
            <a:r>
              <a:rPr lang="en-US" sz="6911" b="1" dirty="0" err="1">
                <a:solidFill>
                  <a:srgbClr val="203847"/>
                </a:solidFill>
                <a:latin typeface="Quicksand Medium" panose="020B0604020202020204" charset="0"/>
                <a:ea typeface="Quicksand Semi-Bold"/>
                <a:cs typeface="Quicksand Semi-Bold"/>
                <a:sym typeface="Quicksand Semi-Bold"/>
              </a:rPr>
              <a:t>thiệu</a:t>
            </a:r>
            <a:r>
              <a:rPr lang="en-US" sz="6911" b="1" dirty="0">
                <a:solidFill>
                  <a:srgbClr val="203847"/>
                </a:solidFill>
                <a:latin typeface="Quicksand Medium" panose="020B0604020202020204" charset="0"/>
                <a:ea typeface="Quicksand Semi-Bold"/>
                <a:cs typeface="Quicksand Semi-Bold"/>
                <a:sym typeface="Quicksand Semi-Bold"/>
              </a:rPr>
              <a:t> </a:t>
            </a:r>
            <a:r>
              <a:rPr lang="en-US" sz="6911" b="1" dirty="0" err="1">
                <a:solidFill>
                  <a:srgbClr val="203847"/>
                </a:solidFill>
                <a:latin typeface="Quicksand Medium" panose="020B0604020202020204" charset="0"/>
                <a:ea typeface="Quicksand Semi-Bold"/>
                <a:cs typeface="Quicksand Semi-Bold"/>
                <a:sym typeface="Quicksand Semi-Bold"/>
              </a:rPr>
              <a:t>chung</a:t>
            </a:r>
            <a:endParaRPr lang="en-US" sz="6911" b="1" dirty="0">
              <a:solidFill>
                <a:srgbClr val="203847"/>
              </a:solidFill>
              <a:latin typeface="Quicksand Medium" panose="020B0604020202020204" charset="0"/>
              <a:ea typeface="Quicksand Semi-Bold"/>
              <a:cs typeface="Quicksand Semi-Bold"/>
              <a:sym typeface="Quicksand Semi-Bold"/>
            </a:endParaRPr>
          </a:p>
        </p:txBody>
      </p:sp>
      <p:sp>
        <p:nvSpPr>
          <p:cNvPr id="3" name="Freeform 3"/>
          <p:cNvSpPr/>
          <p:nvPr/>
        </p:nvSpPr>
        <p:spPr>
          <a:xfrm rot="2426758">
            <a:off x="11681014" y="-2835641"/>
            <a:ext cx="8782363" cy="5013931"/>
          </a:xfrm>
          <a:custGeom>
            <a:avLst/>
            <a:gdLst/>
            <a:ahLst/>
            <a:cxnLst/>
            <a:rect l="l" t="t" r="r" b="b"/>
            <a:pathLst>
              <a:path w="8782363" h="5013931">
                <a:moveTo>
                  <a:pt x="0" y="0"/>
                </a:moveTo>
                <a:lnTo>
                  <a:pt x="8782362" y="0"/>
                </a:lnTo>
                <a:lnTo>
                  <a:pt x="8782362" y="5013931"/>
                </a:lnTo>
                <a:lnTo>
                  <a:pt x="0" y="501393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4" name="Group 4"/>
          <p:cNvGrpSpPr/>
          <p:nvPr/>
        </p:nvGrpSpPr>
        <p:grpSpPr>
          <a:xfrm>
            <a:off x="-608680" y="9258300"/>
            <a:ext cx="19505361" cy="15817074"/>
            <a:chOff x="0" y="0"/>
            <a:chExt cx="26007147" cy="21089432"/>
          </a:xfrm>
        </p:grpSpPr>
        <p:grpSp>
          <p:nvGrpSpPr>
            <p:cNvPr id="5" name="Group 5"/>
            <p:cNvGrpSpPr/>
            <p:nvPr/>
          </p:nvGrpSpPr>
          <p:grpSpPr>
            <a:xfrm rot="-5400000">
              <a:off x="7701470" y="-7701470"/>
              <a:ext cx="10544716" cy="25947656"/>
              <a:chOff x="0" y="0"/>
              <a:chExt cx="1272376" cy="3130969"/>
            </a:xfrm>
          </p:grpSpPr>
          <p:sp>
            <p:nvSpPr>
              <p:cNvPr id="6" name="Freeform 6"/>
              <p:cNvSpPr/>
              <p:nvPr/>
            </p:nvSpPr>
            <p:spPr>
              <a:xfrm>
                <a:off x="0" y="0"/>
                <a:ext cx="1272376" cy="3130969"/>
              </a:xfrm>
              <a:custGeom>
                <a:avLst/>
                <a:gdLst/>
                <a:ahLst/>
                <a:cxnLst/>
                <a:rect l="l" t="t" r="r" b="b"/>
                <a:pathLst>
                  <a:path w="1272376" h="3130969">
                    <a:moveTo>
                      <a:pt x="0" y="0"/>
                    </a:moveTo>
                    <a:lnTo>
                      <a:pt x="1272376" y="0"/>
                    </a:lnTo>
                    <a:lnTo>
                      <a:pt x="1272376" y="3130969"/>
                    </a:lnTo>
                    <a:lnTo>
                      <a:pt x="0" y="3130969"/>
                    </a:lnTo>
                    <a:close/>
                  </a:path>
                </a:pathLst>
              </a:custGeom>
              <a:solidFill>
                <a:srgbClr val="476376"/>
              </a:solidFill>
            </p:spPr>
          </p:sp>
          <p:sp>
            <p:nvSpPr>
              <p:cNvPr id="7" name="TextBox 7"/>
              <p:cNvSpPr txBox="1"/>
              <p:nvPr/>
            </p:nvSpPr>
            <p:spPr>
              <a:xfrm>
                <a:off x="0" y="-114300"/>
                <a:ext cx="1272376" cy="3245269"/>
              </a:xfrm>
              <a:prstGeom prst="rect">
                <a:avLst/>
              </a:prstGeom>
            </p:spPr>
            <p:txBody>
              <a:bodyPr lIns="50800" tIns="50800" rIns="50800" bIns="50800" rtlCol="0" anchor="ctr"/>
              <a:lstStyle/>
              <a:p>
                <a:pPr algn="ctr">
                  <a:lnSpc>
                    <a:spcPts val="3765"/>
                  </a:lnSpc>
                </a:pPr>
                <a:endParaRPr/>
              </a:p>
            </p:txBody>
          </p:sp>
        </p:grpSp>
        <p:sp>
          <p:nvSpPr>
            <p:cNvPr id="8" name="Freeform 8"/>
            <p:cNvSpPr/>
            <p:nvPr/>
          </p:nvSpPr>
          <p:spPr>
            <a:xfrm rot="-5400000">
              <a:off x="2458858" y="-2458858"/>
              <a:ext cx="21089432" cy="26007147"/>
            </a:xfrm>
            <a:custGeom>
              <a:avLst/>
              <a:gdLst/>
              <a:ahLst/>
              <a:cxnLst/>
              <a:rect l="l" t="t" r="r" b="b"/>
              <a:pathLst>
                <a:path w="21089432" h="26007147">
                  <a:moveTo>
                    <a:pt x="0" y="0"/>
                  </a:moveTo>
                  <a:lnTo>
                    <a:pt x="21089432" y="0"/>
                  </a:lnTo>
                  <a:lnTo>
                    <a:pt x="21089432" y="26007148"/>
                  </a:lnTo>
                  <a:lnTo>
                    <a:pt x="0" y="2600714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sp>
        <p:nvSpPr>
          <p:cNvPr id="10" name="TextBox 10"/>
          <p:cNvSpPr txBox="1"/>
          <p:nvPr/>
        </p:nvSpPr>
        <p:spPr>
          <a:xfrm>
            <a:off x="1028700" y="2092911"/>
            <a:ext cx="15636174" cy="2270622"/>
          </a:xfrm>
          <a:prstGeom prst="rect">
            <a:avLst/>
          </a:prstGeom>
        </p:spPr>
        <p:txBody>
          <a:bodyPr lIns="0" tIns="0" rIns="0" bIns="0" rtlCol="0" anchor="t">
            <a:spAutoFit/>
          </a:bodyPr>
          <a:lstStyle/>
          <a:p>
            <a:pPr marL="402553" lvl="1" algn="l">
              <a:lnSpc>
                <a:spcPts val="6339"/>
              </a:lnSpc>
            </a:pPr>
            <a:r>
              <a:rPr lang="en-US" sz="3729" dirty="0" err="1">
                <a:solidFill>
                  <a:srgbClr val="203847"/>
                </a:solidFill>
                <a:latin typeface="Quicksand"/>
                <a:ea typeface="Quicksand"/>
                <a:cs typeface="Quicksand"/>
                <a:sym typeface="Quicksand"/>
              </a:rPr>
              <a:t>Tính</a:t>
            </a:r>
            <a:r>
              <a:rPr lang="en-US" sz="3729" dirty="0">
                <a:solidFill>
                  <a:srgbClr val="203847"/>
                </a:solidFill>
                <a:latin typeface="Quicksand"/>
                <a:ea typeface="Quicksand"/>
                <a:cs typeface="Quicksand"/>
                <a:sym typeface="Quicksand"/>
              </a:rPr>
              <a:t> </a:t>
            </a:r>
            <a:r>
              <a:rPr lang="en-US" sz="3729" dirty="0" err="1">
                <a:solidFill>
                  <a:srgbClr val="203847"/>
                </a:solidFill>
                <a:latin typeface="Quicksand"/>
                <a:ea typeface="Quicksand"/>
                <a:cs typeface="Quicksand"/>
                <a:sym typeface="Quicksand"/>
              </a:rPr>
              <a:t>cấp</a:t>
            </a:r>
            <a:r>
              <a:rPr lang="en-US" sz="3729" dirty="0">
                <a:solidFill>
                  <a:srgbClr val="203847"/>
                </a:solidFill>
                <a:latin typeface="Quicksand"/>
                <a:ea typeface="Quicksand"/>
                <a:cs typeface="Quicksand"/>
                <a:sym typeface="Quicksand"/>
              </a:rPr>
              <a:t> </a:t>
            </a:r>
            <a:r>
              <a:rPr lang="en-US" sz="3729" dirty="0" err="1">
                <a:solidFill>
                  <a:srgbClr val="203847"/>
                </a:solidFill>
                <a:latin typeface="Quicksand"/>
                <a:ea typeface="Quicksand"/>
                <a:cs typeface="Quicksand"/>
                <a:sym typeface="Quicksand"/>
              </a:rPr>
              <a:t>thiết</a:t>
            </a:r>
            <a:r>
              <a:rPr lang="en-US" sz="3729" dirty="0">
                <a:solidFill>
                  <a:srgbClr val="203847"/>
                </a:solidFill>
                <a:latin typeface="Quicksand"/>
                <a:ea typeface="Quicksand"/>
                <a:cs typeface="Quicksand"/>
                <a:sym typeface="Quicksand"/>
              </a:rPr>
              <a:t>:</a:t>
            </a:r>
          </a:p>
          <a:p>
            <a:pPr marL="805107" lvl="1" indent="-402554" algn="just">
              <a:lnSpc>
                <a:spcPct val="150000"/>
              </a:lnSpc>
              <a:buFont typeface="Arial"/>
              <a:buChar char="•"/>
            </a:pPr>
            <a:r>
              <a:rPr lang="vi-VN" sz="2200" dirty="0">
                <a:latin typeface="Quicksand Medium" panose="020B0604020202020204" charset="0"/>
              </a:rPr>
              <a:t>Việc xây dựng hệ thống cảnh báo giao thông là cần thiết nhằm giảm thiểu thiệt hại về người và tài sản do tai nạn và ùn tắc giao thông gây ra</a:t>
            </a:r>
            <a:r>
              <a:rPr lang="en-US" sz="2200" dirty="0">
                <a:latin typeface="Quicksand Medium" panose="020B0604020202020204" charset="0"/>
              </a:rPr>
              <a:t>. </a:t>
            </a:r>
            <a:r>
              <a:rPr lang="vi-VN" sz="2200" dirty="0">
                <a:latin typeface="Quicksand Medium" panose="020B0604020202020204" charset="0"/>
              </a:rPr>
              <a:t>Ứng dụng máy học và dữ liệu gắn thẻ địa lý từ mạng xã hội đang mở ra hướng tiếp cận mới, chính xác và hiệu quả hơn trong dự báo giao thông</a:t>
            </a:r>
            <a:r>
              <a:rPr lang="vi-VN" sz="2200" dirty="0">
                <a:latin typeface="Times New Roman" panose="02020603050405020304" pitchFamily="18" charset="0"/>
              </a:rPr>
              <a:t>.</a:t>
            </a:r>
            <a:endParaRPr lang="en-US" sz="2200" dirty="0">
              <a:latin typeface="Times New Roman" panose="02020603050405020304" pitchFamily="18" charset="0"/>
            </a:endParaRPr>
          </a:p>
        </p:txBody>
      </p:sp>
      <p:sp>
        <p:nvSpPr>
          <p:cNvPr id="11" name="TextBox 10">
            <a:extLst>
              <a:ext uri="{FF2B5EF4-FFF2-40B4-BE49-F238E27FC236}">
                <a16:creationId xmlns:a16="http://schemas.microsoft.com/office/drawing/2014/main" id="{95A3FB49-F1FC-42BB-A79F-6E3CE2AD608E}"/>
              </a:ext>
            </a:extLst>
          </p:cNvPr>
          <p:cNvSpPr txBox="1"/>
          <p:nvPr/>
        </p:nvSpPr>
        <p:spPr>
          <a:xfrm>
            <a:off x="1028700" y="4911868"/>
            <a:ext cx="15636174" cy="2779992"/>
          </a:xfrm>
          <a:prstGeom prst="rect">
            <a:avLst/>
          </a:prstGeom>
        </p:spPr>
        <p:txBody>
          <a:bodyPr lIns="0" tIns="0" rIns="0" bIns="0" rtlCol="0" anchor="t">
            <a:spAutoFit/>
          </a:bodyPr>
          <a:lstStyle/>
          <a:p>
            <a:pPr marL="402553" lvl="1" algn="l">
              <a:lnSpc>
                <a:spcPts val="6339"/>
              </a:lnSpc>
            </a:pPr>
            <a:r>
              <a:rPr lang="en-US" sz="3729" dirty="0" err="1">
                <a:solidFill>
                  <a:srgbClr val="203847"/>
                </a:solidFill>
                <a:latin typeface="Quicksand Medium" panose="020B0604020202020204" charset="0"/>
                <a:ea typeface="Quicksand"/>
                <a:cs typeface="Quicksand"/>
                <a:sym typeface="Quicksand"/>
              </a:rPr>
              <a:t>Mục</a:t>
            </a:r>
            <a:r>
              <a:rPr lang="en-US" sz="3729" dirty="0">
                <a:solidFill>
                  <a:srgbClr val="203847"/>
                </a:solidFill>
                <a:latin typeface="Quicksand Medium" panose="020B0604020202020204" charset="0"/>
                <a:ea typeface="Quicksand"/>
                <a:cs typeface="Quicksand"/>
                <a:sym typeface="Quicksand"/>
              </a:rPr>
              <a:t> </a:t>
            </a:r>
            <a:r>
              <a:rPr lang="en-US" sz="3729" dirty="0" err="1">
                <a:solidFill>
                  <a:srgbClr val="203847"/>
                </a:solidFill>
                <a:latin typeface="Quicksand Medium" panose="020B0604020202020204" charset="0"/>
                <a:ea typeface="Quicksand"/>
                <a:cs typeface="Quicksand"/>
                <a:sym typeface="Quicksand"/>
              </a:rPr>
              <a:t>tiêu</a:t>
            </a:r>
            <a:r>
              <a:rPr lang="en-US" sz="3729" dirty="0">
                <a:solidFill>
                  <a:srgbClr val="203847"/>
                </a:solidFill>
                <a:latin typeface="Quicksand Medium" panose="020B0604020202020204" charset="0"/>
                <a:ea typeface="Quicksand"/>
                <a:cs typeface="Quicksand"/>
                <a:sym typeface="Quicksand"/>
              </a:rPr>
              <a:t>:</a:t>
            </a:r>
          </a:p>
          <a:p>
            <a:pPr marL="805107" lvl="1" indent="-402554" algn="just">
              <a:lnSpc>
                <a:spcPct val="150000"/>
              </a:lnSpc>
              <a:buFont typeface="Arial"/>
              <a:buChar char="•"/>
            </a:pPr>
            <a:r>
              <a:rPr lang="en-US" sz="2200" dirty="0" err="1">
                <a:effectLst/>
                <a:latin typeface="Quicksand Medium" panose="020B0604020202020204" charset="0"/>
                <a:ea typeface="Times New Roman" panose="02020603050405020304" pitchFamily="18" charset="0"/>
              </a:rPr>
              <a:t>Ứng</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dụng</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của</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mô</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hình</a:t>
            </a:r>
            <a:r>
              <a:rPr lang="en-US" sz="2200" dirty="0">
                <a:effectLst/>
                <a:latin typeface="Quicksand Medium" panose="020B0604020202020204" charset="0"/>
                <a:ea typeface="Times New Roman" panose="02020603050405020304" pitchFamily="18" charset="0"/>
              </a:rPr>
              <a:t> CNNs, LSTM, Transformer Networks </a:t>
            </a:r>
            <a:r>
              <a:rPr lang="en-US" sz="2200" dirty="0" err="1">
                <a:effectLst/>
                <a:latin typeface="Quicksand Medium" panose="020B0604020202020204" charset="0"/>
                <a:ea typeface="Times New Roman" panose="02020603050405020304" pitchFamily="18" charset="0"/>
              </a:rPr>
              <a:t>trong</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dự</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báo</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sự</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cố</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giao</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thông</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Kết</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quả</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từ</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nghiên</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cứu</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có</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thể</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cung</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cấp</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một</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cách</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tiếp</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cận</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mới</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tiềm</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năng</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trong</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quản</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lý</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giao</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thông</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và</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nghiên</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cứu</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dự</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báo</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sự</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cố</a:t>
            </a:r>
            <a:r>
              <a:rPr lang="en-US" sz="2200" dirty="0">
                <a:effectLst/>
                <a:latin typeface="Quicksand Medium" panose="020B0604020202020204" charset="0"/>
                <a:ea typeface="Times New Roman" panose="02020603050405020304" pitchFamily="18" charset="0"/>
              </a:rPr>
              <a:t>, tai </a:t>
            </a:r>
            <a:r>
              <a:rPr lang="en-US" sz="2200" dirty="0" err="1">
                <a:effectLst/>
                <a:latin typeface="Quicksand Medium" panose="020B0604020202020204" charset="0"/>
                <a:ea typeface="Times New Roman" panose="02020603050405020304" pitchFamily="18" charset="0"/>
              </a:rPr>
              <a:t>nạn</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trong</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quá</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trình</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tham</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gia</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giao</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thông</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hỗ</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trợ</a:t>
            </a:r>
            <a:r>
              <a:rPr lang="en-US" sz="2200" dirty="0">
                <a:effectLst/>
                <a:latin typeface="Quicksand Medium" panose="020B0604020202020204" charset="0"/>
                <a:ea typeface="Times New Roman" panose="02020603050405020304" pitchFamily="18" charset="0"/>
              </a:rPr>
              <a:t> ra </a:t>
            </a:r>
            <a:r>
              <a:rPr lang="en-US" sz="2200" dirty="0" err="1">
                <a:effectLst/>
                <a:latin typeface="Quicksand Medium" panose="020B0604020202020204" charset="0"/>
                <a:ea typeface="Times New Roman" panose="02020603050405020304" pitchFamily="18" charset="0"/>
              </a:rPr>
              <a:t>quyết</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định</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đối</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người</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tham</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gia</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giao</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thông</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cũng</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như</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phục</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vụ</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công</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tác</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quản</a:t>
            </a:r>
            <a:r>
              <a:rPr lang="en-US" sz="2200" dirty="0">
                <a:effectLst/>
                <a:latin typeface="Quicksand Medium" panose="020B0604020202020204" charset="0"/>
                <a:ea typeface="Times New Roman" panose="02020603050405020304" pitchFamily="18" charset="0"/>
              </a:rPr>
              <a:t> </a:t>
            </a:r>
            <a:r>
              <a:rPr lang="en-US" sz="2200" dirty="0" err="1">
                <a:effectLst/>
                <a:latin typeface="Quicksand Medium" panose="020B0604020202020204" charset="0"/>
                <a:ea typeface="Times New Roman" panose="02020603050405020304" pitchFamily="18" charset="0"/>
              </a:rPr>
              <a:t>lý</a:t>
            </a:r>
            <a:r>
              <a:rPr lang="en-US" sz="2200" dirty="0">
                <a:effectLst/>
                <a:latin typeface="Quicksand Medium" panose="020B0604020202020204" charset="0"/>
                <a:ea typeface="Times New Roman" panose="02020603050405020304" pitchFamily="18" charset="0"/>
              </a:rPr>
              <a:t>.</a:t>
            </a:r>
            <a:r>
              <a:rPr lang="vi-VN" sz="2200" dirty="0">
                <a:latin typeface="Quicksand Medium" panose="020B0604020202020204" charset="0"/>
              </a:rPr>
              <a:t>.</a:t>
            </a:r>
            <a:endParaRPr lang="en-US" sz="2200" dirty="0">
              <a:latin typeface="Quicksand Medium" panose="020B0604020202020204" charset="0"/>
            </a:endParaRPr>
          </a:p>
        </p:txBody>
      </p:sp>
    </p:spTree>
    <p:extLst>
      <p:ext uri="{BB962C8B-B14F-4D97-AF65-F5344CB8AC3E}">
        <p14:creationId xmlns:p14="http://schemas.microsoft.com/office/powerpoint/2010/main" val="39404146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321771"/>
            <a:ext cx="14058900" cy="1117614"/>
          </a:xfrm>
          <a:prstGeom prst="rect">
            <a:avLst/>
          </a:prstGeom>
        </p:spPr>
        <p:txBody>
          <a:bodyPr wrap="square" lIns="0" tIns="0" rIns="0" bIns="0" rtlCol="0" anchor="t">
            <a:spAutoFit/>
          </a:bodyPr>
          <a:lstStyle/>
          <a:p>
            <a:pPr algn="just">
              <a:lnSpc>
                <a:spcPts val="9675"/>
              </a:lnSpc>
              <a:spcBef>
                <a:spcPct val="0"/>
              </a:spcBef>
            </a:pPr>
            <a:r>
              <a:rPr lang="en-US" sz="6000" b="1" dirty="0">
                <a:latin typeface="Quicksand Semi-Bold"/>
                <a:ea typeface="Quicksand Semi-Bold"/>
                <a:cs typeface="Quicksand Semi-Bold"/>
                <a:sym typeface="Quicksand Semi-Bold"/>
              </a:rPr>
              <a:t>2. </a:t>
            </a:r>
            <a:r>
              <a:rPr lang="en-US" sz="6000" b="1" dirty="0" err="1">
                <a:latin typeface="Quicksand Medium"/>
                <a:ea typeface="Quicksand Medium"/>
                <a:cs typeface="Quicksand Medium"/>
                <a:sym typeface="Quicksand Medium"/>
              </a:rPr>
              <a:t>Tổng</a:t>
            </a:r>
            <a:r>
              <a:rPr lang="en-US" sz="6000" b="1" dirty="0">
                <a:latin typeface="Quicksand Medium"/>
                <a:ea typeface="Quicksand Medium"/>
                <a:cs typeface="Quicksand Medium"/>
                <a:sym typeface="Quicksand Medium"/>
              </a:rPr>
              <a:t> </a:t>
            </a:r>
            <a:r>
              <a:rPr lang="en-US" sz="6000" b="1" dirty="0" err="1">
                <a:latin typeface="Quicksand Medium"/>
                <a:ea typeface="Quicksand Medium"/>
                <a:cs typeface="Quicksand Medium"/>
                <a:sym typeface="Quicksand Medium"/>
              </a:rPr>
              <a:t>quan</a:t>
            </a:r>
            <a:r>
              <a:rPr lang="en-US" sz="6000" b="1" dirty="0">
                <a:latin typeface="Quicksand Medium"/>
                <a:ea typeface="Quicksand Medium"/>
                <a:cs typeface="Quicksand Medium"/>
                <a:sym typeface="Quicksand Medium"/>
              </a:rPr>
              <a:t> </a:t>
            </a:r>
            <a:r>
              <a:rPr lang="en-US" sz="6000" b="1" dirty="0" err="1">
                <a:latin typeface="Quicksand Medium"/>
                <a:ea typeface="Quicksand Medium"/>
                <a:cs typeface="Quicksand Medium"/>
                <a:sym typeface="Quicksand Medium"/>
              </a:rPr>
              <a:t>đề</a:t>
            </a:r>
            <a:r>
              <a:rPr lang="en-US" sz="6000" b="1" dirty="0">
                <a:latin typeface="Quicksand Medium"/>
                <a:ea typeface="Quicksand Medium"/>
                <a:cs typeface="Quicksand Medium"/>
                <a:sym typeface="Quicksand Medium"/>
              </a:rPr>
              <a:t> </a:t>
            </a:r>
            <a:r>
              <a:rPr lang="en-US" sz="6000" b="1" dirty="0" err="1">
                <a:latin typeface="Quicksand Medium"/>
                <a:ea typeface="Quicksand Medium"/>
                <a:cs typeface="Quicksand Medium"/>
                <a:sym typeface="Quicksand Medium"/>
              </a:rPr>
              <a:t>tài</a:t>
            </a:r>
            <a:r>
              <a:rPr lang="en-US" sz="6000" b="1" dirty="0">
                <a:latin typeface="Quicksand Medium"/>
                <a:ea typeface="Quicksand Medium"/>
                <a:cs typeface="Quicksand Medium"/>
                <a:sym typeface="Quicksand Medium"/>
              </a:rPr>
              <a:t> </a:t>
            </a:r>
            <a:r>
              <a:rPr lang="en-US" sz="6000" b="1" dirty="0" err="1">
                <a:latin typeface="Quicksand Medium"/>
                <a:ea typeface="Quicksand Medium"/>
                <a:cs typeface="Quicksand Medium"/>
                <a:sym typeface="Quicksand Medium"/>
              </a:rPr>
              <a:t>và</a:t>
            </a:r>
            <a:r>
              <a:rPr lang="en-US" sz="6000" b="1" dirty="0">
                <a:latin typeface="Quicksand Medium"/>
                <a:ea typeface="Quicksand Medium"/>
                <a:cs typeface="Quicksand Medium"/>
                <a:sym typeface="Quicksand Medium"/>
              </a:rPr>
              <a:t> </a:t>
            </a:r>
            <a:r>
              <a:rPr lang="en-US" sz="6000" b="1" dirty="0" err="1">
                <a:latin typeface="Quicksand Medium"/>
                <a:ea typeface="Quicksand Medium"/>
                <a:cs typeface="Quicksand Medium"/>
                <a:sym typeface="Quicksand Medium"/>
              </a:rPr>
              <a:t>cơ</a:t>
            </a:r>
            <a:r>
              <a:rPr lang="en-US" sz="6000" b="1" dirty="0">
                <a:latin typeface="Quicksand Medium"/>
                <a:ea typeface="Quicksand Medium"/>
                <a:cs typeface="Quicksand Medium"/>
                <a:sym typeface="Quicksand Medium"/>
              </a:rPr>
              <a:t> </a:t>
            </a:r>
            <a:r>
              <a:rPr lang="en-US" sz="6000" b="1" dirty="0" err="1">
                <a:latin typeface="Quicksand Medium"/>
                <a:ea typeface="Quicksand Medium"/>
                <a:cs typeface="Quicksand Medium"/>
                <a:sym typeface="Quicksand Medium"/>
              </a:rPr>
              <a:t>sở</a:t>
            </a:r>
            <a:r>
              <a:rPr lang="en-US" sz="6000" b="1" dirty="0">
                <a:latin typeface="Quicksand Medium"/>
                <a:ea typeface="Quicksand Medium"/>
                <a:cs typeface="Quicksand Medium"/>
                <a:sym typeface="Quicksand Medium"/>
              </a:rPr>
              <a:t> </a:t>
            </a:r>
            <a:r>
              <a:rPr lang="en-US" sz="6000" b="1" dirty="0" err="1">
                <a:latin typeface="Quicksand Medium"/>
                <a:ea typeface="Quicksand Medium"/>
                <a:cs typeface="Quicksand Medium"/>
                <a:sym typeface="Quicksand Medium"/>
              </a:rPr>
              <a:t>lý</a:t>
            </a:r>
            <a:r>
              <a:rPr lang="en-US" sz="6000" b="1" dirty="0">
                <a:latin typeface="Quicksand Medium"/>
                <a:ea typeface="Quicksand Medium"/>
                <a:cs typeface="Quicksand Medium"/>
                <a:sym typeface="Quicksand Medium"/>
              </a:rPr>
              <a:t> </a:t>
            </a:r>
            <a:r>
              <a:rPr lang="en-US" sz="6000" b="1" dirty="0" err="1">
                <a:latin typeface="Quicksand Medium"/>
                <a:ea typeface="Quicksand Medium"/>
                <a:cs typeface="Quicksand Medium"/>
                <a:sym typeface="Quicksand Medium"/>
              </a:rPr>
              <a:t>thuyết</a:t>
            </a:r>
            <a:endParaRPr lang="en-US" sz="6000" b="1" dirty="0">
              <a:latin typeface="Quicksand Medium"/>
              <a:ea typeface="Quicksand Medium"/>
              <a:cs typeface="Quicksand Medium"/>
              <a:sym typeface="Quicksand Medium"/>
            </a:endParaRPr>
          </a:p>
        </p:txBody>
      </p:sp>
      <p:sp>
        <p:nvSpPr>
          <p:cNvPr id="3" name="Freeform 3"/>
          <p:cNvSpPr/>
          <p:nvPr/>
        </p:nvSpPr>
        <p:spPr>
          <a:xfrm rot="3520730">
            <a:off x="12716433" y="-2322789"/>
            <a:ext cx="8681652" cy="5215575"/>
          </a:xfrm>
          <a:custGeom>
            <a:avLst/>
            <a:gdLst/>
            <a:ahLst/>
            <a:cxnLst/>
            <a:rect l="l" t="t" r="r" b="b"/>
            <a:pathLst>
              <a:path w="8782363" h="5013931">
                <a:moveTo>
                  <a:pt x="0" y="0"/>
                </a:moveTo>
                <a:lnTo>
                  <a:pt x="8782362" y="0"/>
                </a:lnTo>
                <a:lnTo>
                  <a:pt x="8782362" y="5013931"/>
                </a:lnTo>
                <a:lnTo>
                  <a:pt x="0" y="501393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4" name="Group 4"/>
          <p:cNvGrpSpPr/>
          <p:nvPr/>
        </p:nvGrpSpPr>
        <p:grpSpPr>
          <a:xfrm>
            <a:off x="-608680" y="9258300"/>
            <a:ext cx="19505361" cy="15817074"/>
            <a:chOff x="0" y="0"/>
            <a:chExt cx="26007147" cy="21089432"/>
          </a:xfrm>
        </p:grpSpPr>
        <p:grpSp>
          <p:nvGrpSpPr>
            <p:cNvPr id="5" name="Group 5"/>
            <p:cNvGrpSpPr/>
            <p:nvPr/>
          </p:nvGrpSpPr>
          <p:grpSpPr>
            <a:xfrm rot="-5400000">
              <a:off x="7701470" y="-7701470"/>
              <a:ext cx="10544716" cy="25947656"/>
              <a:chOff x="0" y="0"/>
              <a:chExt cx="1272376" cy="3130969"/>
            </a:xfrm>
          </p:grpSpPr>
          <p:sp>
            <p:nvSpPr>
              <p:cNvPr id="6" name="Freeform 6"/>
              <p:cNvSpPr/>
              <p:nvPr/>
            </p:nvSpPr>
            <p:spPr>
              <a:xfrm>
                <a:off x="0" y="0"/>
                <a:ext cx="1272376" cy="3130969"/>
              </a:xfrm>
              <a:custGeom>
                <a:avLst/>
                <a:gdLst/>
                <a:ahLst/>
                <a:cxnLst/>
                <a:rect l="l" t="t" r="r" b="b"/>
                <a:pathLst>
                  <a:path w="1272376" h="3130969">
                    <a:moveTo>
                      <a:pt x="0" y="0"/>
                    </a:moveTo>
                    <a:lnTo>
                      <a:pt x="1272376" y="0"/>
                    </a:lnTo>
                    <a:lnTo>
                      <a:pt x="1272376" y="3130969"/>
                    </a:lnTo>
                    <a:lnTo>
                      <a:pt x="0" y="3130969"/>
                    </a:lnTo>
                    <a:close/>
                  </a:path>
                </a:pathLst>
              </a:custGeom>
              <a:solidFill>
                <a:srgbClr val="476376"/>
              </a:solidFill>
            </p:spPr>
          </p:sp>
          <p:sp>
            <p:nvSpPr>
              <p:cNvPr id="7" name="TextBox 7"/>
              <p:cNvSpPr txBox="1"/>
              <p:nvPr/>
            </p:nvSpPr>
            <p:spPr>
              <a:xfrm>
                <a:off x="0" y="-114300"/>
                <a:ext cx="1272376" cy="3245269"/>
              </a:xfrm>
              <a:prstGeom prst="rect">
                <a:avLst/>
              </a:prstGeom>
            </p:spPr>
            <p:txBody>
              <a:bodyPr lIns="50800" tIns="50800" rIns="50800" bIns="50800" rtlCol="0" anchor="ctr"/>
              <a:lstStyle/>
              <a:p>
                <a:pPr algn="ctr">
                  <a:lnSpc>
                    <a:spcPts val="3765"/>
                  </a:lnSpc>
                </a:pPr>
                <a:endParaRPr/>
              </a:p>
            </p:txBody>
          </p:sp>
        </p:grpSp>
        <p:sp>
          <p:nvSpPr>
            <p:cNvPr id="8" name="Freeform 8"/>
            <p:cNvSpPr/>
            <p:nvPr/>
          </p:nvSpPr>
          <p:spPr>
            <a:xfrm rot="-5400000">
              <a:off x="2458858" y="-2458858"/>
              <a:ext cx="21089432" cy="26007147"/>
            </a:xfrm>
            <a:custGeom>
              <a:avLst/>
              <a:gdLst/>
              <a:ahLst/>
              <a:cxnLst/>
              <a:rect l="l" t="t" r="r" b="b"/>
              <a:pathLst>
                <a:path w="21089432" h="26007147">
                  <a:moveTo>
                    <a:pt x="0" y="0"/>
                  </a:moveTo>
                  <a:lnTo>
                    <a:pt x="21089432" y="0"/>
                  </a:lnTo>
                  <a:lnTo>
                    <a:pt x="21089432" y="26007148"/>
                  </a:lnTo>
                  <a:lnTo>
                    <a:pt x="0" y="2600714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sp>
        <p:nvSpPr>
          <p:cNvPr id="10" name="TextBox 10"/>
          <p:cNvSpPr txBox="1"/>
          <p:nvPr/>
        </p:nvSpPr>
        <p:spPr>
          <a:xfrm>
            <a:off x="1028700" y="2092911"/>
            <a:ext cx="15636174" cy="4067267"/>
          </a:xfrm>
          <a:prstGeom prst="rect">
            <a:avLst/>
          </a:prstGeom>
        </p:spPr>
        <p:txBody>
          <a:bodyPr wrap="square" lIns="0" tIns="0" rIns="0" bIns="0" rtlCol="0" anchor="t">
            <a:spAutoFit/>
          </a:bodyPr>
          <a:lstStyle/>
          <a:p>
            <a:pPr marL="402553" lvl="1" algn="l">
              <a:lnSpc>
                <a:spcPts val="6339"/>
              </a:lnSpc>
            </a:pPr>
            <a:r>
              <a:rPr lang="en-US" sz="3729" dirty="0" err="1">
                <a:solidFill>
                  <a:srgbClr val="203847"/>
                </a:solidFill>
                <a:latin typeface="Quicksand"/>
                <a:ea typeface="Quicksand"/>
                <a:cs typeface="Quicksand"/>
                <a:sym typeface="Quicksand"/>
              </a:rPr>
              <a:t>Tổng</a:t>
            </a:r>
            <a:r>
              <a:rPr lang="en-US" sz="3729" dirty="0">
                <a:solidFill>
                  <a:srgbClr val="203847"/>
                </a:solidFill>
                <a:latin typeface="Quicksand"/>
                <a:ea typeface="Quicksand"/>
                <a:cs typeface="Quicksand"/>
                <a:sym typeface="Quicksand"/>
              </a:rPr>
              <a:t> </a:t>
            </a:r>
            <a:r>
              <a:rPr lang="en-US" sz="3729" dirty="0" err="1">
                <a:solidFill>
                  <a:srgbClr val="203847"/>
                </a:solidFill>
                <a:latin typeface="Quicksand"/>
                <a:ea typeface="Quicksand"/>
                <a:cs typeface="Quicksand"/>
                <a:sym typeface="Quicksand"/>
              </a:rPr>
              <a:t>quan</a:t>
            </a:r>
            <a:r>
              <a:rPr lang="en-US" sz="3729" dirty="0">
                <a:solidFill>
                  <a:srgbClr val="203847"/>
                </a:solidFill>
                <a:latin typeface="Quicksand"/>
                <a:ea typeface="Quicksand"/>
                <a:cs typeface="Quicksand"/>
                <a:sym typeface="Quicksand"/>
              </a:rPr>
              <a:t>:</a:t>
            </a:r>
          </a:p>
          <a:p>
            <a:pPr marL="805107" lvl="1" indent="-402554" algn="just">
              <a:lnSpc>
                <a:spcPct val="150000"/>
              </a:lnSpc>
              <a:buFont typeface="Arial"/>
              <a:buChar char="•"/>
            </a:pPr>
            <a:r>
              <a:rPr lang="vi-VN" sz="2400" dirty="0">
                <a:latin typeface="Quicksand Medium" panose="020B0604020202020204" charset="0"/>
              </a:rPr>
              <a:t>Ùn tắc giao thông là thách thức lớn tại đô thị hiện đại, gây lãng phí thời gian, tăng chi phí, ô nhiễm môi trường và ảnh hưởng sức khỏe. Dự báo chính xác sự cố giao thông là yêu cầu cấp thiết trong xây dựng đô thị thông minh. Bài toán này mang tính thời gian – không gian, chịu ảnh hưởng từ nhiều yếu tố khó dự đoán. Do đó, các mô hình học sâu như CNN, LSTM, Transformer được ứng dụng để xử lý dữ liệu chuỗi và hình ảnh, giúp nâng cao khả năng dự báo. Kết quả này hỗ trợ hiệu quả cho hệ thống cảnh báo sớm và điều phối giao thông theo thời gian thực.</a:t>
            </a:r>
            <a:endParaRPr lang="en-US" sz="2200" dirty="0">
              <a:latin typeface="Quicksand Medium" panose="020B0604020202020204" charset="0"/>
            </a:endParaRPr>
          </a:p>
        </p:txBody>
      </p:sp>
    </p:spTree>
    <p:extLst>
      <p:ext uri="{BB962C8B-B14F-4D97-AF65-F5344CB8AC3E}">
        <p14:creationId xmlns:p14="http://schemas.microsoft.com/office/powerpoint/2010/main" val="41397570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321771"/>
            <a:ext cx="14058900" cy="1117614"/>
          </a:xfrm>
          <a:prstGeom prst="rect">
            <a:avLst/>
          </a:prstGeom>
        </p:spPr>
        <p:txBody>
          <a:bodyPr wrap="square" lIns="0" tIns="0" rIns="0" bIns="0" rtlCol="0" anchor="t">
            <a:spAutoFit/>
          </a:bodyPr>
          <a:lstStyle/>
          <a:p>
            <a:pPr algn="just">
              <a:lnSpc>
                <a:spcPts val="9675"/>
              </a:lnSpc>
              <a:spcBef>
                <a:spcPct val="0"/>
              </a:spcBef>
            </a:pPr>
            <a:r>
              <a:rPr lang="en-US" sz="6000" b="1" dirty="0">
                <a:latin typeface="Quicksand Semi-Bold"/>
                <a:ea typeface="Quicksand Semi-Bold"/>
                <a:cs typeface="Quicksand Semi-Bold"/>
                <a:sym typeface="Quicksand Semi-Bold"/>
              </a:rPr>
              <a:t>2. </a:t>
            </a:r>
            <a:r>
              <a:rPr lang="en-US" sz="6000" b="1" dirty="0" err="1">
                <a:latin typeface="Quicksand Medium"/>
                <a:ea typeface="Quicksand Medium"/>
                <a:cs typeface="Quicksand Medium"/>
                <a:sym typeface="Quicksand Medium"/>
              </a:rPr>
              <a:t>Tổng</a:t>
            </a:r>
            <a:r>
              <a:rPr lang="en-US" sz="6000" b="1" dirty="0">
                <a:latin typeface="Quicksand Medium"/>
                <a:ea typeface="Quicksand Medium"/>
                <a:cs typeface="Quicksand Medium"/>
                <a:sym typeface="Quicksand Medium"/>
              </a:rPr>
              <a:t> </a:t>
            </a:r>
            <a:r>
              <a:rPr lang="en-US" sz="6000" b="1" dirty="0" err="1">
                <a:latin typeface="Quicksand Medium"/>
                <a:ea typeface="Quicksand Medium"/>
                <a:cs typeface="Quicksand Medium"/>
                <a:sym typeface="Quicksand Medium"/>
              </a:rPr>
              <a:t>quan</a:t>
            </a:r>
            <a:r>
              <a:rPr lang="en-US" sz="6000" b="1" dirty="0">
                <a:latin typeface="Quicksand Medium"/>
                <a:ea typeface="Quicksand Medium"/>
                <a:cs typeface="Quicksand Medium"/>
                <a:sym typeface="Quicksand Medium"/>
              </a:rPr>
              <a:t> </a:t>
            </a:r>
            <a:r>
              <a:rPr lang="en-US" sz="6000" b="1" dirty="0" err="1">
                <a:latin typeface="Quicksand Medium"/>
                <a:ea typeface="Quicksand Medium"/>
                <a:cs typeface="Quicksand Medium"/>
                <a:sym typeface="Quicksand Medium"/>
              </a:rPr>
              <a:t>đề</a:t>
            </a:r>
            <a:r>
              <a:rPr lang="en-US" sz="6000" b="1" dirty="0">
                <a:latin typeface="Quicksand Medium"/>
                <a:ea typeface="Quicksand Medium"/>
                <a:cs typeface="Quicksand Medium"/>
                <a:sym typeface="Quicksand Medium"/>
              </a:rPr>
              <a:t> </a:t>
            </a:r>
            <a:r>
              <a:rPr lang="en-US" sz="6000" b="1" dirty="0" err="1">
                <a:latin typeface="Quicksand Medium"/>
                <a:ea typeface="Quicksand Medium"/>
                <a:cs typeface="Quicksand Medium"/>
                <a:sym typeface="Quicksand Medium"/>
              </a:rPr>
              <a:t>tài</a:t>
            </a:r>
            <a:r>
              <a:rPr lang="en-US" sz="6000" b="1" dirty="0">
                <a:latin typeface="Quicksand Medium"/>
                <a:ea typeface="Quicksand Medium"/>
                <a:cs typeface="Quicksand Medium"/>
                <a:sym typeface="Quicksand Medium"/>
              </a:rPr>
              <a:t> </a:t>
            </a:r>
            <a:r>
              <a:rPr lang="en-US" sz="6000" b="1" dirty="0" err="1">
                <a:latin typeface="Quicksand Medium"/>
                <a:ea typeface="Quicksand Medium"/>
                <a:cs typeface="Quicksand Medium"/>
                <a:sym typeface="Quicksand Medium"/>
              </a:rPr>
              <a:t>và</a:t>
            </a:r>
            <a:r>
              <a:rPr lang="en-US" sz="6000" b="1" dirty="0">
                <a:latin typeface="Quicksand Medium"/>
                <a:ea typeface="Quicksand Medium"/>
                <a:cs typeface="Quicksand Medium"/>
                <a:sym typeface="Quicksand Medium"/>
              </a:rPr>
              <a:t> </a:t>
            </a:r>
            <a:r>
              <a:rPr lang="en-US" sz="6000" b="1" dirty="0" err="1">
                <a:latin typeface="Quicksand Medium"/>
                <a:ea typeface="Quicksand Medium"/>
                <a:cs typeface="Quicksand Medium"/>
                <a:sym typeface="Quicksand Medium"/>
              </a:rPr>
              <a:t>cơ</a:t>
            </a:r>
            <a:r>
              <a:rPr lang="en-US" sz="6000" b="1" dirty="0">
                <a:latin typeface="Quicksand Medium"/>
                <a:ea typeface="Quicksand Medium"/>
                <a:cs typeface="Quicksand Medium"/>
                <a:sym typeface="Quicksand Medium"/>
              </a:rPr>
              <a:t> </a:t>
            </a:r>
            <a:r>
              <a:rPr lang="en-US" sz="6000" b="1" dirty="0" err="1">
                <a:latin typeface="Quicksand Medium"/>
                <a:ea typeface="Quicksand Medium"/>
                <a:cs typeface="Quicksand Medium"/>
                <a:sym typeface="Quicksand Medium"/>
              </a:rPr>
              <a:t>sở</a:t>
            </a:r>
            <a:r>
              <a:rPr lang="en-US" sz="6000" b="1" dirty="0">
                <a:latin typeface="Quicksand Medium"/>
                <a:ea typeface="Quicksand Medium"/>
                <a:cs typeface="Quicksand Medium"/>
                <a:sym typeface="Quicksand Medium"/>
              </a:rPr>
              <a:t> </a:t>
            </a:r>
            <a:r>
              <a:rPr lang="en-US" sz="6000" b="1" dirty="0" err="1">
                <a:latin typeface="Quicksand Medium"/>
                <a:ea typeface="Quicksand Medium"/>
                <a:cs typeface="Quicksand Medium"/>
                <a:sym typeface="Quicksand Medium"/>
              </a:rPr>
              <a:t>lý</a:t>
            </a:r>
            <a:r>
              <a:rPr lang="en-US" sz="6000" b="1" dirty="0">
                <a:latin typeface="Quicksand Medium"/>
                <a:ea typeface="Quicksand Medium"/>
                <a:cs typeface="Quicksand Medium"/>
                <a:sym typeface="Quicksand Medium"/>
              </a:rPr>
              <a:t> </a:t>
            </a:r>
            <a:r>
              <a:rPr lang="en-US" sz="6000" b="1" dirty="0" err="1">
                <a:latin typeface="Quicksand Medium"/>
                <a:ea typeface="Quicksand Medium"/>
                <a:cs typeface="Quicksand Medium"/>
                <a:sym typeface="Quicksand Medium"/>
              </a:rPr>
              <a:t>thuyết</a:t>
            </a:r>
            <a:endParaRPr lang="en-US" sz="6000" b="1" dirty="0">
              <a:latin typeface="Quicksand Medium"/>
              <a:ea typeface="Quicksand Medium"/>
              <a:cs typeface="Quicksand Medium"/>
              <a:sym typeface="Quicksand Medium"/>
            </a:endParaRPr>
          </a:p>
        </p:txBody>
      </p:sp>
      <p:sp>
        <p:nvSpPr>
          <p:cNvPr id="3" name="Freeform 3"/>
          <p:cNvSpPr/>
          <p:nvPr/>
        </p:nvSpPr>
        <p:spPr>
          <a:xfrm rot="3520730">
            <a:off x="12716433" y="-2322789"/>
            <a:ext cx="8681652" cy="5215575"/>
          </a:xfrm>
          <a:custGeom>
            <a:avLst/>
            <a:gdLst/>
            <a:ahLst/>
            <a:cxnLst/>
            <a:rect l="l" t="t" r="r" b="b"/>
            <a:pathLst>
              <a:path w="8782363" h="5013931">
                <a:moveTo>
                  <a:pt x="0" y="0"/>
                </a:moveTo>
                <a:lnTo>
                  <a:pt x="8782362" y="0"/>
                </a:lnTo>
                <a:lnTo>
                  <a:pt x="8782362" y="5013931"/>
                </a:lnTo>
                <a:lnTo>
                  <a:pt x="0" y="501393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4" name="Group 4"/>
          <p:cNvGrpSpPr/>
          <p:nvPr/>
        </p:nvGrpSpPr>
        <p:grpSpPr>
          <a:xfrm>
            <a:off x="-608680" y="9258300"/>
            <a:ext cx="19505361" cy="15817074"/>
            <a:chOff x="0" y="0"/>
            <a:chExt cx="26007147" cy="21089432"/>
          </a:xfrm>
        </p:grpSpPr>
        <p:grpSp>
          <p:nvGrpSpPr>
            <p:cNvPr id="5" name="Group 5"/>
            <p:cNvGrpSpPr/>
            <p:nvPr/>
          </p:nvGrpSpPr>
          <p:grpSpPr>
            <a:xfrm rot="-5400000">
              <a:off x="7701470" y="-7701470"/>
              <a:ext cx="10544716" cy="25947656"/>
              <a:chOff x="0" y="0"/>
              <a:chExt cx="1272376" cy="3130969"/>
            </a:xfrm>
          </p:grpSpPr>
          <p:sp>
            <p:nvSpPr>
              <p:cNvPr id="6" name="Freeform 6"/>
              <p:cNvSpPr/>
              <p:nvPr/>
            </p:nvSpPr>
            <p:spPr>
              <a:xfrm>
                <a:off x="0" y="0"/>
                <a:ext cx="1272376" cy="3130969"/>
              </a:xfrm>
              <a:custGeom>
                <a:avLst/>
                <a:gdLst/>
                <a:ahLst/>
                <a:cxnLst/>
                <a:rect l="l" t="t" r="r" b="b"/>
                <a:pathLst>
                  <a:path w="1272376" h="3130969">
                    <a:moveTo>
                      <a:pt x="0" y="0"/>
                    </a:moveTo>
                    <a:lnTo>
                      <a:pt x="1272376" y="0"/>
                    </a:lnTo>
                    <a:lnTo>
                      <a:pt x="1272376" y="3130969"/>
                    </a:lnTo>
                    <a:lnTo>
                      <a:pt x="0" y="3130969"/>
                    </a:lnTo>
                    <a:close/>
                  </a:path>
                </a:pathLst>
              </a:custGeom>
              <a:solidFill>
                <a:srgbClr val="476376"/>
              </a:solidFill>
            </p:spPr>
          </p:sp>
          <p:sp>
            <p:nvSpPr>
              <p:cNvPr id="7" name="TextBox 7"/>
              <p:cNvSpPr txBox="1"/>
              <p:nvPr/>
            </p:nvSpPr>
            <p:spPr>
              <a:xfrm>
                <a:off x="0" y="-114300"/>
                <a:ext cx="1272376" cy="3245269"/>
              </a:xfrm>
              <a:prstGeom prst="rect">
                <a:avLst/>
              </a:prstGeom>
            </p:spPr>
            <p:txBody>
              <a:bodyPr lIns="50800" tIns="50800" rIns="50800" bIns="50800" rtlCol="0" anchor="ctr"/>
              <a:lstStyle/>
              <a:p>
                <a:pPr algn="ctr">
                  <a:lnSpc>
                    <a:spcPts val="3765"/>
                  </a:lnSpc>
                </a:pPr>
                <a:endParaRPr/>
              </a:p>
            </p:txBody>
          </p:sp>
        </p:grpSp>
        <p:sp>
          <p:nvSpPr>
            <p:cNvPr id="8" name="Freeform 8"/>
            <p:cNvSpPr/>
            <p:nvPr/>
          </p:nvSpPr>
          <p:spPr>
            <a:xfrm rot="-5400000">
              <a:off x="2458858" y="-2458858"/>
              <a:ext cx="21089432" cy="26007147"/>
            </a:xfrm>
            <a:custGeom>
              <a:avLst/>
              <a:gdLst/>
              <a:ahLst/>
              <a:cxnLst/>
              <a:rect l="l" t="t" r="r" b="b"/>
              <a:pathLst>
                <a:path w="21089432" h="26007147">
                  <a:moveTo>
                    <a:pt x="0" y="0"/>
                  </a:moveTo>
                  <a:lnTo>
                    <a:pt x="21089432" y="0"/>
                  </a:lnTo>
                  <a:lnTo>
                    <a:pt x="21089432" y="26007148"/>
                  </a:lnTo>
                  <a:lnTo>
                    <a:pt x="0" y="2600714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sp>
        <p:nvSpPr>
          <p:cNvPr id="10" name="TextBox 10"/>
          <p:cNvSpPr txBox="1"/>
          <p:nvPr/>
        </p:nvSpPr>
        <p:spPr>
          <a:xfrm>
            <a:off x="1028700" y="2092911"/>
            <a:ext cx="15636174" cy="1297278"/>
          </a:xfrm>
          <a:prstGeom prst="rect">
            <a:avLst/>
          </a:prstGeom>
        </p:spPr>
        <p:txBody>
          <a:bodyPr lIns="0" tIns="0" rIns="0" bIns="0" rtlCol="0" anchor="t">
            <a:spAutoFit/>
          </a:bodyPr>
          <a:lstStyle/>
          <a:p>
            <a:pPr marL="402553" lvl="1" algn="l">
              <a:lnSpc>
                <a:spcPts val="6339"/>
              </a:lnSpc>
            </a:pPr>
            <a:r>
              <a:rPr lang="en-US" sz="3729" dirty="0" err="1">
                <a:solidFill>
                  <a:srgbClr val="203847"/>
                </a:solidFill>
                <a:latin typeface="Quicksand"/>
                <a:ea typeface="Quicksand"/>
                <a:cs typeface="Quicksand"/>
                <a:sym typeface="Quicksand"/>
              </a:rPr>
              <a:t>Khai</a:t>
            </a:r>
            <a:r>
              <a:rPr lang="en-US" sz="3729" dirty="0">
                <a:solidFill>
                  <a:srgbClr val="203847"/>
                </a:solidFill>
                <a:latin typeface="Quicksand"/>
                <a:ea typeface="Quicksand"/>
                <a:cs typeface="Quicksand"/>
                <a:sym typeface="Quicksand"/>
              </a:rPr>
              <a:t> </a:t>
            </a:r>
            <a:r>
              <a:rPr lang="en-US" sz="3729" dirty="0" err="1">
                <a:solidFill>
                  <a:srgbClr val="203847"/>
                </a:solidFill>
                <a:latin typeface="Quicksand"/>
                <a:ea typeface="Quicksand"/>
                <a:cs typeface="Quicksand"/>
                <a:sym typeface="Quicksand"/>
              </a:rPr>
              <a:t>phá</a:t>
            </a:r>
            <a:r>
              <a:rPr lang="en-US" sz="3729" dirty="0">
                <a:solidFill>
                  <a:srgbClr val="203847"/>
                </a:solidFill>
                <a:latin typeface="Quicksand"/>
                <a:ea typeface="Quicksand"/>
                <a:cs typeface="Quicksand"/>
                <a:sym typeface="Quicksand"/>
              </a:rPr>
              <a:t> </a:t>
            </a:r>
            <a:r>
              <a:rPr lang="en-US" sz="3729" dirty="0" err="1">
                <a:solidFill>
                  <a:srgbClr val="203847"/>
                </a:solidFill>
                <a:latin typeface="Quicksand"/>
                <a:ea typeface="Quicksand"/>
                <a:cs typeface="Quicksand"/>
                <a:sym typeface="Quicksand"/>
              </a:rPr>
              <a:t>dữ</a:t>
            </a:r>
            <a:r>
              <a:rPr lang="en-US" sz="3729" dirty="0">
                <a:solidFill>
                  <a:srgbClr val="203847"/>
                </a:solidFill>
                <a:latin typeface="Quicksand"/>
                <a:ea typeface="Quicksand"/>
                <a:cs typeface="Quicksand"/>
                <a:sym typeface="Quicksand"/>
              </a:rPr>
              <a:t> </a:t>
            </a:r>
            <a:r>
              <a:rPr lang="en-US" sz="3729" dirty="0" err="1">
                <a:solidFill>
                  <a:srgbClr val="203847"/>
                </a:solidFill>
                <a:latin typeface="Quicksand"/>
                <a:ea typeface="Quicksand"/>
                <a:cs typeface="Quicksand"/>
                <a:sym typeface="Quicksand"/>
              </a:rPr>
              <a:t>liệu</a:t>
            </a:r>
            <a:r>
              <a:rPr lang="en-US" sz="3729" dirty="0">
                <a:solidFill>
                  <a:srgbClr val="203847"/>
                </a:solidFill>
                <a:latin typeface="Quicksand"/>
                <a:ea typeface="Quicksand"/>
                <a:cs typeface="Quicksand"/>
                <a:sym typeface="Quicksand"/>
              </a:rPr>
              <a:t>:</a:t>
            </a:r>
          </a:p>
          <a:p>
            <a:pPr marL="805107" lvl="1" indent="-402554" algn="just">
              <a:lnSpc>
                <a:spcPct val="150000"/>
              </a:lnSpc>
              <a:buFont typeface="Arial"/>
              <a:buChar char="•"/>
            </a:pPr>
            <a:r>
              <a:rPr lang="en-US" sz="2400" dirty="0" err="1">
                <a:latin typeface="Quicksand Medium" panose="020B0604020202020204" charset="0"/>
              </a:rPr>
              <a:t>Các</a:t>
            </a:r>
            <a:r>
              <a:rPr lang="en-US" sz="2400" dirty="0">
                <a:latin typeface="Quicksand Medium" panose="020B0604020202020204" charset="0"/>
              </a:rPr>
              <a:t> </a:t>
            </a:r>
            <a:r>
              <a:rPr lang="en-US" sz="2400" dirty="0" err="1">
                <a:latin typeface="Quicksand Medium" panose="020B0604020202020204" charset="0"/>
              </a:rPr>
              <a:t>kỹ</a:t>
            </a:r>
            <a:r>
              <a:rPr lang="en-US" sz="2400" dirty="0">
                <a:latin typeface="Quicksand Medium" panose="020B0604020202020204" charset="0"/>
              </a:rPr>
              <a:t> </a:t>
            </a:r>
            <a:r>
              <a:rPr lang="en-US" sz="2400" dirty="0" err="1">
                <a:latin typeface="Quicksand Medium" panose="020B0604020202020204" charset="0"/>
              </a:rPr>
              <a:t>thuật</a:t>
            </a:r>
            <a:r>
              <a:rPr lang="en-US" sz="2400" dirty="0">
                <a:latin typeface="Quicksand Medium" panose="020B0604020202020204" charset="0"/>
              </a:rPr>
              <a:t>: </a:t>
            </a:r>
            <a:r>
              <a:rPr lang="en-US" sz="2400" dirty="0" err="1">
                <a:latin typeface="Quicksand Medium" panose="020B0604020202020204" charset="0"/>
              </a:rPr>
              <a:t>Phân</a:t>
            </a:r>
            <a:r>
              <a:rPr lang="en-US" sz="2400" dirty="0">
                <a:latin typeface="Quicksand Medium" panose="020B0604020202020204" charset="0"/>
              </a:rPr>
              <a:t> </a:t>
            </a:r>
            <a:r>
              <a:rPr lang="en-US" sz="2400" dirty="0" err="1">
                <a:latin typeface="Quicksand Medium" panose="020B0604020202020204" charset="0"/>
              </a:rPr>
              <a:t>cụm</a:t>
            </a:r>
            <a:r>
              <a:rPr lang="en-US" sz="2400" dirty="0">
                <a:latin typeface="Quicksand Medium" panose="020B0604020202020204" charset="0"/>
              </a:rPr>
              <a:t>, </a:t>
            </a:r>
            <a:r>
              <a:rPr lang="en-US" sz="2400" dirty="0" err="1">
                <a:latin typeface="Quicksand Medium" panose="020B0604020202020204" charset="0"/>
              </a:rPr>
              <a:t>trực</a:t>
            </a:r>
            <a:r>
              <a:rPr lang="en-US" sz="2400" dirty="0">
                <a:latin typeface="Quicksand Medium" panose="020B0604020202020204" charset="0"/>
              </a:rPr>
              <a:t> </a:t>
            </a:r>
            <a:r>
              <a:rPr lang="en-US" sz="2400" dirty="0" err="1">
                <a:latin typeface="Quicksand Medium" panose="020B0604020202020204" charset="0"/>
              </a:rPr>
              <a:t>quan</a:t>
            </a:r>
            <a:r>
              <a:rPr lang="en-US" sz="2400" dirty="0">
                <a:latin typeface="Quicksand Medium" panose="020B0604020202020204" charset="0"/>
              </a:rPr>
              <a:t> </a:t>
            </a:r>
            <a:r>
              <a:rPr lang="en-US" sz="2400" dirty="0" err="1">
                <a:latin typeface="Quicksand Medium" panose="020B0604020202020204" charset="0"/>
              </a:rPr>
              <a:t>hóa</a:t>
            </a:r>
            <a:r>
              <a:rPr lang="en-US" sz="2400" dirty="0">
                <a:latin typeface="Quicksand Medium" panose="020B0604020202020204" charset="0"/>
              </a:rPr>
              <a:t> </a:t>
            </a:r>
            <a:r>
              <a:rPr lang="en-US" sz="2400" dirty="0" err="1">
                <a:latin typeface="Quicksand Medium" panose="020B0604020202020204" charset="0"/>
              </a:rPr>
              <a:t>dữ</a:t>
            </a:r>
            <a:r>
              <a:rPr lang="en-US" sz="2400" dirty="0">
                <a:latin typeface="Quicksand Medium" panose="020B0604020202020204" charset="0"/>
              </a:rPr>
              <a:t> </a:t>
            </a:r>
            <a:r>
              <a:rPr lang="en-US" sz="2400" dirty="0" err="1">
                <a:latin typeface="Quicksand Medium" panose="020B0604020202020204" charset="0"/>
              </a:rPr>
              <a:t>liệu</a:t>
            </a:r>
            <a:r>
              <a:rPr lang="en-US" sz="2400" dirty="0">
                <a:latin typeface="Quicksand Medium" panose="020B0604020202020204" charset="0"/>
              </a:rPr>
              <a:t>, </a:t>
            </a:r>
            <a:r>
              <a:rPr lang="en-US" sz="2400" dirty="0" err="1">
                <a:latin typeface="Quicksand Medium" panose="020B0604020202020204" charset="0"/>
              </a:rPr>
              <a:t>tổng</a:t>
            </a:r>
            <a:r>
              <a:rPr lang="en-US" sz="2400" dirty="0">
                <a:latin typeface="Quicksand Medium" panose="020B0604020202020204" charset="0"/>
              </a:rPr>
              <a:t> </a:t>
            </a:r>
            <a:r>
              <a:rPr lang="en-US" sz="2400" dirty="0" err="1">
                <a:latin typeface="Quicksand Medium" panose="020B0604020202020204" charset="0"/>
              </a:rPr>
              <a:t>hợp</a:t>
            </a:r>
            <a:r>
              <a:rPr lang="en-US" sz="2400" dirty="0">
                <a:latin typeface="Quicksand Medium" panose="020B0604020202020204" charset="0"/>
              </a:rPr>
              <a:t> </a:t>
            </a:r>
            <a:r>
              <a:rPr lang="en-US" sz="2400" dirty="0" err="1">
                <a:latin typeface="Quicksand Medium" panose="020B0604020202020204" charset="0"/>
              </a:rPr>
              <a:t>dữ</a:t>
            </a:r>
            <a:r>
              <a:rPr lang="en-US" sz="2400" dirty="0">
                <a:latin typeface="Quicksand Medium" panose="020B0604020202020204" charset="0"/>
              </a:rPr>
              <a:t> </a:t>
            </a:r>
            <a:r>
              <a:rPr lang="en-US" sz="2400" dirty="0" err="1">
                <a:latin typeface="Quicksand Medium" panose="020B0604020202020204" charset="0"/>
              </a:rPr>
              <a:t>liệu</a:t>
            </a:r>
            <a:r>
              <a:rPr lang="en-US" sz="2400" dirty="0">
                <a:latin typeface="Quicksand Medium" panose="020B0604020202020204" charset="0"/>
              </a:rPr>
              <a:t> </a:t>
            </a:r>
            <a:r>
              <a:rPr lang="en-US" sz="2400" dirty="0" err="1">
                <a:latin typeface="Quicksand Medium" panose="020B0604020202020204" charset="0"/>
              </a:rPr>
              <a:t>và</a:t>
            </a:r>
            <a:r>
              <a:rPr lang="en-US" sz="2400" dirty="0">
                <a:latin typeface="Quicksand Medium" panose="020B0604020202020204" charset="0"/>
              </a:rPr>
              <a:t> </a:t>
            </a:r>
            <a:r>
              <a:rPr lang="en-US" sz="2400" dirty="0" err="1">
                <a:latin typeface="Quicksand Medium" panose="020B0604020202020204" charset="0"/>
              </a:rPr>
              <a:t>phân</a:t>
            </a:r>
            <a:r>
              <a:rPr lang="en-US" sz="2400" dirty="0">
                <a:latin typeface="Quicksand Medium" panose="020B0604020202020204" charset="0"/>
              </a:rPr>
              <a:t> </a:t>
            </a:r>
            <a:r>
              <a:rPr lang="en-US" sz="2400" dirty="0" err="1">
                <a:latin typeface="Quicksand Medium" panose="020B0604020202020204" charset="0"/>
              </a:rPr>
              <a:t>tích</a:t>
            </a:r>
            <a:r>
              <a:rPr lang="en-US" sz="2400" dirty="0">
                <a:latin typeface="Quicksand Medium" panose="020B0604020202020204" charset="0"/>
              </a:rPr>
              <a:t> xu </a:t>
            </a:r>
            <a:r>
              <a:rPr lang="en-US" sz="2400" dirty="0" err="1">
                <a:latin typeface="Quicksand Medium" panose="020B0604020202020204" charset="0"/>
              </a:rPr>
              <a:t>hướng</a:t>
            </a:r>
            <a:r>
              <a:rPr lang="en-US" sz="2400" dirty="0">
                <a:latin typeface="Quicksand Medium" panose="020B0604020202020204" charset="0"/>
              </a:rPr>
              <a:t> </a:t>
            </a:r>
            <a:r>
              <a:rPr lang="en-US" sz="2400" dirty="0" err="1">
                <a:latin typeface="Quicksand Medium" panose="020B0604020202020204" charset="0"/>
              </a:rPr>
              <a:t>và</a:t>
            </a:r>
            <a:r>
              <a:rPr lang="en-US" sz="2400" dirty="0">
                <a:latin typeface="Quicksand Medium" panose="020B0604020202020204" charset="0"/>
              </a:rPr>
              <a:t> </a:t>
            </a:r>
            <a:r>
              <a:rPr lang="en-US" sz="2400" dirty="0" err="1">
                <a:latin typeface="Quicksand Medium" panose="020B0604020202020204" charset="0"/>
              </a:rPr>
              <a:t>độ</a:t>
            </a:r>
            <a:r>
              <a:rPr lang="en-US" sz="2400" dirty="0">
                <a:latin typeface="Quicksand Medium" panose="020B0604020202020204" charset="0"/>
              </a:rPr>
              <a:t> </a:t>
            </a:r>
            <a:r>
              <a:rPr lang="en-US" sz="2400" dirty="0" err="1">
                <a:latin typeface="Quicksand Medium" panose="020B0604020202020204" charset="0"/>
              </a:rPr>
              <a:t>lệch</a:t>
            </a:r>
            <a:endParaRPr lang="en-US" sz="2200" dirty="0">
              <a:latin typeface="Quicksand Medium" panose="020B0604020202020204" charset="0"/>
            </a:endParaRPr>
          </a:p>
        </p:txBody>
      </p:sp>
      <p:pic>
        <p:nvPicPr>
          <p:cNvPr id="11" name="Picture 10">
            <a:extLst>
              <a:ext uri="{FF2B5EF4-FFF2-40B4-BE49-F238E27FC236}">
                <a16:creationId xmlns:a16="http://schemas.microsoft.com/office/drawing/2014/main" id="{6B17DC7B-C533-4FDB-95B3-CB6BC1F4529F}"/>
              </a:ext>
            </a:extLst>
          </p:cNvPr>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2971800" y="3542944"/>
            <a:ext cx="11430000" cy="5715355"/>
          </a:xfrm>
          <a:prstGeom prst="rect">
            <a:avLst/>
          </a:prstGeom>
          <a:noFill/>
          <a:ln>
            <a:noFill/>
          </a:ln>
        </p:spPr>
      </p:pic>
    </p:spTree>
    <p:extLst>
      <p:ext uri="{BB962C8B-B14F-4D97-AF65-F5344CB8AC3E}">
        <p14:creationId xmlns:p14="http://schemas.microsoft.com/office/powerpoint/2010/main" val="30864029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321771"/>
            <a:ext cx="14058900" cy="1117614"/>
          </a:xfrm>
          <a:prstGeom prst="rect">
            <a:avLst/>
          </a:prstGeom>
        </p:spPr>
        <p:txBody>
          <a:bodyPr wrap="square" lIns="0" tIns="0" rIns="0" bIns="0" rtlCol="0" anchor="t">
            <a:spAutoFit/>
          </a:bodyPr>
          <a:lstStyle/>
          <a:p>
            <a:pPr algn="just">
              <a:lnSpc>
                <a:spcPts val="9675"/>
              </a:lnSpc>
              <a:spcBef>
                <a:spcPct val="0"/>
              </a:spcBef>
            </a:pPr>
            <a:r>
              <a:rPr lang="en-US" sz="6000" b="1" dirty="0">
                <a:latin typeface="Quicksand Semi-Bold"/>
                <a:ea typeface="Quicksand Semi-Bold"/>
                <a:cs typeface="Quicksand Semi-Bold"/>
                <a:sym typeface="Quicksand Semi-Bold"/>
              </a:rPr>
              <a:t>2. </a:t>
            </a:r>
            <a:r>
              <a:rPr lang="en-US" sz="6000" b="1" dirty="0" err="1">
                <a:latin typeface="Quicksand Medium"/>
                <a:ea typeface="Quicksand Medium"/>
                <a:cs typeface="Quicksand Medium"/>
                <a:sym typeface="Quicksand Medium"/>
              </a:rPr>
              <a:t>Tổng</a:t>
            </a:r>
            <a:r>
              <a:rPr lang="en-US" sz="6000" b="1" dirty="0">
                <a:latin typeface="Quicksand Medium"/>
                <a:ea typeface="Quicksand Medium"/>
                <a:cs typeface="Quicksand Medium"/>
                <a:sym typeface="Quicksand Medium"/>
              </a:rPr>
              <a:t> </a:t>
            </a:r>
            <a:r>
              <a:rPr lang="en-US" sz="6000" b="1" dirty="0" err="1">
                <a:latin typeface="Quicksand Medium"/>
                <a:ea typeface="Quicksand Medium"/>
                <a:cs typeface="Quicksand Medium"/>
                <a:sym typeface="Quicksand Medium"/>
              </a:rPr>
              <a:t>quan</a:t>
            </a:r>
            <a:r>
              <a:rPr lang="en-US" sz="6000" b="1" dirty="0">
                <a:latin typeface="Quicksand Medium"/>
                <a:ea typeface="Quicksand Medium"/>
                <a:cs typeface="Quicksand Medium"/>
                <a:sym typeface="Quicksand Medium"/>
              </a:rPr>
              <a:t> </a:t>
            </a:r>
            <a:r>
              <a:rPr lang="en-US" sz="6000" b="1" dirty="0" err="1">
                <a:latin typeface="Quicksand Medium"/>
                <a:ea typeface="Quicksand Medium"/>
                <a:cs typeface="Quicksand Medium"/>
                <a:sym typeface="Quicksand Medium"/>
              </a:rPr>
              <a:t>đề</a:t>
            </a:r>
            <a:r>
              <a:rPr lang="en-US" sz="6000" b="1" dirty="0">
                <a:latin typeface="Quicksand Medium"/>
                <a:ea typeface="Quicksand Medium"/>
                <a:cs typeface="Quicksand Medium"/>
                <a:sym typeface="Quicksand Medium"/>
              </a:rPr>
              <a:t> </a:t>
            </a:r>
            <a:r>
              <a:rPr lang="en-US" sz="6000" b="1" dirty="0" err="1">
                <a:latin typeface="Quicksand Medium"/>
                <a:ea typeface="Quicksand Medium"/>
                <a:cs typeface="Quicksand Medium"/>
                <a:sym typeface="Quicksand Medium"/>
              </a:rPr>
              <a:t>tài</a:t>
            </a:r>
            <a:r>
              <a:rPr lang="en-US" sz="6000" b="1" dirty="0">
                <a:latin typeface="Quicksand Medium"/>
                <a:ea typeface="Quicksand Medium"/>
                <a:cs typeface="Quicksand Medium"/>
                <a:sym typeface="Quicksand Medium"/>
              </a:rPr>
              <a:t> </a:t>
            </a:r>
            <a:r>
              <a:rPr lang="en-US" sz="6000" b="1" dirty="0" err="1">
                <a:latin typeface="Quicksand Medium"/>
                <a:ea typeface="Quicksand Medium"/>
                <a:cs typeface="Quicksand Medium"/>
                <a:sym typeface="Quicksand Medium"/>
              </a:rPr>
              <a:t>và</a:t>
            </a:r>
            <a:r>
              <a:rPr lang="en-US" sz="6000" b="1" dirty="0">
                <a:latin typeface="Quicksand Medium"/>
                <a:ea typeface="Quicksand Medium"/>
                <a:cs typeface="Quicksand Medium"/>
                <a:sym typeface="Quicksand Medium"/>
              </a:rPr>
              <a:t> </a:t>
            </a:r>
            <a:r>
              <a:rPr lang="en-US" sz="6000" b="1" dirty="0" err="1">
                <a:latin typeface="Quicksand Medium"/>
                <a:ea typeface="Quicksand Medium"/>
                <a:cs typeface="Quicksand Medium"/>
                <a:sym typeface="Quicksand Medium"/>
              </a:rPr>
              <a:t>cơ</a:t>
            </a:r>
            <a:r>
              <a:rPr lang="en-US" sz="6000" b="1" dirty="0">
                <a:latin typeface="Quicksand Medium"/>
                <a:ea typeface="Quicksand Medium"/>
                <a:cs typeface="Quicksand Medium"/>
                <a:sym typeface="Quicksand Medium"/>
              </a:rPr>
              <a:t> </a:t>
            </a:r>
            <a:r>
              <a:rPr lang="en-US" sz="6000" b="1" dirty="0" err="1">
                <a:latin typeface="Quicksand Medium"/>
                <a:ea typeface="Quicksand Medium"/>
                <a:cs typeface="Quicksand Medium"/>
                <a:sym typeface="Quicksand Medium"/>
              </a:rPr>
              <a:t>sở</a:t>
            </a:r>
            <a:r>
              <a:rPr lang="en-US" sz="6000" b="1" dirty="0">
                <a:latin typeface="Quicksand Medium"/>
                <a:ea typeface="Quicksand Medium"/>
                <a:cs typeface="Quicksand Medium"/>
                <a:sym typeface="Quicksand Medium"/>
              </a:rPr>
              <a:t> </a:t>
            </a:r>
            <a:r>
              <a:rPr lang="en-US" sz="6000" b="1" dirty="0" err="1">
                <a:latin typeface="Quicksand Medium"/>
                <a:ea typeface="Quicksand Medium"/>
                <a:cs typeface="Quicksand Medium"/>
                <a:sym typeface="Quicksand Medium"/>
              </a:rPr>
              <a:t>lý</a:t>
            </a:r>
            <a:r>
              <a:rPr lang="en-US" sz="6000" b="1" dirty="0">
                <a:latin typeface="Quicksand Medium"/>
                <a:ea typeface="Quicksand Medium"/>
                <a:cs typeface="Quicksand Medium"/>
                <a:sym typeface="Quicksand Medium"/>
              </a:rPr>
              <a:t> </a:t>
            </a:r>
            <a:r>
              <a:rPr lang="en-US" sz="6000" b="1" dirty="0" err="1">
                <a:latin typeface="Quicksand Medium"/>
                <a:ea typeface="Quicksand Medium"/>
                <a:cs typeface="Quicksand Medium"/>
                <a:sym typeface="Quicksand Medium"/>
              </a:rPr>
              <a:t>thuyết</a:t>
            </a:r>
            <a:endParaRPr lang="en-US" sz="6000" b="1" dirty="0">
              <a:latin typeface="Quicksand Medium"/>
              <a:ea typeface="Quicksand Medium"/>
              <a:cs typeface="Quicksand Medium"/>
              <a:sym typeface="Quicksand Medium"/>
            </a:endParaRPr>
          </a:p>
        </p:txBody>
      </p:sp>
      <p:sp>
        <p:nvSpPr>
          <p:cNvPr id="3" name="Freeform 3"/>
          <p:cNvSpPr/>
          <p:nvPr/>
        </p:nvSpPr>
        <p:spPr>
          <a:xfrm rot="3520730">
            <a:off x="12716433" y="-2322789"/>
            <a:ext cx="8681652" cy="5215575"/>
          </a:xfrm>
          <a:custGeom>
            <a:avLst/>
            <a:gdLst/>
            <a:ahLst/>
            <a:cxnLst/>
            <a:rect l="l" t="t" r="r" b="b"/>
            <a:pathLst>
              <a:path w="8782363" h="5013931">
                <a:moveTo>
                  <a:pt x="0" y="0"/>
                </a:moveTo>
                <a:lnTo>
                  <a:pt x="8782362" y="0"/>
                </a:lnTo>
                <a:lnTo>
                  <a:pt x="8782362" y="5013931"/>
                </a:lnTo>
                <a:lnTo>
                  <a:pt x="0" y="501393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4" name="Group 4"/>
          <p:cNvGrpSpPr/>
          <p:nvPr/>
        </p:nvGrpSpPr>
        <p:grpSpPr>
          <a:xfrm>
            <a:off x="-608680" y="9258300"/>
            <a:ext cx="19505361" cy="15817074"/>
            <a:chOff x="0" y="0"/>
            <a:chExt cx="26007147" cy="21089432"/>
          </a:xfrm>
        </p:grpSpPr>
        <p:grpSp>
          <p:nvGrpSpPr>
            <p:cNvPr id="5" name="Group 5"/>
            <p:cNvGrpSpPr/>
            <p:nvPr/>
          </p:nvGrpSpPr>
          <p:grpSpPr>
            <a:xfrm rot="-5400000">
              <a:off x="7701470" y="-7701470"/>
              <a:ext cx="10544716" cy="25947656"/>
              <a:chOff x="0" y="0"/>
              <a:chExt cx="1272376" cy="3130969"/>
            </a:xfrm>
          </p:grpSpPr>
          <p:sp>
            <p:nvSpPr>
              <p:cNvPr id="6" name="Freeform 6"/>
              <p:cNvSpPr/>
              <p:nvPr/>
            </p:nvSpPr>
            <p:spPr>
              <a:xfrm>
                <a:off x="0" y="0"/>
                <a:ext cx="1272376" cy="3130969"/>
              </a:xfrm>
              <a:custGeom>
                <a:avLst/>
                <a:gdLst/>
                <a:ahLst/>
                <a:cxnLst/>
                <a:rect l="l" t="t" r="r" b="b"/>
                <a:pathLst>
                  <a:path w="1272376" h="3130969">
                    <a:moveTo>
                      <a:pt x="0" y="0"/>
                    </a:moveTo>
                    <a:lnTo>
                      <a:pt x="1272376" y="0"/>
                    </a:lnTo>
                    <a:lnTo>
                      <a:pt x="1272376" y="3130969"/>
                    </a:lnTo>
                    <a:lnTo>
                      <a:pt x="0" y="3130969"/>
                    </a:lnTo>
                    <a:close/>
                  </a:path>
                </a:pathLst>
              </a:custGeom>
              <a:solidFill>
                <a:srgbClr val="476376"/>
              </a:solidFill>
            </p:spPr>
          </p:sp>
          <p:sp>
            <p:nvSpPr>
              <p:cNvPr id="7" name="TextBox 7"/>
              <p:cNvSpPr txBox="1"/>
              <p:nvPr/>
            </p:nvSpPr>
            <p:spPr>
              <a:xfrm>
                <a:off x="0" y="-114300"/>
                <a:ext cx="1272376" cy="3245269"/>
              </a:xfrm>
              <a:prstGeom prst="rect">
                <a:avLst/>
              </a:prstGeom>
            </p:spPr>
            <p:txBody>
              <a:bodyPr lIns="50800" tIns="50800" rIns="50800" bIns="50800" rtlCol="0" anchor="ctr"/>
              <a:lstStyle/>
              <a:p>
                <a:pPr algn="ctr">
                  <a:lnSpc>
                    <a:spcPts val="3765"/>
                  </a:lnSpc>
                </a:pPr>
                <a:endParaRPr/>
              </a:p>
            </p:txBody>
          </p:sp>
        </p:grpSp>
        <p:sp>
          <p:nvSpPr>
            <p:cNvPr id="8" name="Freeform 8"/>
            <p:cNvSpPr/>
            <p:nvPr/>
          </p:nvSpPr>
          <p:spPr>
            <a:xfrm rot="-5400000">
              <a:off x="2458858" y="-2458858"/>
              <a:ext cx="21089432" cy="26007147"/>
            </a:xfrm>
            <a:custGeom>
              <a:avLst/>
              <a:gdLst/>
              <a:ahLst/>
              <a:cxnLst/>
              <a:rect l="l" t="t" r="r" b="b"/>
              <a:pathLst>
                <a:path w="21089432" h="26007147">
                  <a:moveTo>
                    <a:pt x="0" y="0"/>
                  </a:moveTo>
                  <a:lnTo>
                    <a:pt x="21089432" y="0"/>
                  </a:lnTo>
                  <a:lnTo>
                    <a:pt x="21089432" y="26007148"/>
                  </a:lnTo>
                  <a:lnTo>
                    <a:pt x="0" y="26007148"/>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pSp>
      <p:sp>
        <p:nvSpPr>
          <p:cNvPr id="10" name="TextBox 10"/>
          <p:cNvSpPr txBox="1"/>
          <p:nvPr/>
        </p:nvSpPr>
        <p:spPr>
          <a:xfrm>
            <a:off x="1164771" y="1582701"/>
            <a:ext cx="7734300" cy="1851276"/>
          </a:xfrm>
          <a:prstGeom prst="rect">
            <a:avLst/>
          </a:prstGeom>
        </p:spPr>
        <p:txBody>
          <a:bodyPr wrap="square" lIns="0" tIns="0" rIns="0" bIns="0" rtlCol="0" anchor="t">
            <a:spAutoFit/>
          </a:bodyPr>
          <a:lstStyle/>
          <a:p>
            <a:pPr marL="402553" lvl="1" algn="l">
              <a:lnSpc>
                <a:spcPts val="6339"/>
              </a:lnSpc>
            </a:pPr>
            <a:r>
              <a:rPr lang="en-US" sz="3729" dirty="0" err="1">
                <a:solidFill>
                  <a:srgbClr val="203847"/>
                </a:solidFill>
                <a:latin typeface="Quicksand"/>
                <a:ea typeface="Quicksand"/>
                <a:cs typeface="Quicksand"/>
                <a:sym typeface="Quicksand"/>
              </a:rPr>
              <a:t>Mạng</a:t>
            </a:r>
            <a:r>
              <a:rPr lang="en-US" sz="3729" dirty="0">
                <a:solidFill>
                  <a:srgbClr val="203847"/>
                </a:solidFill>
                <a:latin typeface="Quicksand"/>
                <a:ea typeface="Quicksand"/>
                <a:cs typeface="Quicksand"/>
                <a:sym typeface="Quicksand"/>
              </a:rPr>
              <a:t> CNN:</a:t>
            </a:r>
          </a:p>
          <a:p>
            <a:pPr marL="805107" lvl="1" indent="-402554" algn="just">
              <a:lnSpc>
                <a:spcPct val="150000"/>
              </a:lnSpc>
              <a:buFont typeface="Arial"/>
              <a:buChar char="•"/>
            </a:pPr>
            <a:r>
              <a:rPr lang="en-US" sz="2400" dirty="0" err="1">
                <a:effectLst/>
                <a:latin typeface="Quicksand Medium" panose="020B0604020202020204" charset="0"/>
                <a:ea typeface="Times New Roman" panose="02020603050405020304" pitchFamily="18" charset="0"/>
              </a:rPr>
              <a:t>là</a:t>
            </a:r>
            <a:r>
              <a:rPr lang="en-US" sz="2400" dirty="0">
                <a:effectLst/>
                <a:latin typeface="Quicksand Medium" panose="020B0604020202020204" charset="0"/>
                <a:ea typeface="Times New Roman" panose="02020603050405020304" pitchFamily="18" charset="0"/>
              </a:rPr>
              <a:t> </a:t>
            </a:r>
            <a:r>
              <a:rPr lang="en-US" sz="2400" dirty="0" err="1">
                <a:effectLst/>
                <a:latin typeface="Quicksand Medium" panose="020B0604020202020204" charset="0"/>
                <a:ea typeface="Times New Roman" panose="02020603050405020304" pitchFamily="18" charset="0"/>
              </a:rPr>
              <a:t>một</a:t>
            </a:r>
            <a:r>
              <a:rPr lang="en-US" sz="2400" dirty="0">
                <a:effectLst/>
                <a:latin typeface="Quicksand Medium" panose="020B0604020202020204" charset="0"/>
                <a:ea typeface="Times New Roman" panose="02020603050405020304" pitchFamily="18" charset="0"/>
              </a:rPr>
              <a:t> </a:t>
            </a:r>
            <a:r>
              <a:rPr lang="en-US" sz="2400" dirty="0" err="1">
                <a:effectLst/>
                <a:latin typeface="Quicksand Medium" panose="020B0604020202020204" charset="0"/>
                <a:ea typeface="Times New Roman" panose="02020603050405020304" pitchFamily="18" charset="0"/>
              </a:rPr>
              <a:t>loại</a:t>
            </a:r>
            <a:r>
              <a:rPr lang="en-US" sz="2400" dirty="0">
                <a:effectLst/>
                <a:latin typeface="Quicksand Medium" panose="020B0604020202020204" charset="0"/>
                <a:ea typeface="Times New Roman" panose="02020603050405020304" pitchFamily="18" charset="0"/>
              </a:rPr>
              <a:t> </a:t>
            </a:r>
            <a:r>
              <a:rPr lang="en-US" sz="2400" dirty="0" err="1">
                <a:effectLst/>
                <a:latin typeface="Quicksand Medium" panose="020B0604020202020204" charset="0"/>
                <a:ea typeface="Times New Roman" panose="02020603050405020304" pitchFamily="18" charset="0"/>
              </a:rPr>
              <a:t>mạng</a:t>
            </a:r>
            <a:r>
              <a:rPr lang="en-US" sz="2400" dirty="0">
                <a:effectLst/>
                <a:latin typeface="Quicksand Medium" panose="020B0604020202020204" charset="0"/>
                <a:ea typeface="Times New Roman" panose="02020603050405020304" pitchFamily="18" charset="0"/>
              </a:rPr>
              <a:t> </a:t>
            </a:r>
            <a:r>
              <a:rPr lang="en-US" sz="2400" dirty="0" err="1">
                <a:effectLst/>
                <a:latin typeface="Quicksand Medium" panose="020B0604020202020204" charset="0"/>
                <a:ea typeface="Times New Roman" panose="02020603050405020304" pitchFamily="18" charset="0"/>
              </a:rPr>
              <a:t>học</a:t>
            </a:r>
            <a:r>
              <a:rPr lang="en-US" sz="2400" dirty="0">
                <a:effectLst/>
                <a:latin typeface="Quicksand Medium" panose="020B0604020202020204" charset="0"/>
                <a:ea typeface="Times New Roman" panose="02020603050405020304" pitchFamily="18" charset="0"/>
              </a:rPr>
              <a:t> </a:t>
            </a:r>
            <a:r>
              <a:rPr lang="en-US" sz="2400" dirty="0" err="1">
                <a:effectLst/>
                <a:latin typeface="Quicksand Medium" panose="020B0604020202020204" charset="0"/>
                <a:ea typeface="Times New Roman" panose="02020603050405020304" pitchFamily="18" charset="0"/>
              </a:rPr>
              <a:t>sâu</a:t>
            </a:r>
            <a:r>
              <a:rPr lang="en-US" sz="2400" dirty="0">
                <a:effectLst/>
                <a:latin typeface="Quicksand Medium" panose="020B0604020202020204" charset="0"/>
                <a:ea typeface="Times New Roman" panose="02020603050405020304" pitchFamily="18" charset="0"/>
              </a:rPr>
              <a:t> </a:t>
            </a:r>
            <a:r>
              <a:rPr lang="en-US" sz="2400" dirty="0" err="1">
                <a:effectLst/>
                <a:latin typeface="Quicksand Medium" panose="020B0604020202020204" charset="0"/>
                <a:ea typeface="Times New Roman" panose="02020603050405020304" pitchFamily="18" charset="0"/>
              </a:rPr>
              <a:t>được</a:t>
            </a:r>
            <a:r>
              <a:rPr lang="en-US" sz="2400" dirty="0">
                <a:effectLst/>
                <a:latin typeface="Quicksand Medium" panose="020B0604020202020204" charset="0"/>
                <a:ea typeface="Times New Roman" panose="02020603050405020304" pitchFamily="18" charset="0"/>
              </a:rPr>
              <a:t> </a:t>
            </a:r>
            <a:r>
              <a:rPr lang="en-US" sz="2400" dirty="0" err="1">
                <a:effectLst/>
                <a:latin typeface="Quicksand Medium" panose="020B0604020202020204" charset="0"/>
                <a:ea typeface="Times New Roman" panose="02020603050405020304" pitchFamily="18" charset="0"/>
              </a:rPr>
              <a:t>thiết</a:t>
            </a:r>
            <a:r>
              <a:rPr lang="en-US" sz="2400" dirty="0">
                <a:effectLst/>
                <a:latin typeface="Quicksand Medium" panose="020B0604020202020204" charset="0"/>
                <a:ea typeface="Times New Roman" panose="02020603050405020304" pitchFamily="18" charset="0"/>
              </a:rPr>
              <a:t> </a:t>
            </a:r>
            <a:r>
              <a:rPr lang="en-US" sz="2400" dirty="0" err="1">
                <a:effectLst/>
                <a:latin typeface="Quicksand Medium" panose="020B0604020202020204" charset="0"/>
                <a:ea typeface="Times New Roman" panose="02020603050405020304" pitchFamily="18" charset="0"/>
              </a:rPr>
              <a:t>kế</a:t>
            </a:r>
            <a:r>
              <a:rPr lang="en-US" sz="2400" dirty="0">
                <a:effectLst/>
                <a:latin typeface="Quicksand Medium" panose="020B0604020202020204" charset="0"/>
                <a:ea typeface="Times New Roman" panose="02020603050405020304" pitchFamily="18" charset="0"/>
              </a:rPr>
              <a:t> </a:t>
            </a:r>
            <a:r>
              <a:rPr lang="en-US" sz="2400" dirty="0" err="1">
                <a:effectLst/>
                <a:latin typeface="Quicksand Medium" panose="020B0604020202020204" charset="0"/>
                <a:ea typeface="Times New Roman" panose="02020603050405020304" pitchFamily="18" charset="0"/>
              </a:rPr>
              <a:t>đặc</a:t>
            </a:r>
            <a:r>
              <a:rPr lang="en-US" sz="2400" dirty="0">
                <a:effectLst/>
                <a:latin typeface="Quicksand Medium" panose="020B0604020202020204" charset="0"/>
                <a:ea typeface="Times New Roman" panose="02020603050405020304" pitchFamily="18" charset="0"/>
              </a:rPr>
              <a:t> </a:t>
            </a:r>
            <a:r>
              <a:rPr lang="en-US" sz="2400" dirty="0" err="1">
                <a:effectLst/>
                <a:latin typeface="Quicksand Medium" panose="020B0604020202020204" charset="0"/>
                <a:ea typeface="Times New Roman" panose="02020603050405020304" pitchFamily="18" charset="0"/>
              </a:rPr>
              <a:t>biệt</a:t>
            </a:r>
            <a:r>
              <a:rPr lang="en-US" sz="2400" dirty="0">
                <a:effectLst/>
                <a:latin typeface="Quicksand Medium" panose="020B0604020202020204" charset="0"/>
                <a:ea typeface="Times New Roman" panose="02020603050405020304" pitchFamily="18" charset="0"/>
              </a:rPr>
              <a:t> </a:t>
            </a:r>
            <a:r>
              <a:rPr lang="en-US" sz="2400" dirty="0" err="1">
                <a:effectLst/>
                <a:latin typeface="Quicksand Medium" panose="020B0604020202020204" charset="0"/>
                <a:ea typeface="Times New Roman" panose="02020603050405020304" pitchFamily="18" charset="0"/>
              </a:rPr>
              <a:t>để</a:t>
            </a:r>
            <a:r>
              <a:rPr lang="en-US" sz="2400" dirty="0">
                <a:effectLst/>
                <a:latin typeface="Quicksand Medium" panose="020B0604020202020204" charset="0"/>
                <a:ea typeface="Times New Roman" panose="02020603050405020304" pitchFamily="18" charset="0"/>
              </a:rPr>
              <a:t> </a:t>
            </a:r>
            <a:r>
              <a:rPr lang="en-US" sz="2400" dirty="0" err="1">
                <a:effectLst/>
                <a:latin typeface="Quicksand Medium" panose="020B0604020202020204" charset="0"/>
                <a:ea typeface="Times New Roman" panose="02020603050405020304" pitchFamily="18" charset="0"/>
              </a:rPr>
              <a:t>xử</a:t>
            </a:r>
            <a:r>
              <a:rPr lang="en-US" sz="2400" dirty="0">
                <a:effectLst/>
                <a:latin typeface="Quicksand Medium" panose="020B0604020202020204" charset="0"/>
                <a:ea typeface="Times New Roman" panose="02020603050405020304" pitchFamily="18" charset="0"/>
              </a:rPr>
              <a:t> </a:t>
            </a:r>
            <a:r>
              <a:rPr lang="en-US" sz="2400" dirty="0" err="1">
                <a:effectLst/>
                <a:latin typeface="Quicksand Medium" panose="020B0604020202020204" charset="0"/>
                <a:ea typeface="Times New Roman" panose="02020603050405020304" pitchFamily="18" charset="0"/>
              </a:rPr>
              <a:t>lý</a:t>
            </a:r>
            <a:r>
              <a:rPr lang="en-US" sz="2400" dirty="0">
                <a:effectLst/>
                <a:latin typeface="Quicksand Medium" panose="020B0604020202020204" charset="0"/>
                <a:ea typeface="Times New Roman" panose="02020603050405020304" pitchFamily="18" charset="0"/>
              </a:rPr>
              <a:t> </a:t>
            </a:r>
            <a:r>
              <a:rPr lang="en-US" sz="2400" dirty="0" err="1">
                <a:effectLst/>
                <a:latin typeface="Quicksand Medium" panose="020B0604020202020204" charset="0"/>
                <a:ea typeface="Times New Roman" panose="02020603050405020304" pitchFamily="18" charset="0"/>
              </a:rPr>
              <a:t>dữ</a:t>
            </a:r>
            <a:r>
              <a:rPr lang="en-US" sz="2400" dirty="0">
                <a:effectLst/>
                <a:latin typeface="Quicksand Medium" panose="020B0604020202020204" charset="0"/>
                <a:ea typeface="Times New Roman" panose="02020603050405020304" pitchFamily="18" charset="0"/>
              </a:rPr>
              <a:t> </a:t>
            </a:r>
            <a:r>
              <a:rPr lang="en-US" sz="2400" dirty="0" err="1">
                <a:effectLst/>
                <a:latin typeface="Quicksand Medium" panose="020B0604020202020204" charset="0"/>
                <a:ea typeface="Times New Roman" panose="02020603050405020304" pitchFamily="18" charset="0"/>
              </a:rPr>
              <a:t>liệu</a:t>
            </a:r>
            <a:r>
              <a:rPr lang="en-US" sz="2400" dirty="0">
                <a:effectLst/>
                <a:latin typeface="Quicksand Medium" panose="020B0604020202020204" charset="0"/>
                <a:ea typeface="Times New Roman" panose="02020603050405020304" pitchFamily="18" charset="0"/>
              </a:rPr>
              <a:t> </a:t>
            </a:r>
            <a:r>
              <a:rPr lang="en-US" sz="2400" dirty="0" err="1">
                <a:effectLst/>
                <a:latin typeface="Quicksand Medium" panose="020B0604020202020204" charset="0"/>
                <a:ea typeface="Times New Roman" panose="02020603050405020304" pitchFamily="18" charset="0"/>
              </a:rPr>
              <a:t>hình</a:t>
            </a:r>
            <a:endParaRPr lang="en-US" sz="2800" dirty="0">
              <a:latin typeface="Quicksand Medium" panose="020B0604020202020204" charset="0"/>
            </a:endParaRPr>
          </a:p>
        </p:txBody>
      </p:sp>
      <p:pic>
        <p:nvPicPr>
          <p:cNvPr id="12" name="Picture 11" descr="A white rectangular object with black background&#10;&#10;AI-generated content may be incorrect.">
            <a:extLst>
              <a:ext uri="{FF2B5EF4-FFF2-40B4-BE49-F238E27FC236}">
                <a16:creationId xmlns:a16="http://schemas.microsoft.com/office/drawing/2014/main" id="{0DD809CE-333D-429E-9E5C-58A1DA2EC215}"/>
              </a:ext>
            </a:extLst>
          </p:cNvPr>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3962400" y="3577292"/>
            <a:ext cx="10744200" cy="5681007"/>
          </a:xfrm>
          <a:prstGeom prst="rect">
            <a:avLst/>
          </a:prstGeom>
          <a:noFill/>
          <a:ln>
            <a:noFill/>
          </a:ln>
        </p:spPr>
      </p:pic>
    </p:spTree>
    <p:extLst>
      <p:ext uri="{BB962C8B-B14F-4D97-AF65-F5344CB8AC3E}">
        <p14:creationId xmlns:p14="http://schemas.microsoft.com/office/powerpoint/2010/main" val="1912019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321771"/>
            <a:ext cx="14058900" cy="1117614"/>
          </a:xfrm>
          <a:prstGeom prst="rect">
            <a:avLst/>
          </a:prstGeom>
        </p:spPr>
        <p:txBody>
          <a:bodyPr wrap="square" lIns="0" tIns="0" rIns="0" bIns="0" rtlCol="0" anchor="t">
            <a:spAutoFit/>
          </a:bodyPr>
          <a:lstStyle/>
          <a:p>
            <a:pPr algn="just">
              <a:lnSpc>
                <a:spcPts val="9675"/>
              </a:lnSpc>
              <a:spcBef>
                <a:spcPct val="0"/>
              </a:spcBef>
            </a:pPr>
            <a:r>
              <a:rPr lang="en-US" sz="6000" b="1" dirty="0">
                <a:latin typeface="Quicksand Semi-Bold"/>
                <a:ea typeface="Quicksand Semi-Bold"/>
                <a:cs typeface="Quicksand Semi-Bold"/>
                <a:sym typeface="Quicksand Semi-Bold"/>
              </a:rPr>
              <a:t>2. </a:t>
            </a:r>
            <a:r>
              <a:rPr lang="en-US" sz="6000" b="1" dirty="0" err="1">
                <a:latin typeface="Quicksand Medium"/>
                <a:ea typeface="Quicksand Medium"/>
                <a:cs typeface="Quicksand Medium"/>
                <a:sym typeface="Quicksand Medium"/>
              </a:rPr>
              <a:t>Tổng</a:t>
            </a:r>
            <a:r>
              <a:rPr lang="en-US" sz="6000" b="1" dirty="0">
                <a:latin typeface="Quicksand Medium"/>
                <a:ea typeface="Quicksand Medium"/>
                <a:cs typeface="Quicksand Medium"/>
                <a:sym typeface="Quicksand Medium"/>
              </a:rPr>
              <a:t> </a:t>
            </a:r>
            <a:r>
              <a:rPr lang="en-US" sz="6000" b="1" dirty="0" err="1">
                <a:latin typeface="Quicksand Medium"/>
                <a:ea typeface="Quicksand Medium"/>
                <a:cs typeface="Quicksand Medium"/>
                <a:sym typeface="Quicksand Medium"/>
              </a:rPr>
              <a:t>quan</a:t>
            </a:r>
            <a:r>
              <a:rPr lang="en-US" sz="6000" b="1" dirty="0">
                <a:latin typeface="Quicksand Medium"/>
                <a:ea typeface="Quicksand Medium"/>
                <a:cs typeface="Quicksand Medium"/>
                <a:sym typeface="Quicksand Medium"/>
              </a:rPr>
              <a:t> </a:t>
            </a:r>
            <a:r>
              <a:rPr lang="en-US" sz="6000" b="1" dirty="0" err="1">
                <a:latin typeface="Quicksand Medium"/>
                <a:ea typeface="Quicksand Medium"/>
                <a:cs typeface="Quicksand Medium"/>
                <a:sym typeface="Quicksand Medium"/>
              </a:rPr>
              <a:t>đề</a:t>
            </a:r>
            <a:r>
              <a:rPr lang="en-US" sz="6000" b="1" dirty="0">
                <a:latin typeface="Quicksand Medium"/>
                <a:ea typeface="Quicksand Medium"/>
                <a:cs typeface="Quicksand Medium"/>
                <a:sym typeface="Quicksand Medium"/>
              </a:rPr>
              <a:t> </a:t>
            </a:r>
            <a:r>
              <a:rPr lang="en-US" sz="6000" b="1" dirty="0" err="1">
                <a:latin typeface="Quicksand Medium"/>
                <a:ea typeface="Quicksand Medium"/>
                <a:cs typeface="Quicksand Medium"/>
                <a:sym typeface="Quicksand Medium"/>
              </a:rPr>
              <a:t>tài</a:t>
            </a:r>
            <a:r>
              <a:rPr lang="en-US" sz="6000" b="1" dirty="0">
                <a:latin typeface="Quicksand Medium"/>
                <a:ea typeface="Quicksand Medium"/>
                <a:cs typeface="Quicksand Medium"/>
                <a:sym typeface="Quicksand Medium"/>
              </a:rPr>
              <a:t> </a:t>
            </a:r>
            <a:r>
              <a:rPr lang="en-US" sz="6000" b="1" dirty="0" err="1">
                <a:latin typeface="Quicksand Medium"/>
                <a:ea typeface="Quicksand Medium"/>
                <a:cs typeface="Quicksand Medium"/>
                <a:sym typeface="Quicksand Medium"/>
              </a:rPr>
              <a:t>và</a:t>
            </a:r>
            <a:r>
              <a:rPr lang="en-US" sz="6000" b="1" dirty="0">
                <a:latin typeface="Quicksand Medium"/>
                <a:ea typeface="Quicksand Medium"/>
                <a:cs typeface="Quicksand Medium"/>
                <a:sym typeface="Quicksand Medium"/>
              </a:rPr>
              <a:t> </a:t>
            </a:r>
            <a:r>
              <a:rPr lang="en-US" sz="6000" b="1" dirty="0" err="1">
                <a:latin typeface="Quicksand Medium"/>
                <a:ea typeface="Quicksand Medium"/>
                <a:cs typeface="Quicksand Medium"/>
                <a:sym typeface="Quicksand Medium"/>
              </a:rPr>
              <a:t>cơ</a:t>
            </a:r>
            <a:r>
              <a:rPr lang="en-US" sz="6000" b="1" dirty="0">
                <a:latin typeface="Quicksand Medium"/>
                <a:ea typeface="Quicksand Medium"/>
                <a:cs typeface="Quicksand Medium"/>
                <a:sym typeface="Quicksand Medium"/>
              </a:rPr>
              <a:t> </a:t>
            </a:r>
            <a:r>
              <a:rPr lang="en-US" sz="6000" b="1" dirty="0" err="1">
                <a:latin typeface="Quicksand Medium"/>
                <a:ea typeface="Quicksand Medium"/>
                <a:cs typeface="Quicksand Medium"/>
                <a:sym typeface="Quicksand Medium"/>
              </a:rPr>
              <a:t>sở</a:t>
            </a:r>
            <a:r>
              <a:rPr lang="en-US" sz="6000" b="1" dirty="0">
                <a:latin typeface="Quicksand Medium"/>
                <a:ea typeface="Quicksand Medium"/>
                <a:cs typeface="Quicksand Medium"/>
                <a:sym typeface="Quicksand Medium"/>
              </a:rPr>
              <a:t> </a:t>
            </a:r>
            <a:r>
              <a:rPr lang="en-US" sz="6000" b="1" dirty="0" err="1">
                <a:latin typeface="Quicksand Medium"/>
                <a:ea typeface="Quicksand Medium"/>
                <a:cs typeface="Quicksand Medium"/>
                <a:sym typeface="Quicksand Medium"/>
              </a:rPr>
              <a:t>lý</a:t>
            </a:r>
            <a:r>
              <a:rPr lang="en-US" sz="6000" b="1" dirty="0">
                <a:latin typeface="Quicksand Medium"/>
                <a:ea typeface="Quicksand Medium"/>
                <a:cs typeface="Quicksand Medium"/>
                <a:sym typeface="Quicksand Medium"/>
              </a:rPr>
              <a:t> </a:t>
            </a:r>
            <a:r>
              <a:rPr lang="en-US" sz="6000" b="1" dirty="0" err="1">
                <a:latin typeface="Quicksand Medium"/>
                <a:ea typeface="Quicksand Medium"/>
                <a:cs typeface="Quicksand Medium"/>
                <a:sym typeface="Quicksand Medium"/>
              </a:rPr>
              <a:t>thuyết</a:t>
            </a:r>
            <a:endParaRPr lang="en-US" sz="6000" b="1" dirty="0">
              <a:latin typeface="Quicksand Medium"/>
              <a:ea typeface="Quicksand Medium"/>
              <a:cs typeface="Quicksand Medium"/>
              <a:sym typeface="Quicksand Medium"/>
            </a:endParaRPr>
          </a:p>
        </p:txBody>
      </p:sp>
      <p:sp>
        <p:nvSpPr>
          <p:cNvPr id="3" name="Freeform 3"/>
          <p:cNvSpPr/>
          <p:nvPr/>
        </p:nvSpPr>
        <p:spPr>
          <a:xfrm rot="3520730">
            <a:off x="12716433" y="-2322789"/>
            <a:ext cx="8681652" cy="5215575"/>
          </a:xfrm>
          <a:custGeom>
            <a:avLst/>
            <a:gdLst/>
            <a:ahLst/>
            <a:cxnLst/>
            <a:rect l="l" t="t" r="r" b="b"/>
            <a:pathLst>
              <a:path w="8782363" h="5013931">
                <a:moveTo>
                  <a:pt x="0" y="0"/>
                </a:moveTo>
                <a:lnTo>
                  <a:pt x="8782362" y="0"/>
                </a:lnTo>
                <a:lnTo>
                  <a:pt x="8782362" y="5013931"/>
                </a:lnTo>
                <a:lnTo>
                  <a:pt x="0" y="501393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4" name="Group 4"/>
          <p:cNvGrpSpPr/>
          <p:nvPr/>
        </p:nvGrpSpPr>
        <p:grpSpPr>
          <a:xfrm>
            <a:off x="-608680" y="9258300"/>
            <a:ext cx="19505361" cy="15817074"/>
            <a:chOff x="0" y="0"/>
            <a:chExt cx="26007147" cy="21089432"/>
          </a:xfrm>
        </p:grpSpPr>
        <p:grpSp>
          <p:nvGrpSpPr>
            <p:cNvPr id="5" name="Group 5"/>
            <p:cNvGrpSpPr/>
            <p:nvPr/>
          </p:nvGrpSpPr>
          <p:grpSpPr>
            <a:xfrm rot="-5400000">
              <a:off x="7701470" y="-7701470"/>
              <a:ext cx="10544716" cy="25947656"/>
              <a:chOff x="0" y="0"/>
              <a:chExt cx="1272376" cy="3130969"/>
            </a:xfrm>
          </p:grpSpPr>
          <p:sp>
            <p:nvSpPr>
              <p:cNvPr id="6" name="Freeform 6"/>
              <p:cNvSpPr/>
              <p:nvPr/>
            </p:nvSpPr>
            <p:spPr>
              <a:xfrm>
                <a:off x="0" y="0"/>
                <a:ext cx="1272376" cy="3130969"/>
              </a:xfrm>
              <a:custGeom>
                <a:avLst/>
                <a:gdLst/>
                <a:ahLst/>
                <a:cxnLst/>
                <a:rect l="l" t="t" r="r" b="b"/>
                <a:pathLst>
                  <a:path w="1272376" h="3130969">
                    <a:moveTo>
                      <a:pt x="0" y="0"/>
                    </a:moveTo>
                    <a:lnTo>
                      <a:pt x="1272376" y="0"/>
                    </a:lnTo>
                    <a:lnTo>
                      <a:pt x="1272376" y="3130969"/>
                    </a:lnTo>
                    <a:lnTo>
                      <a:pt x="0" y="3130969"/>
                    </a:lnTo>
                    <a:close/>
                  </a:path>
                </a:pathLst>
              </a:custGeom>
              <a:solidFill>
                <a:srgbClr val="476376"/>
              </a:solidFill>
            </p:spPr>
          </p:sp>
          <p:sp>
            <p:nvSpPr>
              <p:cNvPr id="7" name="TextBox 7"/>
              <p:cNvSpPr txBox="1"/>
              <p:nvPr/>
            </p:nvSpPr>
            <p:spPr>
              <a:xfrm>
                <a:off x="0" y="-114300"/>
                <a:ext cx="1272376" cy="3245269"/>
              </a:xfrm>
              <a:prstGeom prst="rect">
                <a:avLst/>
              </a:prstGeom>
            </p:spPr>
            <p:txBody>
              <a:bodyPr lIns="50800" tIns="50800" rIns="50800" bIns="50800" rtlCol="0" anchor="ctr"/>
              <a:lstStyle/>
              <a:p>
                <a:pPr algn="ctr">
                  <a:lnSpc>
                    <a:spcPts val="3765"/>
                  </a:lnSpc>
                </a:pPr>
                <a:endParaRPr/>
              </a:p>
            </p:txBody>
          </p:sp>
        </p:grpSp>
        <p:sp>
          <p:nvSpPr>
            <p:cNvPr id="8" name="Freeform 8"/>
            <p:cNvSpPr/>
            <p:nvPr/>
          </p:nvSpPr>
          <p:spPr>
            <a:xfrm rot="-5400000">
              <a:off x="2458858" y="-2458858"/>
              <a:ext cx="21089432" cy="26007147"/>
            </a:xfrm>
            <a:custGeom>
              <a:avLst/>
              <a:gdLst/>
              <a:ahLst/>
              <a:cxnLst/>
              <a:rect l="l" t="t" r="r" b="b"/>
              <a:pathLst>
                <a:path w="21089432" h="26007147">
                  <a:moveTo>
                    <a:pt x="0" y="0"/>
                  </a:moveTo>
                  <a:lnTo>
                    <a:pt x="21089432" y="0"/>
                  </a:lnTo>
                  <a:lnTo>
                    <a:pt x="21089432" y="26007148"/>
                  </a:lnTo>
                  <a:lnTo>
                    <a:pt x="0" y="26007148"/>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pSp>
      <p:sp>
        <p:nvSpPr>
          <p:cNvPr id="10" name="TextBox 10"/>
          <p:cNvSpPr txBox="1"/>
          <p:nvPr/>
        </p:nvSpPr>
        <p:spPr>
          <a:xfrm>
            <a:off x="1164770" y="1582701"/>
            <a:ext cx="15294429" cy="1297278"/>
          </a:xfrm>
          <a:prstGeom prst="rect">
            <a:avLst/>
          </a:prstGeom>
        </p:spPr>
        <p:txBody>
          <a:bodyPr wrap="square" lIns="0" tIns="0" rIns="0" bIns="0" rtlCol="0" anchor="t">
            <a:spAutoFit/>
          </a:bodyPr>
          <a:lstStyle/>
          <a:p>
            <a:pPr marL="402553" lvl="1" algn="l">
              <a:lnSpc>
                <a:spcPts val="6339"/>
              </a:lnSpc>
            </a:pPr>
            <a:r>
              <a:rPr lang="en-US" sz="3729" dirty="0" err="1">
                <a:solidFill>
                  <a:srgbClr val="203847"/>
                </a:solidFill>
                <a:latin typeface="Quicksand"/>
                <a:ea typeface="Quicksand"/>
                <a:cs typeface="Quicksand"/>
                <a:sym typeface="Quicksand"/>
              </a:rPr>
              <a:t>Mạng</a:t>
            </a:r>
            <a:r>
              <a:rPr lang="en-US" sz="3729" dirty="0">
                <a:solidFill>
                  <a:srgbClr val="203847"/>
                </a:solidFill>
                <a:latin typeface="Quicksand"/>
                <a:ea typeface="Quicksand"/>
                <a:cs typeface="Quicksand"/>
                <a:sym typeface="Quicksand"/>
              </a:rPr>
              <a:t> LSTM:</a:t>
            </a:r>
          </a:p>
          <a:p>
            <a:pPr marL="805107" lvl="1" indent="-402554" algn="just">
              <a:lnSpc>
                <a:spcPct val="150000"/>
              </a:lnSpc>
              <a:buFont typeface="Arial"/>
              <a:buChar char="•"/>
            </a:pPr>
            <a:r>
              <a:rPr lang="vi-VN" sz="2400" dirty="0">
                <a:effectLst/>
                <a:latin typeface="Quicksand Medium" panose="020B0604020202020204" charset="0"/>
                <a:ea typeface="Times New Roman" panose="02020603050405020304" pitchFamily="18" charset="0"/>
              </a:rPr>
              <a:t>LSTM là một biến thể của RNN được thiết kế để ghi nhớ thông tin trong thời gian dài hơn</a:t>
            </a:r>
            <a:endParaRPr lang="en-US" sz="2800" dirty="0">
              <a:latin typeface="Quicksand Medium" panose="020B0604020202020204" charset="0"/>
            </a:endParaRPr>
          </a:p>
        </p:txBody>
      </p:sp>
      <p:pic>
        <p:nvPicPr>
          <p:cNvPr id="11" name="Picture 10" descr="A diagram of a flowchart&#10;&#10;AI-generated content may be incorrect.">
            <a:extLst>
              <a:ext uri="{FF2B5EF4-FFF2-40B4-BE49-F238E27FC236}">
                <a16:creationId xmlns:a16="http://schemas.microsoft.com/office/drawing/2014/main" id="{8E3961E6-D6E5-49B7-A7BE-376305191178}"/>
              </a:ext>
            </a:extLst>
          </p:cNvPr>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678715" y="2899936"/>
            <a:ext cx="8229600" cy="6341588"/>
          </a:xfrm>
          <a:prstGeom prst="rect">
            <a:avLst/>
          </a:prstGeom>
          <a:noFill/>
          <a:ln>
            <a:noFill/>
          </a:ln>
        </p:spPr>
      </p:pic>
    </p:spTree>
    <p:extLst>
      <p:ext uri="{BB962C8B-B14F-4D97-AF65-F5344CB8AC3E}">
        <p14:creationId xmlns:p14="http://schemas.microsoft.com/office/powerpoint/2010/main" val="24438644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321771"/>
            <a:ext cx="14058900" cy="1117614"/>
          </a:xfrm>
          <a:prstGeom prst="rect">
            <a:avLst/>
          </a:prstGeom>
        </p:spPr>
        <p:txBody>
          <a:bodyPr wrap="square" lIns="0" tIns="0" rIns="0" bIns="0" rtlCol="0" anchor="t">
            <a:spAutoFit/>
          </a:bodyPr>
          <a:lstStyle/>
          <a:p>
            <a:pPr algn="just">
              <a:lnSpc>
                <a:spcPts val="9675"/>
              </a:lnSpc>
              <a:spcBef>
                <a:spcPct val="0"/>
              </a:spcBef>
            </a:pPr>
            <a:r>
              <a:rPr lang="en-US" sz="6000" b="1" dirty="0">
                <a:latin typeface="Quicksand Semi-Bold"/>
                <a:ea typeface="Quicksand Semi-Bold"/>
                <a:cs typeface="Quicksand Semi-Bold"/>
                <a:sym typeface="Quicksand Semi-Bold"/>
              </a:rPr>
              <a:t>2. </a:t>
            </a:r>
            <a:r>
              <a:rPr lang="en-US" sz="6000" b="1" dirty="0" err="1">
                <a:latin typeface="Quicksand Medium"/>
                <a:ea typeface="Quicksand Medium"/>
                <a:cs typeface="Quicksand Medium"/>
                <a:sym typeface="Quicksand Medium"/>
              </a:rPr>
              <a:t>Tổng</a:t>
            </a:r>
            <a:r>
              <a:rPr lang="en-US" sz="6000" b="1" dirty="0">
                <a:latin typeface="Quicksand Medium"/>
                <a:ea typeface="Quicksand Medium"/>
                <a:cs typeface="Quicksand Medium"/>
                <a:sym typeface="Quicksand Medium"/>
              </a:rPr>
              <a:t> </a:t>
            </a:r>
            <a:r>
              <a:rPr lang="en-US" sz="6000" b="1" dirty="0" err="1">
                <a:latin typeface="Quicksand Medium"/>
                <a:ea typeface="Quicksand Medium"/>
                <a:cs typeface="Quicksand Medium"/>
                <a:sym typeface="Quicksand Medium"/>
              </a:rPr>
              <a:t>quan</a:t>
            </a:r>
            <a:r>
              <a:rPr lang="en-US" sz="6000" b="1" dirty="0">
                <a:latin typeface="Quicksand Medium"/>
                <a:ea typeface="Quicksand Medium"/>
                <a:cs typeface="Quicksand Medium"/>
                <a:sym typeface="Quicksand Medium"/>
              </a:rPr>
              <a:t> </a:t>
            </a:r>
            <a:r>
              <a:rPr lang="en-US" sz="6000" b="1" dirty="0" err="1">
                <a:latin typeface="Quicksand Medium"/>
                <a:ea typeface="Quicksand Medium"/>
                <a:cs typeface="Quicksand Medium"/>
                <a:sym typeface="Quicksand Medium"/>
              </a:rPr>
              <a:t>đề</a:t>
            </a:r>
            <a:r>
              <a:rPr lang="en-US" sz="6000" b="1" dirty="0">
                <a:latin typeface="Quicksand Medium"/>
                <a:ea typeface="Quicksand Medium"/>
                <a:cs typeface="Quicksand Medium"/>
                <a:sym typeface="Quicksand Medium"/>
              </a:rPr>
              <a:t> </a:t>
            </a:r>
            <a:r>
              <a:rPr lang="en-US" sz="6000" b="1" dirty="0" err="1">
                <a:latin typeface="Quicksand Medium"/>
                <a:ea typeface="Quicksand Medium"/>
                <a:cs typeface="Quicksand Medium"/>
                <a:sym typeface="Quicksand Medium"/>
              </a:rPr>
              <a:t>tài</a:t>
            </a:r>
            <a:r>
              <a:rPr lang="en-US" sz="6000" b="1" dirty="0">
                <a:latin typeface="Quicksand Medium"/>
                <a:ea typeface="Quicksand Medium"/>
                <a:cs typeface="Quicksand Medium"/>
                <a:sym typeface="Quicksand Medium"/>
              </a:rPr>
              <a:t> </a:t>
            </a:r>
            <a:r>
              <a:rPr lang="en-US" sz="6000" b="1" dirty="0" err="1">
                <a:latin typeface="Quicksand Medium"/>
                <a:ea typeface="Quicksand Medium"/>
                <a:cs typeface="Quicksand Medium"/>
                <a:sym typeface="Quicksand Medium"/>
              </a:rPr>
              <a:t>và</a:t>
            </a:r>
            <a:r>
              <a:rPr lang="en-US" sz="6000" b="1" dirty="0">
                <a:latin typeface="Quicksand Medium"/>
                <a:ea typeface="Quicksand Medium"/>
                <a:cs typeface="Quicksand Medium"/>
                <a:sym typeface="Quicksand Medium"/>
              </a:rPr>
              <a:t> </a:t>
            </a:r>
            <a:r>
              <a:rPr lang="en-US" sz="6000" b="1" dirty="0" err="1">
                <a:latin typeface="Quicksand Medium"/>
                <a:ea typeface="Quicksand Medium"/>
                <a:cs typeface="Quicksand Medium"/>
                <a:sym typeface="Quicksand Medium"/>
              </a:rPr>
              <a:t>cơ</a:t>
            </a:r>
            <a:r>
              <a:rPr lang="en-US" sz="6000" b="1" dirty="0">
                <a:latin typeface="Quicksand Medium"/>
                <a:ea typeface="Quicksand Medium"/>
                <a:cs typeface="Quicksand Medium"/>
                <a:sym typeface="Quicksand Medium"/>
              </a:rPr>
              <a:t> </a:t>
            </a:r>
            <a:r>
              <a:rPr lang="en-US" sz="6000" b="1" dirty="0" err="1">
                <a:latin typeface="Quicksand Medium"/>
                <a:ea typeface="Quicksand Medium"/>
                <a:cs typeface="Quicksand Medium"/>
                <a:sym typeface="Quicksand Medium"/>
              </a:rPr>
              <a:t>sở</a:t>
            </a:r>
            <a:r>
              <a:rPr lang="en-US" sz="6000" b="1" dirty="0">
                <a:latin typeface="Quicksand Medium"/>
                <a:ea typeface="Quicksand Medium"/>
                <a:cs typeface="Quicksand Medium"/>
                <a:sym typeface="Quicksand Medium"/>
              </a:rPr>
              <a:t> </a:t>
            </a:r>
            <a:r>
              <a:rPr lang="en-US" sz="6000" b="1" dirty="0" err="1">
                <a:latin typeface="Quicksand Medium"/>
                <a:ea typeface="Quicksand Medium"/>
                <a:cs typeface="Quicksand Medium"/>
                <a:sym typeface="Quicksand Medium"/>
              </a:rPr>
              <a:t>lý</a:t>
            </a:r>
            <a:r>
              <a:rPr lang="en-US" sz="6000" b="1" dirty="0">
                <a:latin typeface="Quicksand Medium"/>
                <a:ea typeface="Quicksand Medium"/>
                <a:cs typeface="Quicksand Medium"/>
                <a:sym typeface="Quicksand Medium"/>
              </a:rPr>
              <a:t> </a:t>
            </a:r>
            <a:r>
              <a:rPr lang="en-US" sz="6000" b="1" dirty="0" err="1">
                <a:latin typeface="Quicksand Medium"/>
                <a:ea typeface="Quicksand Medium"/>
                <a:cs typeface="Quicksand Medium"/>
                <a:sym typeface="Quicksand Medium"/>
              </a:rPr>
              <a:t>thuyết</a:t>
            </a:r>
            <a:endParaRPr lang="en-US" sz="6000" b="1" dirty="0">
              <a:latin typeface="Quicksand Medium"/>
              <a:ea typeface="Quicksand Medium"/>
              <a:cs typeface="Quicksand Medium"/>
              <a:sym typeface="Quicksand Medium"/>
            </a:endParaRPr>
          </a:p>
        </p:txBody>
      </p:sp>
      <p:sp>
        <p:nvSpPr>
          <p:cNvPr id="3" name="Freeform 3"/>
          <p:cNvSpPr/>
          <p:nvPr/>
        </p:nvSpPr>
        <p:spPr>
          <a:xfrm rot="3520730">
            <a:off x="12716433" y="-2322789"/>
            <a:ext cx="8681652" cy="5215575"/>
          </a:xfrm>
          <a:custGeom>
            <a:avLst/>
            <a:gdLst/>
            <a:ahLst/>
            <a:cxnLst/>
            <a:rect l="l" t="t" r="r" b="b"/>
            <a:pathLst>
              <a:path w="8782363" h="5013931">
                <a:moveTo>
                  <a:pt x="0" y="0"/>
                </a:moveTo>
                <a:lnTo>
                  <a:pt x="8782362" y="0"/>
                </a:lnTo>
                <a:lnTo>
                  <a:pt x="8782362" y="5013931"/>
                </a:lnTo>
                <a:lnTo>
                  <a:pt x="0" y="501393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4" name="Group 4"/>
          <p:cNvGrpSpPr/>
          <p:nvPr/>
        </p:nvGrpSpPr>
        <p:grpSpPr>
          <a:xfrm>
            <a:off x="-608681" y="9715500"/>
            <a:ext cx="19505361" cy="15817074"/>
            <a:chOff x="0" y="0"/>
            <a:chExt cx="26007147" cy="21089432"/>
          </a:xfrm>
        </p:grpSpPr>
        <p:grpSp>
          <p:nvGrpSpPr>
            <p:cNvPr id="5" name="Group 5"/>
            <p:cNvGrpSpPr/>
            <p:nvPr/>
          </p:nvGrpSpPr>
          <p:grpSpPr>
            <a:xfrm rot="-5400000">
              <a:off x="7701470" y="-7701470"/>
              <a:ext cx="10544716" cy="25947656"/>
              <a:chOff x="0" y="0"/>
              <a:chExt cx="1272376" cy="3130969"/>
            </a:xfrm>
          </p:grpSpPr>
          <p:sp>
            <p:nvSpPr>
              <p:cNvPr id="6" name="Freeform 6"/>
              <p:cNvSpPr/>
              <p:nvPr/>
            </p:nvSpPr>
            <p:spPr>
              <a:xfrm>
                <a:off x="0" y="0"/>
                <a:ext cx="1272376" cy="3130969"/>
              </a:xfrm>
              <a:custGeom>
                <a:avLst/>
                <a:gdLst/>
                <a:ahLst/>
                <a:cxnLst/>
                <a:rect l="l" t="t" r="r" b="b"/>
                <a:pathLst>
                  <a:path w="1272376" h="3130969">
                    <a:moveTo>
                      <a:pt x="0" y="0"/>
                    </a:moveTo>
                    <a:lnTo>
                      <a:pt x="1272376" y="0"/>
                    </a:lnTo>
                    <a:lnTo>
                      <a:pt x="1272376" y="3130969"/>
                    </a:lnTo>
                    <a:lnTo>
                      <a:pt x="0" y="3130969"/>
                    </a:lnTo>
                    <a:close/>
                  </a:path>
                </a:pathLst>
              </a:custGeom>
              <a:solidFill>
                <a:srgbClr val="476376"/>
              </a:solidFill>
            </p:spPr>
          </p:sp>
          <p:sp>
            <p:nvSpPr>
              <p:cNvPr id="7" name="TextBox 7"/>
              <p:cNvSpPr txBox="1"/>
              <p:nvPr/>
            </p:nvSpPr>
            <p:spPr>
              <a:xfrm>
                <a:off x="0" y="-114300"/>
                <a:ext cx="1272376" cy="3245269"/>
              </a:xfrm>
              <a:prstGeom prst="rect">
                <a:avLst/>
              </a:prstGeom>
            </p:spPr>
            <p:txBody>
              <a:bodyPr lIns="50800" tIns="50800" rIns="50800" bIns="50800" rtlCol="0" anchor="ctr"/>
              <a:lstStyle/>
              <a:p>
                <a:pPr algn="ctr">
                  <a:lnSpc>
                    <a:spcPts val="3765"/>
                  </a:lnSpc>
                </a:pPr>
                <a:endParaRPr/>
              </a:p>
            </p:txBody>
          </p:sp>
        </p:grpSp>
        <p:sp>
          <p:nvSpPr>
            <p:cNvPr id="8" name="Freeform 8"/>
            <p:cNvSpPr/>
            <p:nvPr/>
          </p:nvSpPr>
          <p:spPr>
            <a:xfrm rot="-5400000">
              <a:off x="2458858" y="-2458858"/>
              <a:ext cx="21089432" cy="26007147"/>
            </a:xfrm>
            <a:custGeom>
              <a:avLst/>
              <a:gdLst/>
              <a:ahLst/>
              <a:cxnLst/>
              <a:rect l="l" t="t" r="r" b="b"/>
              <a:pathLst>
                <a:path w="21089432" h="26007147">
                  <a:moveTo>
                    <a:pt x="0" y="0"/>
                  </a:moveTo>
                  <a:lnTo>
                    <a:pt x="21089432" y="0"/>
                  </a:lnTo>
                  <a:lnTo>
                    <a:pt x="21089432" y="26007148"/>
                  </a:lnTo>
                  <a:lnTo>
                    <a:pt x="0" y="26007148"/>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pSp>
      <p:sp>
        <p:nvSpPr>
          <p:cNvPr id="10" name="TextBox 10"/>
          <p:cNvSpPr txBox="1"/>
          <p:nvPr/>
        </p:nvSpPr>
        <p:spPr>
          <a:xfrm>
            <a:off x="1164771" y="1582701"/>
            <a:ext cx="6302830" cy="2405274"/>
          </a:xfrm>
          <a:prstGeom prst="rect">
            <a:avLst/>
          </a:prstGeom>
        </p:spPr>
        <p:txBody>
          <a:bodyPr wrap="square" lIns="0" tIns="0" rIns="0" bIns="0" rtlCol="0" anchor="t">
            <a:spAutoFit/>
          </a:bodyPr>
          <a:lstStyle/>
          <a:p>
            <a:pPr marL="402553" lvl="1" algn="l">
              <a:lnSpc>
                <a:spcPts val="6339"/>
              </a:lnSpc>
            </a:pPr>
            <a:r>
              <a:rPr lang="en-US" sz="3729" dirty="0" err="1">
                <a:solidFill>
                  <a:srgbClr val="203847"/>
                </a:solidFill>
                <a:latin typeface="Quicksand"/>
                <a:ea typeface="Quicksand"/>
                <a:cs typeface="Quicksand"/>
                <a:sym typeface="Quicksand"/>
              </a:rPr>
              <a:t>Mạng</a:t>
            </a:r>
            <a:r>
              <a:rPr lang="en-US" sz="3729" dirty="0">
                <a:solidFill>
                  <a:srgbClr val="203847"/>
                </a:solidFill>
                <a:latin typeface="Quicksand"/>
                <a:ea typeface="Quicksand"/>
                <a:cs typeface="Quicksand"/>
                <a:sym typeface="Quicksand"/>
              </a:rPr>
              <a:t> Transformer:</a:t>
            </a:r>
          </a:p>
          <a:p>
            <a:pPr marL="805107" lvl="1" indent="-402554" algn="just">
              <a:lnSpc>
                <a:spcPct val="150000"/>
              </a:lnSpc>
              <a:buFont typeface="Arial"/>
              <a:buChar char="•"/>
            </a:pPr>
            <a:r>
              <a:rPr lang="vi-VN" sz="2400" dirty="0">
                <a:effectLst/>
                <a:latin typeface="Quicksand Medium" panose="020B0604020202020204" charset="0"/>
                <a:ea typeface="Times New Roman" panose="02020603050405020304" pitchFamily="18" charset="0"/>
              </a:rPr>
              <a:t>Transformer là kiến trúc mạng đặc biệt hiệu quả cho xử lý ngôn ngữ tự nhiên, dựa trên cơ chế attention</a:t>
            </a:r>
            <a:endParaRPr lang="en-US" sz="2800" dirty="0">
              <a:latin typeface="Quicksand Medium" panose="020B0604020202020204" charset="0"/>
            </a:endParaRPr>
          </a:p>
        </p:txBody>
      </p:sp>
      <p:pic>
        <p:nvPicPr>
          <p:cNvPr id="12" name="Picture 11" descr="A screenshot of a computer screen&#10;&#10;AI-generated content may be incorrect.">
            <a:extLst>
              <a:ext uri="{FF2B5EF4-FFF2-40B4-BE49-F238E27FC236}">
                <a16:creationId xmlns:a16="http://schemas.microsoft.com/office/drawing/2014/main" id="{DFCBD07D-A0ED-4EFD-BE6C-AD9A348B5140}"/>
              </a:ext>
            </a:extLst>
          </p:cNvPr>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0248900" y="800100"/>
            <a:ext cx="6874329" cy="8915399"/>
          </a:xfrm>
          <a:prstGeom prst="rect">
            <a:avLst/>
          </a:prstGeom>
          <a:noFill/>
          <a:ln>
            <a:noFill/>
          </a:ln>
        </p:spPr>
      </p:pic>
    </p:spTree>
    <p:extLst>
      <p:ext uri="{BB962C8B-B14F-4D97-AF65-F5344CB8AC3E}">
        <p14:creationId xmlns:p14="http://schemas.microsoft.com/office/powerpoint/2010/main" val="20162401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321771"/>
            <a:ext cx="14058900" cy="1117614"/>
          </a:xfrm>
          <a:prstGeom prst="rect">
            <a:avLst/>
          </a:prstGeom>
        </p:spPr>
        <p:txBody>
          <a:bodyPr wrap="square" lIns="0" tIns="0" rIns="0" bIns="0" rtlCol="0" anchor="t">
            <a:spAutoFit/>
          </a:bodyPr>
          <a:lstStyle/>
          <a:p>
            <a:pPr algn="just">
              <a:lnSpc>
                <a:spcPts val="9675"/>
              </a:lnSpc>
              <a:spcBef>
                <a:spcPct val="0"/>
              </a:spcBef>
            </a:pPr>
            <a:r>
              <a:rPr lang="en-US" sz="6000" b="1" dirty="0">
                <a:latin typeface="Quicksand Semi-Bold"/>
                <a:ea typeface="Quicksand Semi-Bold"/>
                <a:cs typeface="Quicksand Semi-Bold"/>
                <a:sym typeface="Quicksand Semi-Bold"/>
              </a:rPr>
              <a:t>2. </a:t>
            </a:r>
            <a:r>
              <a:rPr lang="en-US" sz="6000" b="1" dirty="0" err="1">
                <a:latin typeface="Quicksand Medium"/>
                <a:ea typeface="Quicksand Medium"/>
                <a:cs typeface="Quicksand Medium"/>
                <a:sym typeface="Quicksand Medium"/>
              </a:rPr>
              <a:t>Tổng</a:t>
            </a:r>
            <a:r>
              <a:rPr lang="en-US" sz="6000" b="1" dirty="0">
                <a:latin typeface="Quicksand Medium"/>
                <a:ea typeface="Quicksand Medium"/>
                <a:cs typeface="Quicksand Medium"/>
                <a:sym typeface="Quicksand Medium"/>
              </a:rPr>
              <a:t> </a:t>
            </a:r>
            <a:r>
              <a:rPr lang="en-US" sz="6000" b="1" dirty="0" err="1">
                <a:latin typeface="Quicksand Medium"/>
                <a:ea typeface="Quicksand Medium"/>
                <a:cs typeface="Quicksand Medium"/>
                <a:sym typeface="Quicksand Medium"/>
              </a:rPr>
              <a:t>quan</a:t>
            </a:r>
            <a:r>
              <a:rPr lang="en-US" sz="6000" b="1" dirty="0">
                <a:latin typeface="Quicksand Medium"/>
                <a:ea typeface="Quicksand Medium"/>
                <a:cs typeface="Quicksand Medium"/>
                <a:sym typeface="Quicksand Medium"/>
              </a:rPr>
              <a:t> </a:t>
            </a:r>
            <a:r>
              <a:rPr lang="en-US" sz="6000" b="1" dirty="0" err="1">
                <a:latin typeface="Quicksand Medium"/>
                <a:ea typeface="Quicksand Medium"/>
                <a:cs typeface="Quicksand Medium"/>
                <a:sym typeface="Quicksand Medium"/>
              </a:rPr>
              <a:t>đề</a:t>
            </a:r>
            <a:r>
              <a:rPr lang="en-US" sz="6000" b="1" dirty="0">
                <a:latin typeface="Quicksand Medium"/>
                <a:ea typeface="Quicksand Medium"/>
                <a:cs typeface="Quicksand Medium"/>
                <a:sym typeface="Quicksand Medium"/>
              </a:rPr>
              <a:t> </a:t>
            </a:r>
            <a:r>
              <a:rPr lang="en-US" sz="6000" b="1" dirty="0" err="1">
                <a:latin typeface="Quicksand Medium"/>
                <a:ea typeface="Quicksand Medium"/>
                <a:cs typeface="Quicksand Medium"/>
                <a:sym typeface="Quicksand Medium"/>
              </a:rPr>
              <a:t>tài</a:t>
            </a:r>
            <a:r>
              <a:rPr lang="en-US" sz="6000" b="1" dirty="0">
                <a:latin typeface="Quicksand Medium"/>
                <a:ea typeface="Quicksand Medium"/>
                <a:cs typeface="Quicksand Medium"/>
                <a:sym typeface="Quicksand Medium"/>
              </a:rPr>
              <a:t> </a:t>
            </a:r>
            <a:r>
              <a:rPr lang="en-US" sz="6000" b="1" dirty="0" err="1">
                <a:latin typeface="Quicksand Medium"/>
                <a:ea typeface="Quicksand Medium"/>
                <a:cs typeface="Quicksand Medium"/>
                <a:sym typeface="Quicksand Medium"/>
              </a:rPr>
              <a:t>và</a:t>
            </a:r>
            <a:r>
              <a:rPr lang="en-US" sz="6000" b="1" dirty="0">
                <a:latin typeface="Quicksand Medium"/>
                <a:ea typeface="Quicksand Medium"/>
                <a:cs typeface="Quicksand Medium"/>
                <a:sym typeface="Quicksand Medium"/>
              </a:rPr>
              <a:t> </a:t>
            </a:r>
            <a:r>
              <a:rPr lang="en-US" sz="6000" b="1" dirty="0" err="1">
                <a:latin typeface="Quicksand Medium"/>
                <a:ea typeface="Quicksand Medium"/>
                <a:cs typeface="Quicksand Medium"/>
                <a:sym typeface="Quicksand Medium"/>
              </a:rPr>
              <a:t>cơ</a:t>
            </a:r>
            <a:r>
              <a:rPr lang="en-US" sz="6000" b="1" dirty="0">
                <a:latin typeface="Quicksand Medium"/>
                <a:ea typeface="Quicksand Medium"/>
                <a:cs typeface="Quicksand Medium"/>
                <a:sym typeface="Quicksand Medium"/>
              </a:rPr>
              <a:t> </a:t>
            </a:r>
            <a:r>
              <a:rPr lang="en-US" sz="6000" b="1" dirty="0" err="1">
                <a:latin typeface="Quicksand Medium"/>
                <a:ea typeface="Quicksand Medium"/>
                <a:cs typeface="Quicksand Medium"/>
                <a:sym typeface="Quicksand Medium"/>
              </a:rPr>
              <a:t>sở</a:t>
            </a:r>
            <a:r>
              <a:rPr lang="en-US" sz="6000" b="1" dirty="0">
                <a:latin typeface="Quicksand Medium"/>
                <a:ea typeface="Quicksand Medium"/>
                <a:cs typeface="Quicksand Medium"/>
                <a:sym typeface="Quicksand Medium"/>
              </a:rPr>
              <a:t> </a:t>
            </a:r>
            <a:r>
              <a:rPr lang="en-US" sz="6000" b="1" dirty="0" err="1">
                <a:latin typeface="Quicksand Medium"/>
                <a:ea typeface="Quicksand Medium"/>
                <a:cs typeface="Quicksand Medium"/>
                <a:sym typeface="Quicksand Medium"/>
              </a:rPr>
              <a:t>lý</a:t>
            </a:r>
            <a:r>
              <a:rPr lang="en-US" sz="6000" b="1" dirty="0">
                <a:latin typeface="Quicksand Medium"/>
                <a:ea typeface="Quicksand Medium"/>
                <a:cs typeface="Quicksand Medium"/>
                <a:sym typeface="Quicksand Medium"/>
              </a:rPr>
              <a:t> </a:t>
            </a:r>
            <a:r>
              <a:rPr lang="en-US" sz="6000" b="1" dirty="0" err="1">
                <a:latin typeface="Quicksand Medium"/>
                <a:ea typeface="Quicksand Medium"/>
                <a:cs typeface="Quicksand Medium"/>
                <a:sym typeface="Quicksand Medium"/>
              </a:rPr>
              <a:t>thuyết</a:t>
            </a:r>
            <a:endParaRPr lang="en-US" sz="6000" b="1" dirty="0">
              <a:latin typeface="Quicksand Medium"/>
              <a:ea typeface="Quicksand Medium"/>
              <a:cs typeface="Quicksand Medium"/>
              <a:sym typeface="Quicksand Medium"/>
            </a:endParaRPr>
          </a:p>
        </p:txBody>
      </p:sp>
      <p:sp>
        <p:nvSpPr>
          <p:cNvPr id="3" name="Freeform 3"/>
          <p:cNvSpPr/>
          <p:nvPr/>
        </p:nvSpPr>
        <p:spPr>
          <a:xfrm rot="3520730">
            <a:off x="12716433" y="-2322789"/>
            <a:ext cx="8681652" cy="5215575"/>
          </a:xfrm>
          <a:custGeom>
            <a:avLst/>
            <a:gdLst/>
            <a:ahLst/>
            <a:cxnLst/>
            <a:rect l="l" t="t" r="r" b="b"/>
            <a:pathLst>
              <a:path w="8782363" h="5013931">
                <a:moveTo>
                  <a:pt x="0" y="0"/>
                </a:moveTo>
                <a:lnTo>
                  <a:pt x="8782362" y="0"/>
                </a:lnTo>
                <a:lnTo>
                  <a:pt x="8782362" y="5013931"/>
                </a:lnTo>
                <a:lnTo>
                  <a:pt x="0" y="501393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4" name="Group 4"/>
          <p:cNvGrpSpPr/>
          <p:nvPr/>
        </p:nvGrpSpPr>
        <p:grpSpPr>
          <a:xfrm>
            <a:off x="-608681" y="9715500"/>
            <a:ext cx="19505361" cy="15817074"/>
            <a:chOff x="0" y="0"/>
            <a:chExt cx="26007147" cy="21089432"/>
          </a:xfrm>
        </p:grpSpPr>
        <p:grpSp>
          <p:nvGrpSpPr>
            <p:cNvPr id="5" name="Group 5"/>
            <p:cNvGrpSpPr/>
            <p:nvPr/>
          </p:nvGrpSpPr>
          <p:grpSpPr>
            <a:xfrm rot="-5400000">
              <a:off x="7701470" y="-7701470"/>
              <a:ext cx="10544716" cy="25947656"/>
              <a:chOff x="0" y="0"/>
              <a:chExt cx="1272376" cy="3130969"/>
            </a:xfrm>
          </p:grpSpPr>
          <p:sp>
            <p:nvSpPr>
              <p:cNvPr id="6" name="Freeform 6"/>
              <p:cNvSpPr/>
              <p:nvPr/>
            </p:nvSpPr>
            <p:spPr>
              <a:xfrm>
                <a:off x="0" y="0"/>
                <a:ext cx="1272376" cy="3130969"/>
              </a:xfrm>
              <a:custGeom>
                <a:avLst/>
                <a:gdLst/>
                <a:ahLst/>
                <a:cxnLst/>
                <a:rect l="l" t="t" r="r" b="b"/>
                <a:pathLst>
                  <a:path w="1272376" h="3130969">
                    <a:moveTo>
                      <a:pt x="0" y="0"/>
                    </a:moveTo>
                    <a:lnTo>
                      <a:pt x="1272376" y="0"/>
                    </a:lnTo>
                    <a:lnTo>
                      <a:pt x="1272376" y="3130969"/>
                    </a:lnTo>
                    <a:lnTo>
                      <a:pt x="0" y="3130969"/>
                    </a:lnTo>
                    <a:close/>
                  </a:path>
                </a:pathLst>
              </a:custGeom>
              <a:solidFill>
                <a:srgbClr val="476376"/>
              </a:solidFill>
            </p:spPr>
          </p:sp>
          <p:sp>
            <p:nvSpPr>
              <p:cNvPr id="7" name="TextBox 7"/>
              <p:cNvSpPr txBox="1"/>
              <p:nvPr/>
            </p:nvSpPr>
            <p:spPr>
              <a:xfrm>
                <a:off x="0" y="-114300"/>
                <a:ext cx="1272376" cy="3245269"/>
              </a:xfrm>
              <a:prstGeom prst="rect">
                <a:avLst/>
              </a:prstGeom>
            </p:spPr>
            <p:txBody>
              <a:bodyPr lIns="50800" tIns="50800" rIns="50800" bIns="50800" rtlCol="0" anchor="ctr"/>
              <a:lstStyle/>
              <a:p>
                <a:pPr algn="ctr">
                  <a:lnSpc>
                    <a:spcPts val="3765"/>
                  </a:lnSpc>
                </a:pPr>
                <a:endParaRPr/>
              </a:p>
            </p:txBody>
          </p:sp>
        </p:grpSp>
        <p:sp>
          <p:nvSpPr>
            <p:cNvPr id="8" name="Freeform 8"/>
            <p:cNvSpPr/>
            <p:nvPr/>
          </p:nvSpPr>
          <p:spPr>
            <a:xfrm rot="-5400000">
              <a:off x="2458858" y="-2458858"/>
              <a:ext cx="21089432" cy="26007147"/>
            </a:xfrm>
            <a:custGeom>
              <a:avLst/>
              <a:gdLst/>
              <a:ahLst/>
              <a:cxnLst/>
              <a:rect l="l" t="t" r="r" b="b"/>
              <a:pathLst>
                <a:path w="21089432" h="26007147">
                  <a:moveTo>
                    <a:pt x="0" y="0"/>
                  </a:moveTo>
                  <a:lnTo>
                    <a:pt x="21089432" y="0"/>
                  </a:lnTo>
                  <a:lnTo>
                    <a:pt x="21089432" y="26007148"/>
                  </a:lnTo>
                  <a:lnTo>
                    <a:pt x="0" y="26007148"/>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pSp>
      <p:sp>
        <p:nvSpPr>
          <p:cNvPr id="10" name="TextBox 10"/>
          <p:cNvSpPr txBox="1"/>
          <p:nvPr/>
        </p:nvSpPr>
        <p:spPr>
          <a:xfrm>
            <a:off x="1164771" y="1582701"/>
            <a:ext cx="8284029" cy="5729261"/>
          </a:xfrm>
          <a:prstGeom prst="rect">
            <a:avLst/>
          </a:prstGeom>
        </p:spPr>
        <p:txBody>
          <a:bodyPr wrap="square" lIns="0" tIns="0" rIns="0" bIns="0" rtlCol="0" anchor="t">
            <a:spAutoFit/>
          </a:bodyPr>
          <a:lstStyle/>
          <a:p>
            <a:pPr marL="402553" lvl="1" algn="l">
              <a:lnSpc>
                <a:spcPts val="6339"/>
              </a:lnSpc>
            </a:pPr>
            <a:r>
              <a:rPr lang="en-US" sz="3729" dirty="0" err="1">
                <a:solidFill>
                  <a:srgbClr val="203847"/>
                </a:solidFill>
                <a:latin typeface="Quicksand"/>
                <a:ea typeface="Quicksand"/>
                <a:cs typeface="Quicksand"/>
                <a:sym typeface="Quicksand"/>
              </a:rPr>
              <a:t>Thách</a:t>
            </a:r>
            <a:r>
              <a:rPr lang="en-US" sz="3729" dirty="0">
                <a:solidFill>
                  <a:srgbClr val="203847"/>
                </a:solidFill>
                <a:latin typeface="Quicksand"/>
                <a:ea typeface="Quicksand"/>
                <a:cs typeface="Quicksand"/>
                <a:sym typeface="Quicksand"/>
              </a:rPr>
              <a:t> </a:t>
            </a:r>
            <a:r>
              <a:rPr lang="en-US" sz="3729" dirty="0" err="1">
                <a:solidFill>
                  <a:srgbClr val="203847"/>
                </a:solidFill>
                <a:latin typeface="Quicksand"/>
                <a:ea typeface="Quicksand"/>
                <a:cs typeface="Quicksand"/>
                <a:sym typeface="Quicksand"/>
              </a:rPr>
              <a:t>thức</a:t>
            </a:r>
            <a:r>
              <a:rPr lang="en-US" sz="3729" dirty="0">
                <a:solidFill>
                  <a:srgbClr val="203847"/>
                </a:solidFill>
                <a:latin typeface="Quicksand"/>
                <a:ea typeface="Quicksand"/>
                <a:cs typeface="Quicksand"/>
                <a:sym typeface="Quicksand"/>
              </a:rPr>
              <a:t> </a:t>
            </a:r>
            <a:r>
              <a:rPr lang="en-US" sz="3729" dirty="0" err="1">
                <a:solidFill>
                  <a:srgbClr val="203847"/>
                </a:solidFill>
                <a:latin typeface="Quicksand"/>
                <a:ea typeface="Quicksand"/>
                <a:cs typeface="Quicksand"/>
                <a:sym typeface="Quicksand"/>
              </a:rPr>
              <a:t>trong</a:t>
            </a:r>
            <a:r>
              <a:rPr lang="en-US" sz="3729" dirty="0">
                <a:solidFill>
                  <a:srgbClr val="203847"/>
                </a:solidFill>
                <a:latin typeface="Quicksand"/>
                <a:ea typeface="Quicksand"/>
                <a:cs typeface="Quicksand"/>
                <a:sym typeface="Quicksand"/>
              </a:rPr>
              <a:t> </a:t>
            </a:r>
            <a:r>
              <a:rPr lang="en-US" sz="3729" dirty="0" err="1">
                <a:solidFill>
                  <a:srgbClr val="203847"/>
                </a:solidFill>
                <a:latin typeface="Quicksand"/>
                <a:ea typeface="Quicksand"/>
                <a:cs typeface="Quicksand"/>
                <a:sym typeface="Quicksand"/>
              </a:rPr>
              <a:t>dự</a:t>
            </a:r>
            <a:r>
              <a:rPr lang="en-US" sz="3729" dirty="0">
                <a:solidFill>
                  <a:srgbClr val="203847"/>
                </a:solidFill>
                <a:latin typeface="Quicksand"/>
                <a:ea typeface="Quicksand"/>
                <a:cs typeface="Quicksand"/>
                <a:sym typeface="Quicksand"/>
              </a:rPr>
              <a:t> </a:t>
            </a:r>
            <a:r>
              <a:rPr lang="en-US" sz="3729" dirty="0" err="1">
                <a:solidFill>
                  <a:srgbClr val="203847"/>
                </a:solidFill>
                <a:latin typeface="Quicksand"/>
                <a:ea typeface="Quicksand"/>
                <a:cs typeface="Quicksand"/>
                <a:sym typeface="Quicksand"/>
              </a:rPr>
              <a:t>đoán</a:t>
            </a:r>
            <a:r>
              <a:rPr lang="en-US" sz="3729" dirty="0">
                <a:solidFill>
                  <a:srgbClr val="203847"/>
                </a:solidFill>
                <a:latin typeface="Quicksand"/>
                <a:ea typeface="Quicksand"/>
                <a:cs typeface="Quicksand"/>
                <a:sym typeface="Quicksand"/>
              </a:rPr>
              <a:t> tai </a:t>
            </a:r>
            <a:r>
              <a:rPr lang="en-US" sz="3729" dirty="0" err="1">
                <a:solidFill>
                  <a:srgbClr val="203847"/>
                </a:solidFill>
                <a:latin typeface="Quicksand"/>
                <a:ea typeface="Quicksand"/>
                <a:cs typeface="Quicksand"/>
                <a:sym typeface="Quicksand"/>
              </a:rPr>
              <a:t>nạn</a:t>
            </a:r>
            <a:r>
              <a:rPr lang="en-US" sz="3729" dirty="0">
                <a:solidFill>
                  <a:srgbClr val="203847"/>
                </a:solidFill>
                <a:latin typeface="Quicksand"/>
                <a:ea typeface="Quicksand"/>
                <a:cs typeface="Quicksand"/>
                <a:sym typeface="Quicksand"/>
              </a:rPr>
              <a:t>:</a:t>
            </a:r>
          </a:p>
          <a:p>
            <a:pPr marL="805107" lvl="1" indent="-402554" algn="just">
              <a:lnSpc>
                <a:spcPct val="150000"/>
              </a:lnSpc>
              <a:buFont typeface="Arial"/>
              <a:buChar char="•"/>
            </a:pPr>
            <a:r>
              <a:rPr lang="vi-VN" sz="2400" dirty="0">
                <a:effectLst/>
                <a:latin typeface="Quicksand Medium" panose="020B0604020202020204" charset="0"/>
                <a:ea typeface="Times New Roman" panose="02020603050405020304" pitchFamily="18" charset="0"/>
              </a:rPr>
              <a:t>Tính biến thiên và độ phức tạp của dữ liệu</a:t>
            </a:r>
            <a:r>
              <a:rPr lang="en-US" sz="2400" dirty="0">
                <a:effectLst/>
                <a:latin typeface="Quicksand Medium" panose="020B0604020202020204" charset="0"/>
                <a:ea typeface="Times New Roman" panose="02020603050405020304" pitchFamily="18" charset="0"/>
              </a:rPr>
              <a:t>: </a:t>
            </a:r>
            <a:r>
              <a:rPr lang="vi-VN" sz="2400" dirty="0">
                <a:effectLst/>
                <a:latin typeface="Quicksand Medium" panose="020B0604020202020204" charset="0"/>
                <a:ea typeface="Times New Roman" panose="02020603050405020304" pitchFamily="18" charset="0"/>
              </a:rPr>
              <a:t>Tình trạng giao thông chịu ảnh hưởng của nhiều yếu tố khác nhau khiến việc dự đoán chính xác trở nên khó khăn.</a:t>
            </a:r>
            <a:endParaRPr lang="en-US" sz="2400" dirty="0">
              <a:effectLst/>
              <a:latin typeface="Quicksand Medium" panose="020B0604020202020204" charset="0"/>
              <a:ea typeface="Times New Roman" panose="02020603050405020304" pitchFamily="18" charset="0"/>
            </a:endParaRPr>
          </a:p>
          <a:p>
            <a:pPr marL="805107" lvl="1" indent="-402554" algn="just">
              <a:lnSpc>
                <a:spcPct val="150000"/>
              </a:lnSpc>
              <a:buFont typeface="Arial"/>
              <a:buChar char="•"/>
            </a:pPr>
            <a:r>
              <a:rPr lang="en-US" sz="2400" dirty="0" err="1">
                <a:latin typeface="Quicksand Medium" panose="020B0604020202020204" charset="0"/>
              </a:rPr>
              <a:t>Nhu</a:t>
            </a:r>
            <a:r>
              <a:rPr lang="en-US" sz="2400" dirty="0">
                <a:latin typeface="Quicksand Medium" panose="020B0604020202020204" charset="0"/>
              </a:rPr>
              <a:t> </a:t>
            </a:r>
            <a:r>
              <a:rPr lang="en-US" sz="2400" dirty="0" err="1">
                <a:latin typeface="Quicksand Medium" panose="020B0604020202020204" charset="0"/>
              </a:rPr>
              <a:t>cầu</a:t>
            </a:r>
            <a:r>
              <a:rPr lang="en-US" sz="2400" dirty="0">
                <a:latin typeface="Quicksand Medium" panose="020B0604020202020204" charset="0"/>
              </a:rPr>
              <a:t> </a:t>
            </a:r>
            <a:r>
              <a:rPr lang="en-US" sz="2400" dirty="0" err="1">
                <a:latin typeface="Quicksand Medium" panose="020B0604020202020204" charset="0"/>
              </a:rPr>
              <a:t>xử</a:t>
            </a:r>
            <a:r>
              <a:rPr lang="en-US" sz="2400" dirty="0">
                <a:latin typeface="Quicksand Medium" panose="020B0604020202020204" charset="0"/>
              </a:rPr>
              <a:t> </a:t>
            </a:r>
            <a:r>
              <a:rPr lang="en-US" sz="2400" dirty="0" err="1">
                <a:latin typeface="Quicksand Medium" panose="020B0604020202020204" charset="0"/>
              </a:rPr>
              <a:t>lý</a:t>
            </a:r>
            <a:r>
              <a:rPr lang="en-US" sz="2400" dirty="0">
                <a:latin typeface="Quicksand Medium" panose="020B0604020202020204" charset="0"/>
              </a:rPr>
              <a:t> </a:t>
            </a:r>
            <a:r>
              <a:rPr lang="en-US" sz="2400" dirty="0" err="1">
                <a:latin typeface="Quicksand Medium" panose="020B0604020202020204" charset="0"/>
              </a:rPr>
              <a:t>theo</a:t>
            </a:r>
            <a:r>
              <a:rPr lang="en-US" sz="2400" dirty="0">
                <a:latin typeface="Quicksand Medium" panose="020B0604020202020204" charset="0"/>
              </a:rPr>
              <a:t> </a:t>
            </a:r>
            <a:r>
              <a:rPr lang="en-US" sz="2400" dirty="0" err="1">
                <a:latin typeface="Quicksand Medium" panose="020B0604020202020204" charset="0"/>
              </a:rPr>
              <a:t>thời</a:t>
            </a:r>
            <a:r>
              <a:rPr lang="en-US" sz="2400" dirty="0">
                <a:latin typeface="Quicksand Medium" panose="020B0604020202020204" charset="0"/>
              </a:rPr>
              <a:t> </a:t>
            </a:r>
            <a:r>
              <a:rPr lang="en-US" sz="2400" dirty="0" err="1">
                <a:latin typeface="Quicksand Medium" panose="020B0604020202020204" charset="0"/>
              </a:rPr>
              <a:t>gian</a:t>
            </a:r>
            <a:r>
              <a:rPr lang="en-US" sz="2400" dirty="0">
                <a:latin typeface="Quicksand Medium" panose="020B0604020202020204" charset="0"/>
              </a:rPr>
              <a:t> </a:t>
            </a:r>
            <a:r>
              <a:rPr lang="en-US" sz="2400" dirty="0" err="1">
                <a:latin typeface="Quicksand Medium" panose="020B0604020202020204" charset="0"/>
              </a:rPr>
              <a:t>thực</a:t>
            </a:r>
            <a:r>
              <a:rPr lang="en-US" sz="2400" dirty="0">
                <a:latin typeface="Quicksand Medium" panose="020B0604020202020204" charset="0"/>
              </a:rPr>
              <a:t>: </a:t>
            </a:r>
            <a:r>
              <a:rPr lang="en-US" sz="2400" dirty="0" err="1">
                <a:latin typeface="Quicksand Medium" panose="020B0604020202020204" charset="0"/>
              </a:rPr>
              <a:t>Dự</a:t>
            </a:r>
            <a:r>
              <a:rPr lang="en-US" sz="2400" dirty="0">
                <a:latin typeface="Quicksand Medium" panose="020B0604020202020204" charset="0"/>
              </a:rPr>
              <a:t> </a:t>
            </a:r>
            <a:r>
              <a:rPr lang="en-US" sz="2400" dirty="0" err="1">
                <a:latin typeface="Quicksand Medium" panose="020B0604020202020204" charset="0"/>
              </a:rPr>
              <a:t>đoán</a:t>
            </a:r>
            <a:r>
              <a:rPr lang="en-US" sz="2400" dirty="0">
                <a:latin typeface="Quicksand Medium" panose="020B0604020202020204" charset="0"/>
              </a:rPr>
              <a:t> </a:t>
            </a:r>
            <a:r>
              <a:rPr lang="en-US" sz="2400" dirty="0" err="1">
                <a:latin typeface="Quicksand Medium" panose="020B0604020202020204" charset="0"/>
              </a:rPr>
              <a:t>kịp</a:t>
            </a:r>
            <a:r>
              <a:rPr lang="en-US" sz="2400" dirty="0">
                <a:latin typeface="Quicksand Medium" panose="020B0604020202020204" charset="0"/>
              </a:rPr>
              <a:t> </a:t>
            </a:r>
            <a:r>
              <a:rPr lang="en-US" sz="2400" dirty="0" err="1">
                <a:latin typeface="Quicksand Medium" panose="020B0604020202020204" charset="0"/>
              </a:rPr>
              <a:t>thời</a:t>
            </a:r>
            <a:r>
              <a:rPr lang="en-US" sz="2400" dirty="0">
                <a:latin typeface="Quicksand Medium" panose="020B0604020202020204" charset="0"/>
              </a:rPr>
              <a:t> </a:t>
            </a:r>
            <a:r>
              <a:rPr lang="en-US" sz="2400" dirty="0" err="1">
                <a:latin typeface="Quicksand Medium" panose="020B0604020202020204" charset="0"/>
              </a:rPr>
              <a:t>đòi</a:t>
            </a:r>
            <a:r>
              <a:rPr lang="en-US" sz="2400" dirty="0">
                <a:latin typeface="Quicksand Medium" panose="020B0604020202020204" charset="0"/>
              </a:rPr>
              <a:t> </a:t>
            </a:r>
            <a:r>
              <a:rPr lang="en-US" sz="2400" dirty="0" err="1">
                <a:latin typeface="Quicksand Medium" panose="020B0604020202020204" charset="0"/>
              </a:rPr>
              <a:t>hỏi</a:t>
            </a:r>
            <a:r>
              <a:rPr lang="en-US" sz="2400" dirty="0">
                <a:latin typeface="Quicksand Medium" panose="020B0604020202020204" charset="0"/>
              </a:rPr>
              <a:t> </a:t>
            </a:r>
            <a:r>
              <a:rPr lang="en-US" sz="2400" dirty="0" err="1">
                <a:latin typeface="Quicksand Medium" panose="020B0604020202020204" charset="0"/>
              </a:rPr>
              <a:t>phải</a:t>
            </a:r>
            <a:r>
              <a:rPr lang="en-US" sz="2400" dirty="0">
                <a:latin typeface="Quicksand Medium" panose="020B0604020202020204" charset="0"/>
              </a:rPr>
              <a:t> </a:t>
            </a:r>
            <a:r>
              <a:rPr lang="en-US" sz="2400" dirty="0" err="1">
                <a:latin typeface="Quicksand Medium" panose="020B0604020202020204" charset="0"/>
              </a:rPr>
              <a:t>xử</a:t>
            </a:r>
            <a:r>
              <a:rPr lang="en-US" sz="2400" dirty="0">
                <a:latin typeface="Quicksand Medium" panose="020B0604020202020204" charset="0"/>
              </a:rPr>
              <a:t> </a:t>
            </a:r>
            <a:r>
              <a:rPr lang="en-US" sz="2400" dirty="0" err="1">
                <a:latin typeface="Quicksand Medium" panose="020B0604020202020204" charset="0"/>
              </a:rPr>
              <a:t>lý</a:t>
            </a:r>
            <a:r>
              <a:rPr lang="en-US" sz="2400" dirty="0">
                <a:latin typeface="Quicksand Medium" panose="020B0604020202020204" charset="0"/>
              </a:rPr>
              <a:t> </a:t>
            </a:r>
            <a:r>
              <a:rPr lang="en-US" sz="2400" dirty="0" err="1">
                <a:latin typeface="Quicksand Medium" panose="020B0604020202020204" charset="0"/>
              </a:rPr>
              <a:t>nhanh</a:t>
            </a:r>
            <a:r>
              <a:rPr lang="en-US" sz="2400" dirty="0">
                <a:latin typeface="Quicksand Medium" panose="020B0604020202020204" charset="0"/>
              </a:rPr>
              <a:t> </a:t>
            </a:r>
            <a:r>
              <a:rPr lang="en-US" sz="2400" dirty="0" err="1">
                <a:latin typeface="Quicksand Medium" panose="020B0604020202020204" charset="0"/>
              </a:rPr>
              <a:t>các</a:t>
            </a:r>
            <a:r>
              <a:rPr lang="en-US" sz="2400" dirty="0">
                <a:latin typeface="Quicksand Medium" panose="020B0604020202020204" charset="0"/>
              </a:rPr>
              <a:t> </a:t>
            </a:r>
            <a:r>
              <a:rPr lang="en-US" sz="2400" dirty="0" err="1">
                <a:latin typeface="Quicksand Medium" panose="020B0604020202020204" charset="0"/>
              </a:rPr>
              <a:t>luồng</a:t>
            </a:r>
            <a:r>
              <a:rPr lang="en-US" sz="2400" dirty="0">
                <a:latin typeface="Quicksand Medium" panose="020B0604020202020204" charset="0"/>
              </a:rPr>
              <a:t> </a:t>
            </a:r>
            <a:r>
              <a:rPr lang="en-US" sz="2400" dirty="0" err="1">
                <a:latin typeface="Quicksand Medium" panose="020B0604020202020204" charset="0"/>
              </a:rPr>
              <a:t>dữ</a:t>
            </a:r>
            <a:r>
              <a:rPr lang="en-US" sz="2400" dirty="0">
                <a:latin typeface="Quicksand Medium" panose="020B0604020202020204" charset="0"/>
              </a:rPr>
              <a:t> </a:t>
            </a:r>
            <a:r>
              <a:rPr lang="en-US" sz="2400" dirty="0" err="1">
                <a:latin typeface="Quicksand Medium" panose="020B0604020202020204" charset="0"/>
              </a:rPr>
              <a:t>liệu</a:t>
            </a:r>
            <a:r>
              <a:rPr lang="en-US" sz="2400" dirty="0">
                <a:latin typeface="Quicksand Medium" panose="020B0604020202020204" charset="0"/>
              </a:rPr>
              <a:t> </a:t>
            </a:r>
            <a:r>
              <a:rPr lang="en-US" sz="2400" dirty="0" err="1">
                <a:latin typeface="Quicksand Medium" panose="020B0604020202020204" charset="0"/>
              </a:rPr>
              <a:t>lớn</a:t>
            </a:r>
            <a:r>
              <a:rPr lang="en-US" sz="2400" dirty="0">
                <a:latin typeface="Quicksand Medium" panose="020B0604020202020204" charset="0"/>
              </a:rPr>
              <a:t>.</a:t>
            </a:r>
          </a:p>
          <a:p>
            <a:pPr marL="805107" lvl="1" indent="-402554" algn="just">
              <a:lnSpc>
                <a:spcPct val="150000"/>
              </a:lnSpc>
              <a:buFont typeface="Arial"/>
              <a:buChar char="•"/>
            </a:pPr>
            <a:r>
              <a:rPr lang="en-US" sz="2400" dirty="0" err="1">
                <a:latin typeface="Quicksand Medium" panose="020B0604020202020204" charset="0"/>
              </a:rPr>
              <a:t>Yêu</a:t>
            </a:r>
            <a:r>
              <a:rPr lang="en-US" sz="2400" dirty="0">
                <a:latin typeface="Quicksand Medium" panose="020B0604020202020204" charset="0"/>
              </a:rPr>
              <a:t> </a:t>
            </a:r>
            <a:r>
              <a:rPr lang="en-US" sz="2400" dirty="0" err="1">
                <a:latin typeface="Quicksand Medium" panose="020B0604020202020204" charset="0"/>
              </a:rPr>
              <a:t>cầu</a:t>
            </a:r>
            <a:r>
              <a:rPr lang="en-US" sz="2400" dirty="0">
                <a:latin typeface="Quicksand Medium" panose="020B0604020202020204" charset="0"/>
              </a:rPr>
              <a:t> </a:t>
            </a:r>
            <a:r>
              <a:rPr lang="en-US" sz="2400" dirty="0" err="1">
                <a:latin typeface="Quicksand Medium" panose="020B0604020202020204" charset="0"/>
              </a:rPr>
              <a:t>bắt</a:t>
            </a:r>
            <a:r>
              <a:rPr lang="en-US" sz="2400" dirty="0">
                <a:latin typeface="Quicksand Medium" panose="020B0604020202020204" charset="0"/>
              </a:rPr>
              <a:t> </a:t>
            </a:r>
            <a:r>
              <a:rPr lang="en-US" sz="2400" dirty="0" err="1">
                <a:latin typeface="Quicksand Medium" panose="020B0604020202020204" charset="0"/>
              </a:rPr>
              <a:t>buộc</a:t>
            </a:r>
            <a:r>
              <a:rPr lang="en-US" sz="2400" dirty="0">
                <a:latin typeface="Quicksand Medium" panose="020B0604020202020204" charset="0"/>
              </a:rPr>
              <a:t> </a:t>
            </a:r>
            <a:r>
              <a:rPr lang="en-US" sz="2400" dirty="0" err="1">
                <a:latin typeface="Quicksand Medium" panose="020B0604020202020204" charset="0"/>
              </a:rPr>
              <a:t>về</a:t>
            </a:r>
            <a:r>
              <a:rPr lang="en-US" sz="2400" dirty="0">
                <a:latin typeface="Quicksand Medium" panose="020B0604020202020204" charset="0"/>
              </a:rPr>
              <a:t> </a:t>
            </a:r>
            <a:r>
              <a:rPr lang="en-US" sz="2400" dirty="0" err="1">
                <a:latin typeface="Quicksand Medium" panose="020B0604020202020204" charset="0"/>
              </a:rPr>
              <a:t>độ</a:t>
            </a:r>
            <a:r>
              <a:rPr lang="en-US" sz="2400" dirty="0">
                <a:latin typeface="Quicksand Medium" panose="020B0604020202020204" charset="0"/>
              </a:rPr>
              <a:t> </a:t>
            </a:r>
            <a:r>
              <a:rPr lang="en-US" sz="2400" dirty="0" err="1">
                <a:latin typeface="Quicksand Medium" panose="020B0604020202020204" charset="0"/>
              </a:rPr>
              <a:t>chính</a:t>
            </a:r>
            <a:r>
              <a:rPr lang="en-US" sz="2400" dirty="0">
                <a:latin typeface="Quicksand Medium" panose="020B0604020202020204" charset="0"/>
              </a:rPr>
              <a:t> </a:t>
            </a:r>
            <a:r>
              <a:rPr lang="en-US" sz="2400" dirty="0" err="1">
                <a:latin typeface="Quicksand Medium" panose="020B0604020202020204" charset="0"/>
              </a:rPr>
              <a:t>xác</a:t>
            </a:r>
            <a:r>
              <a:rPr lang="en-US" sz="2400" dirty="0">
                <a:latin typeface="Quicksand Medium" panose="020B0604020202020204" charset="0"/>
              </a:rPr>
              <a:t> </a:t>
            </a:r>
            <a:r>
              <a:rPr lang="en-US" sz="2400" dirty="0" err="1">
                <a:latin typeface="Quicksand Medium" panose="020B0604020202020204" charset="0"/>
              </a:rPr>
              <a:t>của</a:t>
            </a:r>
            <a:r>
              <a:rPr lang="en-US" sz="2400" dirty="0">
                <a:latin typeface="Quicksand Medium" panose="020B0604020202020204" charset="0"/>
              </a:rPr>
              <a:t> </a:t>
            </a:r>
            <a:r>
              <a:rPr lang="en-US" sz="2400" dirty="0" err="1">
                <a:latin typeface="Quicksand Medium" panose="020B0604020202020204" charset="0"/>
              </a:rPr>
              <a:t>mô</a:t>
            </a:r>
            <a:r>
              <a:rPr lang="en-US" sz="2400" dirty="0">
                <a:latin typeface="Quicksand Medium" panose="020B0604020202020204" charset="0"/>
              </a:rPr>
              <a:t> </a:t>
            </a:r>
            <a:r>
              <a:rPr lang="en-US" sz="2400" dirty="0" err="1">
                <a:latin typeface="Quicksand Medium" panose="020B0604020202020204" charset="0"/>
              </a:rPr>
              <a:t>hìnhCác</a:t>
            </a:r>
            <a:r>
              <a:rPr lang="en-US" sz="2400" dirty="0">
                <a:latin typeface="Quicksand Medium" panose="020B0604020202020204" charset="0"/>
              </a:rPr>
              <a:t> </a:t>
            </a:r>
            <a:r>
              <a:rPr lang="en-US" sz="2400" dirty="0" err="1">
                <a:latin typeface="Quicksand Medium" panose="020B0604020202020204" charset="0"/>
              </a:rPr>
              <a:t>mô</a:t>
            </a:r>
            <a:r>
              <a:rPr lang="en-US" sz="2400" dirty="0">
                <a:latin typeface="Quicksand Medium" panose="020B0604020202020204" charset="0"/>
              </a:rPr>
              <a:t> </a:t>
            </a:r>
            <a:r>
              <a:rPr lang="en-US" sz="2400" dirty="0" err="1">
                <a:latin typeface="Quicksand Medium" panose="020B0604020202020204" charset="0"/>
              </a:rPr>
              <a:t>hình</a:t>
            </a:r>
            <a:r>
              <a:rPr lang="en-US" sz="2400" dirty="0">
                <a:latin typeface="Quicksand Medium" panose="020B0604020202020204" charset="0"/>
              </a:rPr>
              <a:t> </a:t>
            </a:r>
            <a:r>
              <a:rPr lang="en-US" sz="2400" dirty="0" err="1">
                <a:latin typeface="Quicksand Medium" panose="020B0604020202020204" charset="0"/>
              </a:rPr>
              <a:t>dự</a:t>
            </a:r>
            <a:r>
              <a:rPr lang="en-US" sz="2400" dirty="0">
                <a:latin typeface="Quicksand Medium" panose="020B0604020202020204" charset="0"/>
              </a:rPr>
              <a:t> </a:t>
            </a:r>
            <a:r>
              <a:rPr lang="en-US" sz="2400" dirty="0" err="1">
                <a:latin typeface="Quicksand Medium" panose="020B0604020202020204" charset="0"/>
              </a:rPr>
              <a:t>đoán</a:t>
            </a:r>
            <a:r>
              <a:rPr lang="en-US" sz="2400" dirty="0">
                <a:latin typeface="Quicksand Medium" panose="020B0604020202020204" charset="0"/>
              </a:rPr>
              <a:t> </a:t>
            </a:r>
            <a:r>
              <a:rPr lang="en-US" sz="2400" dirty="0" err="1">
                <a:latin typeface="Quicksand Medium" panose="020B0604020202020204" charset="0"/>
              </a:rPr>
              <a:t>phải</a:t>
            </a:r>
            <a:r>
              <a:rPr lang="en-US" sz="2400" dirty="0">
                <a:latin typeface="Quicksand Medium" panose="020B0604020202020204" charset="0"/>
              </a:rPr>
              <a:t> </a:t>
            </a:r>
            <a:r>
              <a:rPr lang="en-US" sz="2400" dirty="0" err="1">
                <a:latin typeface="Quicksand Medium" panose="020B0604020202020204" charset="0"/>
              </a:rPr>
              <a:t>giảm</a:t>
            </a:r>
            <a:r>
              <a:rPr lang="en-US" sz="2400" dirty="0">
                <a:latin typeface="Quicksand Medium" panose="020B0604020202020204" charset="0"/>
              </a:rPr>
              <a:t> </a:t>
            </a:r>
            <a:r>
              <a:rPr lang="en-US" sz="2400" dirty="0" err="1">
                <a:latin typeface="Quicksand Medium" panose="020B0604020202020204" charset="0"/>
              </a:rPr>
              <a:t>thiểu</a:t>
            </a:r>
            <a:r>
              <a:rPr lang="en-US" sz="2400" dirty="0">
                <a:latin typeface="Quicksand Medium" panose="020B0604020202020204" charset="0"/>
              </a:rPr>
              <a:t> </a:t>
            </a:r>
            <a:r>
              <a:rPr lang="en-US" sz="2400" dirty="0" err="1">
                <a:latin typeface="Quicksand Medium" panose="020B0604020202020204" charset="0"/>
              </a:rPr>
              <a:t>báo</a:t>
            </a:r>
            <a:r>
              <a:rPr lang="en-US" sz="2400" dirty="0">
                <a:latin typeface="Quicksand Medium" panose="020B0604020202020204" charset="0"/>
              </a:rPr>
              <a:t> </a:t>
            </a:r>
            <a:r>
              <a:rPr lang="en-US" sz="2400" dirty="0" err="1">
                <a:latin typeface="Quicksand Medium" panose="020B0604020202020204" charset="0"/>
              </a:rPr>
              <a:t>động</a:t>
            </a:r>
            <a:r>
              <a:rPr lang="en-US" sz="2400" dirty="0">
                <a:latin typeface="Quicksand Medium" panose="020B0604020202020204" charset="0"/>
              </a:rPr>
              <a:t> </a:t>
            </a:r>
            <a:r>
              <a:rPr lang="en-US" sz="2400" dirty="0" err="1">
                <a:latin typeface="Quicksand Medium" panose="020B0604020202020204" charset="0"/>
              </a:rPr>
              <a:t>sai</a:t>
            </a:r>
            <a:r>
              <a:rPr lang="en-US" sz="2400" dirty="0">
                <a:latin typeface="Quicksand Medium" panose="020B0604020202020204" charset="0"/>
              </a:rPr>
              <a:t> </a:t>
            </a:r>
            <a:r>
              <a:rPr lang="en-US" sz="2400" dirty="0" err="1">
                <a:latin typeface="Quicksand Medium" panose="020B0604020202020204" charset="0"/>
              </a:rPr>
              <a:t>và</a:t>
            </a:r>
            <a:r>
              <a:rPr lang="en-US" sz="2400" dirty="0">
                <a:latin typeface="Quicksand Medium" panose="020B0604020202020204" charset="0"/>
              </a:rPr>
              <a:t> </a:t>
            </a:r>
            <a:r>
              <a:rPr lang="en-US" sz="2400" dirty="0" err="1">
                <a:latin typeface="Quicksand Medium" panose="020B0604020202020204" charset="0"/>
              </a:rPr>
              <a:t>các</a:t>
            </a:r>
            <a:r>
              <a:rPr lang="en-US" sz="2400" dirty="0">
                <a:latin typeface="Quicksand Medium" panose="020B0604020202020204" charset="0"/>
              </a:rPr>
              <a:t> </a:t>
            </a:r>
            <a:r>
              <a:rPr lang="en-US" sz="2400" dirty="0" err="1">
                <a:latin typeface="Quicksand Medium" panose="020B0604020202020204" charset="0"/>
              </a:rPr>
              <a:t>sự</a:t>
            </a:r>
            <a:r>
              <a:rPr lang="en-US" sz="2400" dirty="0">
                <a:latin typeface="Quicksand Medium" panose="020B0604020202020204" charset="0"/>
              </a:rPr>
              <a:t> </a:t>
            </a:r>
            <a:r>
              <a:rPr lang="en-US" sz="2400" dirty="0" err="1">
                <a:latin typeface="Quicksand Medium" panose="020B0604020202020204" charset="0"/>
              </a:rPr>
              <a:t>kiện</a:t>
            </a:r>
            <a:r>
              <a:rPr lang="en-US" sz="2400" dirty="0">
                <a:latin typeface="Quicksand Medium" panose="020B0604020202020204" charset="0"/>
              </a:rPr>
              <a:t> </a:t>
            </a:r>
            <a:r>
              <a:rPr lang="en-US" sz="2400" dirty="0" err="1">
                <a:latin typeface="Quicksand Medium" panose="020B0604020202020204" charset="0"/>
              </a:rPr>
              <a:t>bị</a:t>
            </a:r>
            <a:r>
              <a:rPr lang="en-US" sz="2400" dirty="0">
                <a:latin typeface="Quicksand Medium" panose="020B0604020202020204" charset="0"/>
              </a:rPr>
              <a:t> </a:t>
            </a:r>
            <a:r>
              <a:rPr lang="en-US" sz="2400" dirty="0" err="1">
                <a:latin typeface="Quicksand Medium" panose="020B0604020202020204" charset="0"/>
              </a:rPr>
              <a:t>bỏ</a:t>
            </a:r>
            <a:r>
              <a:rPr lang="en-US" sz="2400" dirty="0">
                <a:latin typeface="Quicksand Medium" panose="020B0604020202020204" charset="0"/>
              </a:rPr>
              <a:t> </a:t>
            </a:r>
            <a:r>
              <a:rPr lang="en-US" sz="2400" dirty="0" err="1">
                <a:latin typeface="Quicksand Medium" panose="020B0604020202020204" charset="0"/>
              </a:rPr>
              <a:t>lỡ</a:t>
            </a:r>
            <a:r>
              <a:rPr lang="en-US" sz="2400" dirty="0">
                <a:latin typeface="Quicksand Medium" panose="020B0604020202020204" charset="0"/>
              </a:rPr>
              <a:t>.</a:t>
            </a:r>
          </a:p>
        </p:txBody>
      </p:sp>
      <p:pic>
        <p:nvPicPr>
          <p:cNvPr id="11" name="Picture 10">
            <a:extLst>
              <a:ext uri="{FF2B5EF4-FFF2-40B4-BE49-F238E27FC236}">
                <a16:creationId xmlns:a16="http://schemas.microsoft.com/office/drawing/2014/main" id="{5FD36D65-4F37-4694-BA42-1176210CFAE3}"/>
              </a:ext>
            </a:extLst>
          </p:cNvPr>
          <p:cNvPicPr>
            <a:picLocks noChangeAspect="1"/>
          </p:cNvPicPr>
          <p:nvPr/>
        </p:nvPicPr>
        <p:blipFill>
          <a:blip r:embed="rId7"/>
          <a:stretch>
            <a:fillRect/>
          </a:stretch>
        </p:blipFill>
        <p:spPr>
          <a:xfrm>
            <a:off x="10134600" y="1574171"/>
            <a:ext cx="6383578" cy="6945458"/>
          </a:xfrm>
          <a:prstGeom prst="rect">
            <a:avLst/>
          </a:prstGeom>
        </p:spPr>
      </p:pic>
    </p:spTree>
    <p:extLst>
      <p:ext uri="{BB962C8B-B14F-4D97-AF65-F5344CB8AC3E}">
        <p14:creationId xmlns:p14="http://schemas.microsoft.com/office/powerpoint/2010/main" val="16613443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321771"/>
            <a:ext cx="14058900" cy="1099147"/>
          </a:xfrm>
          <a:prstGeom prst="rect">
            <a:avLst/>
          </a:prstGeom>
        </p:spPr>
        <p:txBody>
          <a:bodyPr wrap="square" lIns="0" tIns="0" rIns="0" bIns="0" rtlCol="0" anchor="t">
            <a:spAutoFit/>
          </a:bodyPr>
          <a:lstStyle/>
          <a:p>
            <a:pPr algn="just">
              <a:lnSpc>
                <a:spcPts val="9675"/>
              </a:lnSpc>
              <a:spcBef>
                <a:spcPct val="0"/>
              </a:spcBef>
            </a:pPr>
            <a:r>
              <a:rPr lang="en-US" sz="5600" b="1" dirty="0">
                <a:latin typeface="Quicksand Semi-Bold"/>
                <a:ea typeface="Quicksand Semi-Bold"/>
                <a:cs typeface="Quicksand Semi-Bold"/>
                <a:sym typeface="Quicksand Semi-Bold"/>
              </a:rPr>
              <a:t>3. </a:t>
            </a:r>
            <a:r>
              <a:rPr lang="en-US" sz="5600" b="1" dirty="0" err="1">
                <a:latin typeface="Quicksand Medium"/>
                <a:ea typeface="Quicksand Medium"/>
                <a:cs typeface="Quicksand Medium"/>
                <a:sym typeface="Quicksand Medium"/>
              </a:rPr>
              <a:t>Mô</a:t>
            </a:r>
            <a:r>
              <a:rPr lang="en-US" sz="5600" b="1" dirty="0">
                <a:latin typeface="Quicksand Medium"/>
                <a:ea typeface="Quicksand Medium"/>
                <a:cs typeface="Quicksand Medium"/>
                <a:sym typeface="Quicksand Medium"/>
              </a:rPr>
              <a:t> </a:t>
            </a:r>
            <a:r>
              <a:rPr lang="en-US" sz="5600" b="1" dirty="0" err="1">
                <a:latin typeface="Quicksand Medium"/>
                <a:ea typeface="Quicksand Medium"/>
                <a:cs typeface="Quicksand Medium"/>
                <a:sym typeface="Quicksand Medium"/>
              </a:rPr>
              <a:t>hình</a:t>
            </a:r>
            <a:r>
              <a:rPr lang="en-US" sz="5600" b="1" dirty="0">
                <a:latin typeface="Quicksand Medium"/>
                <a:ea typeface="Quicksand Medium"/>
                <a:cs typeface="Quicksand Medium"/>
                <a:sym typeface="Quicksand Medium"/>
              </a:rPr>
              <a:t> </a:t>
            </a:r>
            <a:r>
              <a:rPr lang="en-US" sz="5600" b="1" dirty="0" err="1">
                <a:latin typeface="Quicksand Medium"/>
                <a:ea typeface="Quicksand Medium"/>
                <a:cs typeface="Quicksand Medium"/>
                <a:sym typeface="Quicksand Medium"/>
              </a:rPr>
              <a:t>trong</a:t>
            </a:r>
            <a:r>
              <a:rPr lang="en-US" sz="5600" b="1" dirty="0">
                <a:latin typeface="Quicksand Medium"/>
                <a:ea typeface="Quicksand Medium"/>
                <a:cs typeface="Quicksand Medium"/>
                <a:sym typeface="Quicksand Medium"/>
              </a:rPr>
              <a:t> </a:t>
            </a:r>
            <a:r>
              <a:rPr lang="en-US" sz="5600" b="1" dirty="0" err="1">
                <a:latin typeface="Quicksand Medium"/>
                <a:ea typeface="Quicksand Medium"/>
                <a:cs typeface="Quicksand Medium"/>
                <a:sym typeface="Quicksand Medium"/>
              </a:rPr>
              <a:t>dự</a:t>
            </a:r>
            <a:r>
              <a:rPr lang="en-US" sz="5600" b="1" dirty="0">
                <a:latin typeface="Quicksand Medium"/>
                <a:ea typeface="Quicksand Medium"/>
                <a:cs typeface="Quicksand Medium"/>
                <a:sym typeface="Quicksand Medium"/>
              </a:rPr>
              <a:t> </a:t>
            </a:r>
            <a:r>
              <a:rPr lang="en-US" sz="5600" b="1" dirty="0" err="1">
                <a:latin typeface="Quicksand Medium"/>
                <a:ea typeface="Quicksand Medium"/>
                <a:cs typeface="Quicksand Medium"/>
                <a:sym typeface="Quicksand Medium"/>
              </a:rPr>
              <a:t>báo</a:t>
            </a:r>
            <a:r>
              <a:rPr lang="en-US" sz="5600" b="1" dirty="0">
                <a:latin typeface="Quicksand Medium"/>
                <a:ea typeface="Quicksand Medium"/>
                <a:cs typeface="Quicksand Medium"/>
                <a:sym typeface="Quicksand Medium"/>
              </a:rPr>
              <a:t> </a:t>
            </a:r>
            <a:r>
              <a:rPr lang="en-US" sz="5600" b="1" dirty="0" err="1">
                <a:latin typeface="Quicksand Medium"/>
                <a:ea typeface="Quicksand Medium"/>
                <a:cs typeface="Quicksand Medium"/>
                <a:sym typeface="Quicksand Medium"/>
              </a:rPr>
              <a:t>sự</a:t>
            </a:r>
            <a:r>
              <a:rPr lang="en-US" sz="5600" b="1" dirty="0">
                <a:latin typeface="Quicksand Medium"/>
                <a:ea typeface="Quicksand Medium"/>
                <a:cs typeface="Quicksand Medium"/>
                <a:sym typeface="Quicksand Medium"/>
              </a:rPr>
              <a:t> </a:t>
            </a:r>
            <a:r>
              <a:rPr lang="en-US" sz="5600" b="1" dirty="0" err="1">
                <a:latin typeface="Quicksand Medium"/>
                <a:ea typeface="Quicksand Medium"/>
                <a:cs typeface="Quicksand Medium"/>
                <a:sym typeface="Quicksand Medium"/>
              </a:rPr>
              <a:t>cố</a:t>
            </a:r>
            <a:r>
              <a:rPr lang="en-US" sz="5600" b="1" dirty="0">
                <a:latin typeface="Quicksand Medium"/>
                <a:ea typeface="Quicksand Medium"/>
                <a:cs typeface="Quicksand Medium"/>
                <a:sym typeface="Quicksand Medium"/>
              </a:rPr>
              <a:t> </a:t>
            </a:r>
            <a:r>
              <a:rPr lang="en-US" sz="5600" b="1" dirty="0" err="1">
                <a:latin typeface="Quicksand Medium"/>
                <a:ea typeface="Quicksand Medium"/>
                <a:cs typeface="Quicksand Medium"/>
                <a:sym typeface="Quicksand Medium"/>
              </a:rPr>
              <a:t>giao</a:t>
            </a:r>
            <a:r>
              <a:rPr lang="en-US" sz="5600" b="1" dirty="0">
                <a:latin typeface="Quicksand Medium"/>
                <a:ea typeface="Quicksand Medium"/>
                <a:cs typeface="Quicksand Medium"/>
                <a:sym typeface="Quicksand Medium"/>
              </a:rPr>
              <a:t> </a:t>
            </a:r>
            <a:r>
              <a:rPr lang="en-US" sz="5600" b="1" dirty="0" err="1">
                <a:latin typeface="Quicksand Medium"/>
                <a:ea typeface="Quicksand Medium"/>
                <a:cs typeface="Quicksand Medium"/>
                <a:sym typeface="Quicksand Medium"/>
              </a:rPr>
              <a:t>thông</a:t>
            </a:r>
            <a:endParaRPr lang="en-US" sz="5600" b="1" dirty="0">
              <a:latin typeface="Quicksand Medium"/>
              <a:ea typeface="Quicksand Medium"/>
              <a:cs typeface="Quicksand Medium"/>
              <a:sym typeface="Quicksand Medium"/>
            </a:endParaRPr>
          </a:p>
        </p:txBody>
      </p:sp>
      <p:sp>
        <p:nvSpPr>
          <p:cNvPr id="3" name="Freeform 3"/>
          <p:cNvSpPr/>
          <p:nvPr/>
        </p:nvSpPr>
        <p:spPr>
          <a:xfrm rot="3520730">
            <a:off x="12716433" y="-2322789"/>
            <a:ext cx="8681652" cy="5215575"/>
          </a:xfrm>
          <a:custGeom>
            <a:avLst/>
            <a:gdLst/>
            <a:ahLst/>
            <a:cxnLst/>
            <a:rect l="l" t="t" r="r" b="b"/>
            <a:pathLst>
              <a:path w="8782363" h="5013931">
                <a:moveTo>
                  <a:pt x="0" y="0"/>
                </a:moveTo>
                <a:lnTo>
                  <a:pt x="8782362" y="0"/>
                </a:lnTo>
                <a:lnTo>
                  <a:pt x="8782362" y="5013931"/>
                </a:lnTo>
                <a:lnTo>
                  <a:pt x="0" y="501393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4" name="Group 4"/>
          <p:cNvGrpSpPr/>
          <p:nvPr/>
        </p:nvGrpSpPr>
        <p:grpSpPr>
          <a:xfrm>
            <a:off x="-608680" y="9258300"/>
            <a:ext cx="19505361" cy="15817074"/>
            <a:chOff x="0" y="0"/>
            <a:chExt cx="26007147" cy="21089432"/>
          </a:xfrm>
        </p:grpSpPr>
        <p:grpSp>
          <p:nvGrpSpPr>
            <p:cNvPr id="5" name="Group 5"/>
            <p:cNvGrpSpPr/>
            <p:nvPr/>
          </p:nvGrpSpPr>
          <p:grpSpPr>
            <a:xfrm rot="-5400000">
              <a:off x="7701470" y="-7701470"/>
              <a:ext cx="10544716" cy="25947656"/>
              <a:chOff x="0" y="0"/>
              <a:chExt cx="1272376" cy="3130969"/>
            </a:xfrm>
          </p:grpSpPr>
          <p:sp>
            <p:nvSpPr>
              <p:cNvPr id="6" name="Freeform 6"/>
              <p:cNvSpPr/>
              <p:nvPr/>
            </p:nvSpPr>
            <p:spPr>
              <a:xfrm>
                <a:off x="0" y="0"/>
                <a:ext cx="1272376" cy="3130969"/>
              </a:xfrm>
              <a:custGeom>
                <a:avLst/>
                <a:gdLst/>
                <a:ahLst/>
                <a:cxnLst/>
                <a:rect l="l" t="t" r="r" b="b"/>
                <a:pathLst>
                  <a:path w="1272376" h="3130969">
                    <a:moveTo>
                      <a:pt x="0" y="0"/>
                    </a:moveTo>
                    <a:lnTo>
                      <a:pt x="1272376" y="0"/>
                    </a:lnTo>
                    <a:lnTo>
                      <a:pt x="1272376" y="3130969"/>
                    </a:lnTo>
                    <a:lnTo>
                      <a:pt x="0" y="3130969"/>
                    </a:lnTo>
                    <a:close/>
                  </a:path>
                </a:pathLst>
              </a:custGeom>
              <a:solidFill>
                <a:srgbClr val="476376"/>
              </a:solidFill>
            </p:spPr>
          </p:sp>
          <p:sp>
            <p:nvSpPr>
              <p:cNvPr id="7" name="TextBox 7"/>
              <p:cNvSpPr txBox="1"/>
              <p:nvPr/>
            </p:nvSpPr>
            <p:spPr>
              <a:xfrm>
                <a:off x="0" y="-114300"/>
                <a:ext cx="1272376" cy="3245269"/>
              </a:xfrm>
              <a:prstGeom prst="rect">
                <a:avLst/>
              </a:prstGeom>
            </p:spPr>
            <p:txBody>
              <a:bodyPr lIns="50800" tIns="50800" rIns="50800" bIns="50800" rtlCol="0" anchor="ctr"/>
              <a:lstStyle/>
              <a:p>
                <a:pPr algn="ctr">
                  <a:lnSpc>
                    <a:spcPts val="3765"/>
                  </a:lnSpc>
                </a:pPr>
                <a:endParaRPr/>
              </a:p>
            </p:txBody>
          </p:sp>
        </p:grpSp>
        <p:sp>
          <p:nvSpPr>
            <p:cNvPr id="8" name="Freeform 8"/>
            <p:cNvSpPr/>
            <p:nvPr/>
          </p:nvSpPr>
          <p:spPr>
            <a:xfrm rot="-5400000">
              <a:off x="2458858" y="-2458858"/>
              <a:ext cx="21089432" cy="26007147"/>
            </a:xfrm>
            <a:custGeom>
              <a:avLst/>
              <a:gdLst/>
              <a:ahLst/>
              <a:cxnLst/>
              <a:rect l="l" t="t" r="r" b="b"/>
              <a:pathLst>
                <a:path w="21089432" h="26007147">
                  <a:moveTo>
                    <a:pt x="0" y="0"/>
                  </a:moveTo>
                  <a:lnTo>
                    <a:pt x="21089432" y="0"/>
                  </a:lnTo>
                  <a:lnTo>
                    <a:pt x="21089432" y="26007148"/>
                  </a:lnTo>
                  <a:lnTo>
                    <a:pt x="0" y="26007148"/>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pSp>
      <p:sp>
        <p:nvSpPr>
          <p:cNvPr id="10" name="TextBox 10"/>
          <p:cNvSpPr txBox="1"/>
          <p:nvPr/>
        </p:nvSpPr>
        <p:spPr>
          <a:xfrm>
            <a:off x="1028700" y="1638300"/>
            <a:ext cx="5981700" cy="729046"/>
          </a:xfrm>
          <a:prstGeom prst="rect">
            <a:avLst/>
          </a:prstGeom>
        </p:spPr>
        <p:txBody>
          <a:bodyPr wrap="square" lIns="0" tIns="0" rIns="0" bIns="0" rtlCol="0" anchor="t">
            <a:spAutoFit/>
          </a:bodyPr>
          <a:lstStyle/>
          <a:p>
            <a:pPr marL="402553" lvl="1">
              <a:lnSpc>
                <a:spcPts val="6339"/>
              </a:lnSpc>
            </a:pPr>
            <a:r>
              <a:rPr lang="en-US" sz="3729" dirty="0" err="1">
                <a:latin typeface="Quicksand"/>
                <a:ea typeface="Quicksand"/>
                <a:cs typeface="Quicksand"/>
                <a:sym typeface="Quicksand"/>
              </a:rPr>
              <a:t>Mô</a:t>
            </a:r>
            <a:r>
              <a:rPr lang="en-US" sz="3729" dirty="0">
                <a:latin typeface="Quicksand"/>
                <a:ea typeface="Quicksand"/>
                <a:cs typeface="Quicksand"/>
                <a:sym typeface="Quicksand"/>
              </a:rPr>
              <a:t> </a:t>
            </a:r>
            <a:r>
              <a:rPr lang="en-US" sz="3729" dirty="0" err="1">
                <a:latin typeface="Quicksand"/>
                <a:ea typeface="Quicksand"/>
                <a:cs typeface="Quicksand"/>
                <a:sym typeface="Quicksand"/>
              </a:rPr>
              <a:t>hình</a:t>
            </a:r>
            <a:r>
              <a:rPr lang="en-US" sz="3729" dirty="0">
                <a:latin typeface="Quicksand"/>
                <a:ea typeface="Quicksand"/>
                <a:cs typeface="Quicksand"/>
                <a:sym typeface="Quicksand"/>
              </a:rPr>
              <a:t> </a:t>
            </a:r>
            <a:r>
              <a:rPr lang="en-US" sz="3729" dirty="0">
                <a:latin typeface="Quicksand"/>
              </a:rPr>
              <a:t>MobileNetV2: </a:t>
            </a:r>
            <a:endParaRPr lang="en-US" sz="3729" dirty="0">
              <a:latin typeface="Quicksand"/>
              <a:sym typeface="Quicksand"/>
            </a:endParaRPr>
          </a:p>
        </p:txBody>
      </p:sp>
      <p:pic>
        <p:nvPicPr>
          <p:cNvPr id="12" name="Picture 11" descr="A row of white squares&#10;&#10;AI-generated content may be incorrect.">
            <a:extLst>
              <a:ext uri="{FF2B5EF4-FFF2-40B4-BE49-F238E27FC236}">
                <a16:creationId xmlns:a16="http://schemas.microsoft.com/office/drawing/2014/main" id="{F8DC6410-F89F-407B-9072-DC0D8ABECF35}"/>
              </a:ext>
            </a:extLst>
          </p:cNvPr>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6393543" y="3148058"/>
            <a:ext cx="11506200" cy="6257491"/>
          </a:xfrm>
          <a:prstGeom prst="rect">
            <a:avLst/>
          </a:prstGeom>
          <a:noFill/>
          <a:ln>
            <a:noFill/>
          </a:ln>
        </p:spPr>
      </p:pic>
      <p:sp>
        <p:nvSpPr>
          <p:cNvPr id="9" name="TextBox 8">
            <a:extLst>
              <a:ext uri="{FF2B5EF4-FFF2-40B4-BE49-F238E27FC236}">
                <a16:creationId xmlns:a16="http://schemas.microsoft.com/office/drawing/2014/main" id="{4015C2A2-1B11-4434-B9CD-C47EE20C8D81}"/>
              </a:ext>
            </a:extLst>
          </p:cNvPr>
          <p:cNvSpPr txBox="1"/>
          <p:nvPr/>
        </p:nvSpPr>
        <p:spPr>
          <a:xfrm>
            <a:off x="1028700" y="2857500"/>
            <a:ext cx="5753100" cy="4154984"/>
          </a:xfrm>
          <a:prstGeom prst="rect">
            <a:avLst/>
          </a:prstGeom>
          <a:noFill/>
        </p:spPr>
        <p:txBody>
          <a:bodyPr wrap="square" rtlCol="0">
            <a:spAutoFit/>
          </a:bodyPr>
          <a:lstStyle/>
          <a:p>
            <a:pPr marL="285750" indent="-285750">
              <a:buFont typeface="Arial" panose="020B0604020202020204" pitchFamily="34" charset="0"/>
              <a:buChar char="•"/>
            </a:pPr>
            <a:r>
              <a:rPr lang="en-US" sz="2400" dirty="0" err="1">
                <a:latin typeface="Quicksand" panose="020B0604020202020204" charset="0"/>
              </a:rPr>
              <a:t>Depthwise</a:t>
            </a:r>
            <a:r>
              <a:rPr lang="en-US" sz="2400" dirty="0">
                <a:latin typeface="Quicksand" panose="020B0604020202020204" charset="0"/>
              </a:rPr>
              <a:t> Separable Convolutions</a:t>
            </a:r>
          </a:p>
          <a:p>
            <a:pPr marL="285750" indent="-285750">
              <a:buFont typeface="Arial" panose="020B0604020202020204" pitchFamily="34" charset="0"/>
              <a:buChar char="•"/>
            </a:pPr>
            <a:r>
              <a:rPr lang="en-US" sz="2400" dirty="0">
                <a:latin typeface="Quicksand" panose="020B0604020202020204" charset="0"/>
              </a:rPr>
              <a:t>Inverted Residuals &amp; Linear Bottlenecks</a:t>
            </a:r>
          </a:p>
          <a:p>
            <a:pPr marL="285750" indent="-285750">
              <a:buFont typeface="Arial" panose="020B0604020202020204" pitchFamily="34" charset="0"/>
              <a:buChar char="•"/>
            </a:pPr>
            <a:r>
              <a:rPr lang="en-US" sz="2400" dirty="0">
                <a:latin typeface="Quicksand" panose="020B0604020202020204" charset="0"/>
              </a:rPr>
              <a:t>Optimize </a:t>
            </a:r>
            <a:r>
              <a:rPr lang="en-US" sz="2400" dirty="0" err="1">
                <a:latin typeface="Quicksand" panose="020B0604020202020204" charset="0"/>
              </a:rPr>
              <a:t>cho</a:t>
            </a:r>
            <a:r>
              <a:rPr lang="en-US" sz="2400" dirty="0">
                <a:latin typeface="Quicksand" panose="020B0604020202020204" charset="0"/>
              </a:rPr>
              <a:t> </a:t>
            </a:r>
            <a:r>
              <a:rPr lang="en-US" sz="2400" dirty="0" err="1">
                <a:latin typeface="Quicksand" panose="020B0604020202020204" charset="0"/>
              </a:rPr>
              <a:t>thiết</a:t>
            </a:r>
            <a:r>
              <a:rPr lang="en-US" sz="2400" dirty="0">
                <a:latin typeface="Quicksand" panose="020B0604020202020204" charset="0"/>
              </a:rPr>
              <a:t> </a:t>
            </a:r>
            <a:r>
              <a:rPr lang="en-US" sz="2400" dirty="0" err="1">
                <a:latin typeface="Quicksand" panose="020B0604020202020204" charset="0"/>
              </a:rPr>
              <a:t>bị</a:t>
            </a:r>
            <a:r>
              <a:rPr lang="en-US" sz="2400" dirty="0">
                <a:latin typeface="Quicksand" panose="020B0604020202020204" charset="0"/>
              </a:rPr>
              <a:t> di </a:t>
            </a:r>
            <a:r>
              <a:rPr lang="en-US" sz="2400" dirty="0" err="1">
                <a:latin typeface="Quicksand" panose="020B0604020202020204" charset="0"/>
              </a:rPr>
              <a:t>động</a:t>
            </a:r>
            <a:endParaRPr lang="en-US" sz="2400" dirty="0">
              <a:latin typeface="Quicksand" panose="020B0604020202020204" charset="0"/>
            </a:endParaRPr>
          </a:p>
          <a:p>
            <a:pPr marL="285750" indent="-285750">
              <a:buFont typeface="Arial" panose="020B0604020202020204" pitchFamily="34" charset="0"/>
              <a:buChar char="•"/>
            </a:pPr>
            <a:r>
              <a:rPr lang="en-US" sz="2400" dirty="0" err="1">
                <a:latin typeface="Quicksand" panose="020B0604020202020204" charset="0"/>
              </a:rPr>
              <a:t>Depthwise</a:t>
            </a:r>
            <a:r>
              <a:rPr lang="en-US" sz="2400" dirty="0">
                <a:latin typeface="Quicksand" panose="020B0604020202020204" charset="0"/>
              </a:rPr>
              <a:t> Conv </a:t>
            </a:r>
            <a:r>
              <a:rPr lang="en-US" sz="2400" dirty="0" err="1">
                <a:latin typeface="Quicksand" panose="020B0604020202020204" charset="0"/>
              </a:rPr>
              <a:t>lọc</a:t>
            </a:r>
            <a:r>
              <a:rPr lang="en-US" sz="2400" dirty="0">
                <a:latin typeface="Quicksand" panose="020B0604020202020204" charset="0"/>
              </a:rPr>
              <a:t> </a:t>
            </a:r>
            <a:r>
              <a:rPr lang="en-US" sz="2400" dirty="0" err="1">
                <a:latin typeface="Quicksand" panose="020B0604020202020204" charset="0"/>
              </a:rPr>
              <a:t>không</a:t>
            </a:r>
            <a:r>
              <a:rPr lang="en-US" sz="2400" dirty="0">
                <a:latin typeface="Quicksand" panose="020B0604020202020204" charset="0"/>
              </a:rPr>
              <a:t> </a:t>
            </a:r>
            <a:r>
              <a:rPr lang="en-US" sz="2400" dirty="0" err="1">
                <a:latin typeface="Quicksand" panose="020B0604020202020204" charset="0"/>
              </a:rPr>
              <a:t>gian</a:t>
            </a:r>
            <a:r>
              <a:rPr lang="en-US" sz="2400" dirty="0">
                <a:latin typeface="Quicksand" panose="020B0604020202020204" charset="0"/>
              </a:rPr>
              <a:t> </a:t>
            </a:r>
            <a:r>
              <a:rPr lang="en-US" sz="2400" dirty="0" err="1">
                <a:latin typeface="Quicksand" panose="020B0604020202020204" charset="0"/>
              </a:rPr>
              <a:t>riêng</a:t>
            </a:r>
            <a:r>
              <a:rPr lang="en-US" sz="2400" dirty="0">
                <a:latin typeface="Quicksand" panose="020B0604020202020204" charset="0"/>
              </a:rPr>
              <a:t> </a:t>
            </a:r>
            <a:r>
              <a:rPr lang="en-US" sz="2400" dirty="0" err="1">
                <a:latin typeface="Quicksand" panose="020B0604020202020204" charset="0"/>
              </a:rPr>
              <a:t>kênh</a:t>
            </a:r>
            <a:endParaRPr lang="en-US" sz="2400" dirty="0">
              <a:latin typeface="Quicksand" panose="020B0604020202020204" charset="0"/>
            </a:endParaRPr>
          </a:p>
          <a:p>
            <a:pPr marL="285750" indent="-285750">
              <a:buFont typeface="Arial" panose="020B0604020202020204" pitchFamily="34" charset="0"/>
              <a:buChar char="•"/>
            </a:pPr>
            <a:r>
              <a:rPr lang="en-US" sz="2400" dirty="0">
                <a:latin typeface="Quicksand" panose="020B0604020202020204" charset="0"/>
              </a:rPr>
              <a:t>Pointwise Conv 1x1 </a:t>
            </a:r>
            <a:r>
              <a:rPr lang="en-US" sz="2400" dirty="0" err="1">
                <a:latin typeface="Quicksand" panose="020B0604020202020204" charset="0"/>
              </a:rPr>
              <a:t>trộn</a:t>
            </a:r>
            <a:r>
              <a:rPr lang="en-US" sz="2400" dirty="0">
                <a:latin typeface="Quicksand" panose="020B0604020202020204" charset="0"/>
              </a:rPr>
              <a:t> </a:t>
            </a:r>
            <a:r>
              <a:rPr lang="en-US" sz="2400" dirty="0" err="1">
                <a:latin typeface="Quicksand" panose="020B0604020202020204" charset="0"/>
              </a:rPr>
              <a:t>kênh</a:t>
            </a:r>
            <a:endParaRPr lang="en-US" sz="2400" dirty="0">
              <a:latin typeface="Quicksand" panose="020B0604020202020204" charset="0"/>
            </a:endParaRPr>
          </a:p>
          <a:p>
            <a:pPr marL="285750" indent="-285750">
              <a:buFont typeface="Arial" panose="020B0604020202020204" pitchFamily="34" charset="0"/>
              <a:buChar char="•"/>
            </a:pPr>
            <a:r>
              <a:rPr lang="en-US" sz="2400" dirty="0" err="1">
                <a:latin typeface="Quicksand" panose="020B0604020202020204" charset="0"/>
              </a:rPr>
              <a:t>Giảm</a:t>
            </a:r>
            <a:r>
              <a:rPr lang="en-US" sz="2400" dirty="0">
                <a:latin typeface="Quicksand" panose="020B0604020202020204" charset="0"/>
              </a:rPr>
              <a:t> </a:t>
            </a:r>
            <a:r>
              <a:rPr lang="en-US" sz="2400" dirty="0" err="1">
                <a:latin typeface="Quicksand" panose="020B0604020202020204" charset="0"/>
              </a:rPr>
              <a:t>phép</a:t>
            </a:r>
            <a:r>
              <a:rPr lang="en-US" sz="2400" dirty="0">
                <a:latin typeface="Quicksand" panose="020B0604020202020204" charset="0"/>
              </a:rPr>
              <a:t> </a:t>
            </a:r>
            <a:r>
              <a:rPr lang="en-US" sz="2400" dirty="0" err="1">
                <a:latin typeface="Quicksand" panose="020B0604020202020204" charset="0"/>
              </a:rPr>
              <a:t>tính</a:t>
            </a:r>
            <a:r>
              <a:rPr lang="en-US" sz="2400" dirty="0">
                <a:latin typeface="Quicksand" panose="020B0604020202020204" charset="0"/>
              </a:rPr>
              <a:t> so </a:t>
            </a:r>
            <a:r>
              <a:rPr lang="en-US" sz="2400" dirty="0" err="1">
                <a:latin typeface="Quicksand" panose="020B0604020202020204" charset="0"/>
              </a:rPr>
              <a:t>với</a:t>
            </a:r>
            <a:r>
              <a:rPr lang="en-US" sz="2400" dirty="0">
                <a:latin typeface="Quicksand" panose="020B0604020202020204" charset="0"/>
              </a:rPr>
              <a:t> Conv </a:t>
            </a:r>
            <a:r>
              <a:rPr lang="en-US" sz="2400" dirty="0" err="1">
                <a:latin typeface="Quicksand" panose="020B0604020202020204" charset="0"/>
              </a:rPr>
              <a:t>truyền</a:t>
            </a:r>
            <a:r>
              <a:rPr lang="en-US" sz="2400" dirty="0">
                <a:latin typeface="Quicksand" panose="020B0604020202020204" charset="0"/>
              </a:rPr>
              <a:t> </a:t>
            </a:r>
            <a:r>
              <a:rPr lang="en-US" sz="2400" dirty="0" err="1">
                <a:latin typeface="Quicksand" panose="020B0604020202020204" charset="0"/>
              </a:rPr>
              <a:t>thống</a:t>
            </a:r>
            <a:endParaRPr lang="en-US" sz="2400" dirty="0">
              <a:latin typeface="Quicksand" panose="020B0604020202020204" charset="0"/>
            </a:endParaRPr>
          </a:p>
          <a:p>
            <a:endParaRPr lang="en-US" sz="2400" dirty="0">
              <a:latin typeface="Quicksand" panose="020B0604020202020204" charset="0"/>
            </a:endParaRPr>
          </a:p>
          <a:p>
            <a:endParaRPr lang="en-US" sz="2400" dirty="0">
              <a:latin typeface="Quicksand" panose="020B0604020202020204" charset="0"/>
            </a:endParaRPr>
          </a:p>
        </p:txBody>
      </p:sp>
    </p:spTree>
    <p:extLst>
      <p:ext uri="{BB962C8B-B14F-4D97-AF65-F5344CB8AC3E}">
        <p14:creationId xmlns:p14="http://schemas.microsoft.com/office/powerpoint/2010/main" val="9124974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321771"/>
            <a:ext cx="14058900" cy="1099147"/>
          </a:xfrm>
          <a:prstGeom prst="rect">
            <a:avLst/>
          </a:prstGeom>
        </p:spPr>
        <p:txBody>
          <a:bodyPr wrap="square" lIns="0" tIns="0" rIns="0" bIns="0" rtlCol="0" anchor="t">
            <a:spAutoFit/>
          </a:bodyPr>
          <a:lstStyle/>
          <a:p>
            <a:pPr algn="just">
              <a:lnSpc>
                <a:spcPts val="9675"/>
              </a:lnSpc>
              <a:spcBef>
                <a:spcPct val="0"/>
              </a:spcBef>
            </a:pPr>
            <a:r>
              <a:rPr lang="en-US" sz="5600" b="1" dirty="0">
                <a:latin typeface="Quicksand Semi-Bold"/>
                <a:ea typeface="Quicksand Semi-Bold"/>
                <a:cs typeface="Quicksand Semi-Bold"/>
                <a:sym typeface="Quicksand Semi-Bold"/>
              </a:rPr>
              <a:t>3. </a:t>
            </a:r>
            <a:r>
              <a:rPr lang="en-US" sz="5600" b="1" dirty="0" err="1">
                <a:latin typeface="Quicksand Medium"/>
                <a:ea typeface="Quicksand Medium"/>
                <a:cs typeface="Quicksand Medium"/>
                <a:sym typeface="Quicksand Medium"/>
              </a:rPr>
              <a:t>Mô</a:t>
            </a:r>
            <a:r>
              <a:rPr lang="en-US" sz="5600" b="1" dirty="0">
                <a:latin typeface="Quicksand Medium"/>
                <a:ea typeface="Quicksand Medium"/>
                <a:cs typeface="Quicksand Medium"/>
                <a:sym typeface="Quicksand Medium"/>
              </a:rPr>
              <a:t> </a:t>
            </a:r>
            <a:r>
              <a:rPr lang="en-US" sz="5600" b="1" dirty="0" err="1">
                <a:latin typeface="Quicksand Medium"/>
                <a:ea typeface="Quicksand Medium"/>
                <a:cs typeface="Quicksand Medium"/>
                <a:sym typeface="Quicksand Medium"/>
              </a:rPr>
              <a:t>hình</a:t>
            </a:r>
            <a:r>
              <a:rPr lang="en-US" sz="5600" b="1" dirty="0">
                <a:latin typeface="Quicksand Medium"/>
                <a:ea typeface="Quicksand Medium"/>
                <a:cs typeface="Quicksand Medium"/>
                <a:sym typeface="Quicksand Medium"/>
              </a:rPr>
              <a:t> </a:t>
            </a:r>
            <a:r>
              <a:rPr lang="en-US" sz="5600" b="1" dirty="0" err="1">
                <a:latin typeface="Quicksand Medium"/>
                <a:ea typeface="Quicksand Medium"/>
                <a:cs typeface="Quicksand Medium"/>
                <a:sym typeface="Quicksand Medium"/>
              </a:rPr>
              <a:t>trong</a:t>
            </a:r>
            <a:r>
              <a:rPr lang="en-US" sz="5600" b="1" dirty="0">
                <a:latin typeface="Quicksand Medium"/>
                <a:ea typeface="Quicksand Medium"/>
                <a:cs typeface="Quicksand Medium"/>
                <a:sym typeface="Quicksand Medium"/>
              </a:rPr>
              <a:t> </a:t>
            </a:r>
            <a:r>
              <a:rPr lang="en-US" sz="5600" b="1" dirty="0" err="1">
                <a:latin typeface="Quicksand Medium"/>
                <a:ea typeface="Quicksand Medium"/>
                <a:cs typeface="Quicksand Medium"/>
                <a:sym typeface="Quicksand Medium"/>
              </a:rPr>
              <a:t>dự</a:t>
            </a:r>
            <a:r>
              <a:rPr lang="en-US" sz="5600" b="1" dirty="0">
                <a:latin typeface="Quicksand Medium"/>
                <a:ea typeface="Quicksand Medium"/>
                <a:cs typeface="Quicksand Medium"/>
                <a:sym typeface="Quicksand Medium"/>
              </a:rPr>
              <a:t> </a:t>
            </a:r>
            <a:r>
              <a:rPr lang="en-US" sz="5600" b="1" dirty="0" err="1">
                <a:latin typeface="Quicksand Medium"/>
                <a:ea typeface="Quicksand Medium"/>
                <a:cs typeface="Quicksand Medium"/>
                <a:sym typeface="Quicksand Medium"/>
              </a:rPr>
              <a:t>báo</a:t>
            </a:r>
            <a:r>
              <a:rPr lang="en-US" sz="5600" b="1" dirty="0">
                <a:latin typeface="Quicksand Medium"/>
                <a:ea typeface="Quicksand Medium"/>
                <a:cs typeface="Quicksand Medium"/>
                <a:sym typeface="Quicksand Medium"/>
              </a:rPr>
              <a:t> </a:t>
            </a:r>
            <a:r>
              <a:rPr lang="en-US" sz="5600" b="1" dirty="0" err="1">
                <a:latin typeface="Quicksand Medium"/>
                <a:ea typeface="Quicksand Medium"/>
                <a:cs typeface="Quicksand Medium"/>
                <a:sym typeface="Quicksand Medium"/>
              </a:rPr>
              <a:t>sự</a:t>
            </a:r>
            <a:r>
              <a:rPr lang="en-US" sz="5600" b="1" dirty="0">
                <a:latin typeface="Quicksand Medium"/>
                <a:ea typeface="Quicksand Medium"/>
                <a:cs typeface="Quicksand Medium"/>
                <a:sym typeface="Quicksand Medium"/>
              </a:rPr>
              <a:t> </a:t>
            </a:r>
            <a:r>
              <a:rPr lang="en-US" sz="5600" b="1" dirty="0" err="1">
                <a:latin typeface="Quicksand Medium"/>
                <a:ea typeface="Quicksand Medium"/>
                <a:cs typeface="Quicksand Medium"/>
                <a:sym typeface="Quicksand Medium"/>
              </a:rPr>
              <a:t>cố</a:t>
            </a:r>
            <a:r>
              <a:rPr lang="en-US" sz="5600" b="1" dirty="0">
                <a:latin typeface="Quicksand Medium"/>
                <a:ea typeface="Quicksand Medium"/>
                <a:cs typeface="Quicksand Medium"/>
                <a:sym typeface="Quicksand Medium"/>
              </a:rPr>
              <a:t> </a:t>
            </a:r>
            <a:r>
              <a:rPr lang="en-US" sz="5600" b="1" dirty="0" err="1">
                <a:latin typeface="Quicksand Medium"/>
                <a:ea typeface="Quicksand Medium"/>
                <a:cs typeface="Quicksand Medium"/>
                <a:sym typeface="Quicksand Medium"/>
              </a:rPr>
              <a:t>giao</a:t>
            </a:r>
            <a:r>
              <a:rPr lang="en-US" sz="5600" b="1" dirty="0">
                <a:latin typeface="Quicksand Medium"/>
                <a:ea typeface="Quicksand Medium"/>
                <a:cs typeface="Quicksand Medium"/>
                <a:sym typeface="Quicksand Medium"/>
              </a:rPr>
              <a:t> </a:t>
            </a:r>
            <a:r>
              <a:rPr lang="en-US" sz="5600" b="1" dirty="0" err="1">
                <a:latin typeface="Quicksand Medium"/>
                <a:ea typeface="Quicksand Medium"/>
                <a:cs typeface="Quicksand Medium"/>
                <a:sym typeface="Quicksand Medium"/>
              </a:rPr>
              <a:t>thông</a:t>
            </a:r>
            <a:endParaRPr lang="en-US" sz="5600" b="1" dirty="0">
              <a:latin typeface="Quicksand Medium"/>
              <a:ea typeface="Quicksand Medium"/>
              <a:cs typeface="Quicksand Medium"/>
              <a:sym typeface="Quicksand Medium"/>
            </a:endParaRPr>
          </a:p>
        </p:txBody>
      </p:sp>
      <p:sp>
        <p:nvSpPr>
          <p:cNvPr id="3" name="Freeform 3"/>
          <p:cNvSpPr/>
          <p:nvPr/>
        </p:nvSpPr>
        <p:spPr>
          <a:xfrm rot="3520730">
            <a:off x="12716433" y="-2322789"/>
            <a:ext cx="8681652" cy="5215575"/>
          </a:xfrm>
          <a:custGeom>
            <a:avLst/>
            <a:gdLst/>
            <a:ahLst/>
            <a:cxnLst/>
            <a:rect l="l" t="t" r="r" b="b"/>
            <a:pathLst>
              <a:path w="8782363" h="5013931">
                <a:moveTo>
                  <a:pt x="0" y="0"/>
                </a:moveTo>
                <a:lnTo>
                  <a:pt x="8782362" y="0"/>
                </a:lnTo>
                <a:lnTo>
                  <a:pt x="8782362" y="5013931"/>
                </a:lnTo>
                <a:lnTo>
                  <a:pt x="0" y="501393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4" name="Group 4"/>
          <p:cNvGrpSpPr/>
          <p:nvPr/>
        </p:nvGrpSpPr>
        <p:grpSpPr>
          <a:xfrm>
            <a:off x="-608680" y="9258300"/>
            <a:ext cx="19505361" cy="15817074"/>
            <a:chOff x="0" y="0"/>
            <a:chExt cx="26007147" cy="21089432"/>
          </a:xfrm>
        </p:grpSpPr>
        <p:grpSp>
          <p:nvGrpSpPr>
            <p:cNvPr id="5" name="Group 5"/>
            <p:cNvGrpSpPr/>
            <p:nvPr/>
          </p:nvGrpSpPr>
          <p:grpSpPr>
            <a:xfrm rot="-5400000">
              <a:off x="7701470" y="-7701470"/>
              <a:ext cx="10544716" cy="25947656"/>
              <a:chOff x="0" y="0"/>
              <a:chExt cx="1272376" cy="3130969"/>
            </a:xfrm>
          </p:grpSpPr>
          <p:sp>
            <p:nvSpPr>
              <p:cNvPr id="6" name="Freeform 6"/>
              <p:cNvSpPr/>
              <p:nvPr/>
            </p:nvSpPr>
            <p:spPr>
              <a:xfrm>
                <a:off x="0" y="0"/>
                <a:ext cx="1272376" cy="3130969"/>
              </a:xfrm>
              <a:custGeom>
                <a:avLst/>
                <a:gdLst/>
                <a:ahLst/>
                <a:cxnLst/>
                <a:rect l="l" t="t" r="r" b="b"/>
                <a:pathLst>
                  <a:path w="1272376" h="3130969">
                    <a:moveTo>
                      <a:pt x="0" y="0"/>
                    </a:moveTo>
                    <a:lnTo>
                      <a:pt x="1272376" y="0"/>
                    </a:lnTo>
                    <a:lnTo>
                      <a:pt x="1272376" y="3130969"/>
                    </a:lnTo>
                    <a:lnTo>
                      <a:pt x="0" y="3130969"/>
                    </a:lnTo>
                    <a:close/>
                  </a:path>
                </a:pathLst>
              </a:custGeom>
              <a:solidFill>
                <a:srgbClr val="476376"/>
              </a:solidFill>
            </p:spPr>
          </p:sp>
          <p:sp>
            <p:nvSpPr>
              <p:cNvPr id="7" name="TextBox 7"/>
              <p:cNvSpPr txBox="1"/>
              <p:nvPr/>
            </p:nvSpPr>
            <p:spPr>
              <a:xfrm>
                <a:off x="0" y="-114300"/>
                <a:ext cx="1272376" cy="3245269"/>
              </a:xfrm>
              <a:prstGeom prst="rect">
                <a:avLst/>
              </a:prstGeom>
            </p:spPr>
            <p:txBody>
              <a:bodyPr lIns="50800" tIns="50800" rIns="50800" bIns="50800" rtlCol="0" anchor="ctr"/>
              <a:lstStyle/>
              <a:p>
                <a:pPr algn="ctr">
                  <a:lnSpc>
                    <a:spcPts val="3765"/>
                  </a:lnSpc>
                </a:pPr>
                <a:endParaRPr/>
              </a:p>
            </p:txBody>
          </p:sp>
        </p:grpSp>
        <p:sp>
          <p:nvSpPr>
            <p:cNvPr id="8" name="Freeform 8"/>
            <p:cNvSpPr/>
            <p:nvPr/>
          </p:nvSpPr>
          <p:spPr>
            <a:xfrm rot="-5400000">
              <a:off x="2458858" y="-2458858"/>
              <a:ext cx="21089432" cy="26007147"/>
            </a:xfrm>
            <a:custGeom>
              <a:avLst/>
              <a:gdLst/>
              <a:ahLst/>
              <a:cxnLst/>
              <a:rect l="l" t="t" r="r" b="b"/>
              <a:pathLst>
                <a:path w="21089432" h="26007147">
                  <a:moveTo>
                    <a:pt x="0" y="0"/>
                  </a:moveTo>
                  <a:lnTo>
                    <a:pt x="21089432" y="0"/>
                  </a:lnTo>
                  <a:lnTo>
                    <a:pt x="21089432" y="26007148"/>
                  </a:lnTo>
                  <a:lnTo>
                    <a:pt x="0" y="26007148"/>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pSp>
      <p:sp>
        <p:nvSpPr>
          <p:cNvPr id="10" name="TextBox 10"/>
          <p:cNvSpPr txBox="1"/>
          <p:nvPr/>
        </p:nvSpPr>
        <p:spPr>
          <a:xfrm>
            <a:off x="1028700" y="1638300"/>
            <a:ext cx="3771900" cy="2364493"/>
          </a:xfrm>
          <a:prstGeom prst="rect">
            <a:avLst/>
          </a:prstGeom>
        </p:spPr>
        <p:txBody>
          <a:bodyPr wrap="square" lIns="0" tIns="0" rIns="0" bIns="0" rtlCol="0" anchor="t">
            <a:spAutoFit/>
          </a:bodyPr>
          <a:lstStyle/>
          <a:p>
            <a:pPr marL="402553" lvl="1" algn="l">
              <a:lnSpc>
                <a:spcPts val="6339"/>
              </a:lnSpc>
            </a:pPr>
            <a:r>
              <a:rPr lang="en-US" sz="3729" dirty="0" err="1">
                <a:solidFill>
                  <a:srgbClr val="203847"/>
                </a:solidFill>
                <a:latin typeface="Quicksand"/>
                <a:ea typeface="Quicksand"/>
                <a:cs typeface="Quicksand"/>
                <a:sym typeface="Quicksand"/>
              </a:rPr>
              <a:t>Mô</a:t>
            </a:r>
            <a:r>
              <a:rPr lang="en-US" sz="3729" dirty="0">
                <a:solidFill>
                  <a:srgbClr val="203847"/>
                </a:solidFill>
                <a:latin typeface="Quicksand"/>
                <a:ea typeface="Quicksand"/>
                <a:cs typeface="Quicksand"/>
                <a:sym typeface="Quicksand"/>
              </a:rPr>
              <a:t> </a:t>
            </a:r>
            <a:r>
              <a:rPr lang="en-US" sz="3729" dirty="0" err="1">
                <a:solidFill>
                  <a:srgbClr val="203847"/>
                </a:solidFill>
                <a:latin typeface="Quicksand"/>
                <a:ea typeface="Quicksand"/>
                <a:cs typeface="Quicksand"/>
                <a:sym typeface="Quicksand"/>
              </a:rPr>
              <a:t>hình</a:t>
            </a:r>
            <a:r>
              <a:rPr lang="en-US" sz="3729" dirty="0">
                <a:solidFill>
                  <a:srgbClr val="203847"/>
                </a:solidFill>
                <a:latin typeface="Quicksand"/>
                <a:ea typeface="Quicksand"/>
                <a:cs typeface="Quicksand"/>
                <a:sym typeface="Quicksand"/>
              </a:rPr>
              <a:t> CNN:</a:t>
            </a:r>
          </a:p>
          <a:p>
            <a:pPr marL="805107" lvl="1" indent="-402554" algn="just">
              <a:lnSpc>
                <a:spcPct val="150000"/>
              </a:lnSpc>
              <a:buFont typeface="Arial"/>
              <a:buChar char="•"/>
            </a:pPr>
            <a:r>
              <a:rPr lang="en-US" sz="2400" dirty="0">
                <a:effectLst/>
                <a:latin typeface="Quicksand Medium" panose="020B0604020202020204" charset="0"/>
                <a:ea typeface="Times New Roman" panose="02020603050405020304" pitchFamily="18" charset="0"/>
              </a:rPr>
              <a:t>MobileNetV2</a:t>
            </a:r>
          </a:p>
          <a:p>
            <a:pPr marL="805107" lvl="1" indent="-402554" algn="just">
              <a:lnSpc>
                <a:spcPct val="150000"/>
              </a:lnSpc>
              <a:buFont typeface="Arial"/>
              <a:buChar char="•"/>
            </a:pPr>
            <a:r>
              <a:rPr lang="en-US" sz="2400" dirty="0" err="1">
                <a:effectLst/>
                <a:latin typeface="Quicksand Medium" panose="020B0604020202020204" charset="0"/>
                <a:ea typeface="Times New Roman" panose="02020603050405020304" pitchFamily="18" charset="0"/>
              </a:rPr>
              <a:t>Các</a:t>
            </a:r>
            <a:r>
              <a:rPr lang="en-US" sz="2400" dirty="0">
                <a:effectLst/>
                <a:latin typeface="Quicksand Medium" panose="020B0604020202020204" charset="0"/>
                <a:ea typeface="Times New Roman" panose="02020603050405020304" pitchFamily="18" charset="0"/>
              </a:rPr>
              <a:t> </a:t>
            </a:r>
            <a:r>
              <a:rPr lang="en-US" sz="2400" dirty="0" err="1">
                <a:effectLst/>
                <a:latin typeface="Quicksand Medium" panose="020B0604020202020204" charset="0"/>
                <a:ea typeface="Times New Roman" panose="02020603050405020304" pitchFamily="18" charset="0"/>
              </a:rPr>
              <a:t>lớp</a:t>
            </a:r>
            <a:r>
              <a:rPr lang="en-US" sz="2400" dirty="0">
                <a:effectLst/>
                <a:latin typeface="Quicksand Medium" panose="020B0604020202020204" charset="0"/>
                <a:ea typeface="Times New Roman" panose="02020603050405020304" pitchFamily="18" charset="0"/>
              </a:rPr>
              <a:t> Conv2D </a:t>
            </a:r>
            <a:endParaRPr lang="en-US" sz="2400" dirty="0">
              <a:latin typeface="Quicksand Medium" panose="020B0604020202020204" charset="0"/>
              <a:ea typeface="Times New Roman" panose="02020603050405020304" pitchFamily="18" charset="0"/>
            </a:endParaRPr>
          </a:p>
          <a:p>
            <a:pPr marL="805107" lvl="1" indent="-402554" algn="just">
              <a:lnSpc>
                <a:spcPct val="150000"/>
              </a:lnSpc>
              <a:buFont typeface="Arial"/>
              <a:buChar char="•"/>
            </a:pPr>
            <a:endParaRPr lang="en-US" sz="2200" dirty="0">
              <a:latin typeface="Quicksand Medium" panose="020B0604020202020204" charset="0"/>
            </a:endParaRPr>
          </a:p>
        </p:txBody>
      </p:sp>
      <p:pic>
        <p:nvPicPr>
          <p:cNvPr id="2050" name="Picture 2">
            <a:extLst>
              <a:ext uri="{FF2B5EF4-FFF2-40B4-BE49-F238E27FC236}">
                <a16:creationId xmlns:a16="http://schemas.microsoft.com/office/drawing/2014/main" id="{7421CA37-B6DC-4E72-8782-84E0A02EC566}"/>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2667000" y="3907959"/>
            <a:ext cx="12420600" cy="52450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732730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321771"/>
            <a:ext cx="14058900" cy="1099147"/>
          </a:xfrm>
          <a:prstGeom prst="rect">
            <a:avLst/>
          </a:prstGeom>
        </p:spPr>
        <p:txBody>
          <a:bodyPr wrap="square" lIns="0" tIns="0" rIns="0" bIns="0" rtlCol="0" anchor="t">
            <a:spAutoFit/>
          </a:bodyPr>
          <a:lstStyle/>
          <a:p>
            <a:pPr algn="just">
              <a:lnSpc>
                <a:spcPts val="9675"/>
              </a:lnSpc>
              <a:spcBef>
                <a:spcPct val="0"/>
              </a:spcBef>
            </a:pPr>
            <a:r>
              <a:rPr lang="en-US" sz="5600" b="1" dirty="0">
                <a:latin typeface="Quicksand Semi-Bold"/>
                <a:ea typeface="Quicksand Semi-Bold"/>
                <a:cs typeface="Quicksand Semi-Bold"/>
                <a:sym typeface="Quicksand Semi-Bold"/>
              </a:rPr>
              <a:t>3. </a:t>
            </a:r>
            <a:r>
              <a:rPr lang="en-US" sz="5600" b="1" dirty="0" err="1">
                <a:latin typeface="Quicksand Medium"/>
                <a:ea typeface="Quicksand Medium"/>
                <a:cs typeface="Quicksand Medium"/>
                <a:sym typeface="Quicksand Medium"/>
              </a:rPr>
              <a:t>Mô</a:t>
            </a:r>
            <a:r>
              <a:rPr lang="en-US" sz="5600" b="1" dirty="0">
                <a:latin typeface="Quicksand Medium"/>
                <a:ea typeface="Quicksand Medium"/>
                <a:cs typeface="Quicksand Medium"/>
                <a:sym typeface="Quicksand Medium"/>
              </a:rPr>
              <a:t> </a:t>
            </a:r>
            <a:r>
              <a:rPr lang="en-US" sz="5600" b="1" dirty="0" err="1">
                <a:latin typeface="Quicksand Medium"/>
                <a:ea typeface="Quicksand Medium"/>
                <a:cs typeface="Quicksand Medium"/>
                <a:sym typeface="Quicksand Medium"/>
              </a:rPr>
              <a:t>hình</a:t>
            </a:r>
            <a:r>
              <a:rPr lang="en-US" sz="5600" b="1" dirty="0">
                <a:latin typeface="Quicksand Medium"/>
                <a:ea typeface="Quicksand Medium"/>
                <a:cs typeface="Quicksand Medium"/>
                <a:sym typeface="Quicksand Medium"/>
              </a:rPr>
              <a:t> </a:t>
            </a:r>
            <a:r>
              <a:rPr lang="en-US" sz="5600" b="1" dirty="0" err="1">
                <a:latin typeface="Quicksand Medium"/>
                <a:ea typeface="Quicksand Medium"/>
                <a:cs typeface="Quicksand Medium"/>
                <a:sym typeface="Quicksand Medium"/>
              </a:rPr>
              <a:t>trong</a:t>
            </a:r>
            <a:r>
              <a:rPr lang="en-US" sz="5600" b="1" dirty="0">
                <a:latin typeface="Quicksand Medium"/>
                <a:ea typeface="Quicksand Medium"/>
                <a:cs typeface="Quicksand Medium"/>
                <a:sym typeface="Quicksand Medium"/>
              </a:rPr>
              <a:t> </a:t>
            </a:r>
            <a:r>
              <a:rPr lang="en-US" sz="5600" b="1" dirty="0" err="1">
                <a:latin typeface="Quicksand Medium"/>
                <a:ea typeface="Quicksand Medium"/>
                <a:cs typeface="Quicksand Medium"/>
                <a:sym typeface="Quicksand Medium"/>
              </a:rPr>
              <a:t>dự</a:t>
            </a:r>
            <a:r>
              <a:rPr lang="en-US" sz="5600" b="1" dirty="0">
                <a:latin typeface="Quicksand Medium"/>
                <a:ea typeface="Quicksand Medium"/>
                <a:cs typeface="Quicksand Medium"/>
                <a:sym typeface="Quicksand Medium"/>
              </a:rPr>
              <a:t> </a:t>
            </a:r>
            <a:r>
              <a:rPr lang="en-US" sz="5600" b="1" dirty="0" err="1">
                <a:latin typeface="Quicksand Medium"/>
                <a:ea typeface="Quicksand Medium"/>
                <a:cs typeface="Quicksand Medium"/>
                <a:sym typeface="Quicksand Medium"/>
              </a:rPr>
              <a:t>báo</a:t>
            </a:r>
            <a:r>
              <a:rPr lang="en-US" sz="5600" b="1" dirty="0">
                <a:latin typeface="Quicksand Medium"/>
                <a:ea typeface="Quicksand Medium"/>
                <a:cs typeface="Quicksand Medium"/>
                <a:sym typeface="Quicksand Medium"/>
              </a:rPr>
              <a:t> </a:t>
            </a:r>
            <a:r>
              <a:rPr lang="en-US" sz="5600" b="1" dirty="0" err="1">
                <a:latin typeface="Quicksand Medium"/>
                <a:ea typeface="Quicksand Medium"/>
                <a:cs typeface="Quicksand Medium"/>
                <a:sym typeface="Quicksand Medium"/>
              </a:rPr>
              <a:t>sự</a:t>
            </a:r>
            <a:r>
              <a:rPr lang="en-US" sz="5600" b="1" dirty="0">
                <a:latin typeface="Quicksand Medium"/>
                <a:ea typeface="Quicksand Medium"/>
                <a:cs typeface="Quicksand Medium"/>
                <a:sym typeface="Quicksand Medium"/>
              </a:rPr>
              <a:t> </a:t>
            </a:r>
            <a:r>
              <a:rPr lang="en-US" sz="5600" b="1" dirty="0" err="1">
                <a:latin typeface="Quicksand Medium"/>
                <a:ea typeface="Quicksand Medium"/>
                <a:cs typeface="Quicksand Medium"/>
                <a:sym typeface="Quicksand Medium"/>
              </a:rPr>
              <a:t>cố</a:t>
            </a:r>
            <a:r>
              <a:rPr lang="en-US" sz="5600" b="1" dirty="0">
                <a:latin typeface="Quicksand Medium"/>
                <a:ea typeface="Quicksand Medium"/>
                <a:cs typeface="Quicksand Medium"/>
                <a:sym typeface="Quicksand Medium"/>
              </a:rPr>
              <a:t> </a:t>
            </a:r>
            <a:r>
              <a:rPr lang="en-US" sz="5600" b="1" dirty="0" err="1">
                <a:latin typeface="Quicksand Medium"/>
                <a:ea typeface="Quicksand Medium"/>
                <a:cs typeface="Quicksand Medium"/>
                <a:sym typeface="Quicksand Medium"/>
              </a:rPr>
              <a:t>giao</a:t>
            </a:r>
            <a:r>
              <a:rPr lang="en-US" sz="5600" b="1" dirty="0">
                <a:latin typeface="Quicksand Medium"/>
                <a:ea typeface="Quicksand Medium"/>
                <a:cs typeface="Quicksand Medium"/>
                <a:sym typeface="Quicksand Medium"/>
              </a:rPr>
              <a:t> </a:t>
            </a:r>
            <a:r>
              <a:rPr lang="en-US" sz="5600" b="1" dirty="0" err="1">
                <a:latin typeface="Quicksand Medium"/>
                <a:ea typeface="Quicksand Medium"/>
                <a:cs typeface="Quicksand Medium"/>
                <a:sym typeface="Quicksand Medium"/>
              </a:rPr>
              <a:t>thông</a:t>
            </a:r>
            <a:endParaRPr lang="en-US" sz="5600" b="1" dirty="0">
              <a:latin typeface="Quicksand Medium"/>
              <a:ea typeface="Quicksand Medium"/>
              <a:cs typeface="Quicksand Medium"/>
              <a:sym typeface="Quicksand Medium"/>
            </a:endParaRPr>
          </a:p>
        </p:txBody>
      </p:sp>
      <p:sp>
        <p:nvSpPr>
          <p:cNvPr id="3" name="Freeform 3"/>
          <p:cNvSpPr/>
          <p:nvPr/>
        </p:nvSpPr>
        <p:spPr>
          <a:xfrm rot="3520730">
            <a:off x="12716433" y="-2322789"/>
            <a:ext cx="8681652" cy="5215575"/>
          </a:xfrm>
          <a:custGeom>
            <a:avLst/>
            <a:gdLst/>
            <a:ahLst/>
            <a:cxnLst/>
            <a:rect l="l" t="t" r="r" b="b"/>
            <a:pathLst>
              <a:path w="8782363" h="5013931">
                <a:moveTo>
                  <a:pt x="0" y="0"/>
                </a:moveTo>
                <a:lnTo>
                  <a:pt x="8782362" y="0"/>
                </a:lnTo>
                <a:lnTo>
                  <a:pt x="8782362" y="5013931"/>
                </a:lnTo>
                <a:lnTo>
                  <a:pt x="0" y="501393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4" name="Group 4"/>
          <p:cNvGrpSpPr/>
          <p:nvPr/>
        </p:nvGrpSpPr>
        <p:grpSpPr>
          <a:xfrm>
            <a:off x="-608680" y="9258300"/>
            <a:ext cx="19505361" cy="15817074"/>
            <a:chOff x="0" y="0"/>
            <a:chExt cx="26007147" cy="21089432"/>
          </a:xfrm>
        </p:grpSpPr>
        <p:grpSp>
          <p:nvGrpSpPr>
            <p:cNvPr id="5" name="Group 5"/>
            <p:cNvGrpSpPr/>
            <p:nvPr/>
          </p:nvGrpSpPr>
          <p:grpSpPr>
            <a:xfrm rot="-5400000">
              <a:off x="7701470" y="-7701470"/>
              <a:ext cx="10544716" cy="25947656"/>
              <a:chOff x="0" y="0"/>
              <a:chExt cx="1272376" cy="3130969"/>
            </a:xfrm>
          </p:grpSpPr>
          <p:sp>
            <p:nvSpPr>
              <p:cNvPr id="6" name="Freeform 6"/>
              <p:cNvSpPr/>
              <p:nvPr/>
            </p:nvSpPr>
            <p:spPr>
              <a:xfrm>
                <a:off x="0" y="0"/>
                <a:ext cx="1272376" cy="3130969"/>
              </a:xfrm>
              <a:custGeom>
                <a:avLst/>
                <a:gdLst/>
                <a:ahLst/>
                <a:cxnLst/>
                <a:rect l="l" t="t" r="r" b="b"/>
                <a:pathLst>
                  <a:path w="1272376" h="3130969">
                    <a:moveTo>
                      <a:pt x="0" y="0"/>
                    </a:moveTo>
                    <a:lnTo>
                      <a:pt x="1272376" y="0"/>
                    </a:lnTo>
                    <a:lnTo>
                      <a:pt x="1272376" y="3130969"/>
                    </a:lnTo>
                    <a:lnTo>
                      <a:pt x="0" y="3130969"/>
                    </a:lnTo>
                    <a:close/>
                  </a:path>
                </a:pathLst>
              </a:custGeom>
              <a:solidFill>
                <a:srgbClr val="476376"/>
              </a:solidFill>
            </p:spPr>
          </p:sp>
          <p:sp>
            <p:nvSpPr>
              <p:cNvPr id="7" name="TextBox 7"/>
              <p:cNvSpPr txBox="1"/>
              <p:nvPr/>
            </p:nvSpPr>
            <p:spPr>
              <a:xfrm>
                <a:off x="0" y="-114300"/>
                <a:ext cx="1272376" cy="3245269"/>
              </a:xfrm>
              <a:prstGeom prst="rect">
                <a:avLst/>
              </a:prstGeom>
            </p:spPr>
            <p:txBody>
              <a:bodyPr lIns="50800" tIns="50800" rIns="50800" bIns="50800" rtlCol="0" anchor="ctr"/>
              <a:lstStyle/>
              <a:p>
                <a:pPr algn="ctr">
                  <a:lnSpc>
                    <a:spcPts val="3765"/>
                  </a:lnSpc>
                </a:pPr>
                <a:endParaRPr/>
              </a:p>
            </p:txBody>
          </p:sp>
        </p:grpSp>
        <p:sp>
          <p:nvSpPr>
            <p:cNvPr id="8" name="Freeform 8"/>
            <p:cNvSpPr/>
            <p:nvPr/>
          </p:nvSpPr>
          <p:spPr>
            <a:xfrm rot="-5400000">
              <a:off x="2458858" y="-2458858"/>
              <a:ext cx="21089432" cy="26007147"/>
            </a:xfrm>
            <a:custGeom>
              <a:avLst/>
              <a:gdLst/>
              <a:ahLst/>
              <a:cxnLst/>
              <a:rect l="l" t="t" r="r" b="b"/>
              <a:pathLst>
                <a:path w="21089432" h="26007147">
                  <a:moveTo>
                    <a:pt x="0" y="0"/>
                  </a:moveTo>
                  <a:lnTo>
                    <a:pt x="21089432" y="0"/>
                  </a:lnTo>
                  <a:lnTo>
                    <a:pt x="21089432" y="26007148"/>
                  </a:lnTo>
                  <a:lnTo>
                    <a:pt x="0" y="26007148"/>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pSp>
      <p:sp>
        <p:nvSpPr>
          <p:cNvPr id="10" name="TextBox 10"/>
          <p:cNvSpPr txBox="1"/>
          <p:nvPr/>
        </p:nvSpPr>
        <p:spPr>
          <a:xfrm>
            <a:off x="1028700" y="1638300"/>
            <a:ext cx="3771900" cy="2918491"/>
          </a:xfrm>
          <a:prstGeom prst="rect">
            <a:avLst/>
          </a:prstGeom>
        </p:spPr>
        <p:txBody>
          <a:bodyPr wrap="square" lIns="0" tIns="0" rIns="0" bIns="0" rtlCol="0" anchor="t">
            <a:spAutoFit/>
          </a:bodyPr>
          <a:lstStyle/>
          <a:p>
            <a:pPr marL="402553" lvl="1" algn="l">
              <a:lnSpc>
                <a:spcPts val="6339"/>
              </a:lnSpc>
            </a:pPr>
            <a:r>
              <a:rPr lang="en-US" sz="3729" dirty="0" err="1">
                <a:solidFill>
                  <a:srgbClr val="203847"/>
                </a:solidFill>
                <a:latin typeface="Quicksand"/>
                <a:ea typeface="Quicksand"/>
                <a:cs typeface="Quicksand"/>
                <a:sym typeface="Quicksand"/>
              </a:rPr>
              <a:t>Mô</a:t>
            </a:r>
            <a:r>
              <a:rPr lang="en-US" sz="3729" dirty="0">
                <a:solidFill>
                  <a:srgbClr val="203847"/>
                </a:solidFill>
                <a:latin typeface="Quicksand"/>
                <a:ea typeface="Quicksand"/>
                <a:cs typeface="Quicksand"/>
                <a:sym typeface="Quicksand"/>
              </a:rPr>
              <a:t> </a:t>
            </a:r>
            <a:r>
              <a:rPr lang="en-US" sz="3729" dirty="0" err="1">
                <a:solidFill>
                  <a:srgbClr val="203847"/>
                </a:solidFill>
                <a:latin typeface="Quicksand"/>
                <a:ea typeface="Quicksand"/>
                <a:cs typeface="Quicksand"/>
                <a:sym typeface="Quicksand"/>
              </a:rPr>
              <a:t>hình</a:t>
            </a:r>
            <a:r>
              <a:rPr lang="en-US" sz="3729" dirty="0">
                <a:solidFill>
                  <a:srgbClr val="203847"/>
                </a:solidFill>
                <a:latin typeface="Quicksand"/>
                <a:ea typeface="Quicksand"/>
                <a:cs typeface="Quicksand"/>
                <a:sym typeface="Quicksand"/>
              </a:rPr>
              <a:t> LSTM:</a:t>
            </a:r>
          </a:p>
          <a:p>
            <a:pPr marL="805107" lvl="1" indent="-402554" algn="just">
              <a:lnSpc>
                <a:spcPct val="150000"/>
              </a:lnSpc>
              <a:buFont typeface="Arial"/>
              <a:buChar char="•"/>
            </a:pPr>
            <a:r>
              <a:rPr lang="en-US" sz="2400" dirty="0">
                <a:effectLst/>
                <a:latin typeface="Quicksand Medium" panose="020B0604020202020204" charset="0"/>
                <a:ea typeface="Times New Roman" panose="02020603050405020304" pitchFamily="18" charset="0"/>
              </a:rPr>
              <a:t>MobileNetV2</a:t>
            </a:r>
          </a:p>
          <a:p>
            <a:pPr marL="805107" lvl="1" indent="-402554" algn="just">
              <a:lnSpc>
                <a:spcPct val="150000"/>
              </a:lnSpc>
              <a:buFont typeface="Arial"/>
              <a:buChar char="•"/>
            </a:pPr>
            <a:r>
              <a:rPr lang="en-US" sz="2400" dirty="0">
                <a:effectLst/>
                <a:latin typeface="Quicksand Medium" panose="020B0604020202020204" charset="0"/>
                <a:ea typeface="Times New Roman" panose="02020603050405020304" pitchFamily="18" charset="0"/>
              </a:rPr>
              <a:t>Reshape</a:t>
            </a:r>
          </a:p>
          <a:p>
            <a:pPr marL="805107" lvl="1" indent="-402554" algn="just">
              <a:lnSpc>
                <a:spcPct val="150000"/>
              </a:lnSpc>
              <a:buFont typeface="Arial"/>
              <a:buChar char="•"/>
            </a:pPr>
            <a:r>
              <a:rPr lang="en-US" sz="2400" dirty="0">
                <a:latin typeface="Quicksand Medium" panose="020B0604020202020204" charset="0"/>
                <a:ea typeface="Times New Roman" panose="02020603050405020304" pitchFamily="18" charset="0"/>
              </a:rPr>
              <a:t>LSTM</a:t>
            </a:r>
            <a:r>
              <a:rPr lang="en-US" sz="2400" dirty="0">
                <a:effectLst/>
                <a:latin typeface="Quicksand Medium" panose="020B0604020202020204" charset="0"/>
                <a:ea typeface="Times New Roman" panose="02020603050405020304" pitchFamily="18" charset="0"/>
              </a:rPr>
              <a:t> </a:t>
            </a:r>
            <a:endParaRPr lang="en-US" sz="2400" dirty="0">
              <a:latin typeface="Quicksand Medium" panose="020B0604020202020204" charset="0"/>
              <a:ea typeface="Times New Roman" panose="02020603050405020304" pitchFamily="18" charset="0"/>
            </a:endParaRPr>
          </a:p>
          <a:p>
            <a:pPr marL="805107" lvl="1" indent="-402554" algn="just">
              <a:lnSpc>
                <a:spcPct val="150000"/>
              </a:lnSpc>
              <a:buFont typeface="Arial"/>
              <a:buChar char="•"/>
            </a:pPr>
            <a:endParaRPr lang="en-US" sz="2200" dirty="0">
              <a:latin typeface="Quicksand Medium" panose="020B0604020202020204" charset="0"/>
            </a:endParaRPr>
          </a:p>
        </p:txBody>
      </p:sp>
      <p:pic>
        <p:nvPicPr>
          <p:cNvPr id="3074" name="Picture 2">
            <a:extLst>
              <a:ext uri="{FF2B5EF4-FFF2-40B4-BE49-F238E27FC236}">
                <a16:creationId xmlns:a16="http://schemas.microsoft.com/office/drawing/2014/main" id="{6F0EA600-FF91-40B5-ACDC-D392CC269AA8}"/>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3886200" y="3400131"/>
            <a:ext cx="13894329" cy="5867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011152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321771"/>
            <a:ext cx="14058900" cy="1099147"/>
          </a:xfrm>
          <a:prstGeom prst="rect">
            <a:avLst/>
          </a:prstGeom>
        </p:spPr>
        <p:txBody>
          <a:bodyPr wrap="square" lIns="0" tIns="0" rIns="0" bIns="0" rtlCol="0" anchor="t">
            <a:spAutoFit/>
          </a:bodyPr>
          <a:lstStyle/>
          <a:p>
            <a:pPr algn="just">
              <a:lnSpc>
                <a:spcPts val="9675"/>
              </a:lnSpc>
              <a:spcBef>
                <a:spcPct val="0"/>
              </a:spcBef>
            </a:pPr>
            <a:r>
              <a:rPr lang="en-US" sz="5600" b="1" dirty="0">
                <a:latin typeface="Quicksand Semi-Bold"/>
                <a:ea typeface="Quicksand Semi-Bold"/>
                <a:cs typeface="Quicksand Semi-Bold"/>
                <a:sym typeface="Quicksand Semi-Bold"/>
              </a:rPr>
              <a:t>3. </a:t>
            </a:r>
            <a:r>
              <a:rPr lang="en-US" sz="5600" b="1" dirty="0" err="1">
                <a:latin typeface="Quicksand Medium"/>
                <a:ea typeface="Quicksand Medium"/>
                <a:cs typeface="Quicksand Medium"/>
                <a:sym typeface="Quicksand Medium"/>
              </a:rPr>
              <a:t>Mô</a:t>
            </a:r>
            <a:r>
              <a:rPr lang="en-US" sz="5600" b="1" dirty="0">
                <a:latin typeface="Quicksand Medium"/>
                <a:ea typeface="Quicksand Medium"/>
                <a:cs typeface="Quicksand Medium"/>
                <a:sym typeface="Quicksand Medium"/>
              </a:rPr>
              <a:t> </a:t>
            </a:r>
            <a:r>
              <a:rPr lang="en-US" sz="5600" b="1" dirty="0" err="1">
                <a:latin typeface="Quicksand Medium"/>
                <a:ea typeface="Quicksand Medium"/>
                <a:cs typeface="Quicksand Medium"/>
                <a:sym typeface="Quicksand Medium"/>
              </a:rPr>
              <a:t>hình</a:t>
            </a:r>
            <a:r>
              <a:rPr lang="en-US" sz="5600" b="1" dirty="0">
                <a:latin typeface="Quicksand Medium"/>
                <a:ea typeface="Quicksand Medium"/>
                <a:cs typeface="Quicksand Medium"/>
                <a:sym typeface="Quicksand Medium"/>
              </a:rPr>
              <a:t> </a:t>
            </a:r>
            <a:r>
              <a:rPr lang="en-US" sz="5600" b="1" dirty="0" err="1">
                <a:latin typeface="Quicksand Medium"/>
                <a:ea typeface="Quicksand Medium"/>
                <a:cs typeface="Quicksand Medium"/>
                <a:sym typeface="Quicksand Medium"/>
              </a:rPr>
              <a:t>trong</a:t>
            </a:r>
            <a:r>
              <a:rPr lang="en-US" sz="5600" b="1" dirty="0">
                <a:latin typeface="Quicksand Medium"/>
                <a:ea typeface="Quicksand Medium"/>
                <a:cs typeface="Quicksand Medium"/>
                <a:sym typeface="Quicksand Medium"/>
              </a:rPr>
              <a:t> </a:t>
            </a:r>
            <a:r>
              <a:rPr lang="en-US" sz="5600" b="1" dirty="0" err="1">
                <a:latin typeface="Quicksand Medium"/>
                <a:ea typeface="Quicksand Medium"/>
                <a:cs typeface="Quicksand Medium"/>
                <a:sym typeface="Quicksand Medium"/>
              </a:rPr>
              <a:t>dự</a:t>
            </a:r>
            <a:r>
              <a:rPr lang="en-US" sz="5600" b="1" dirty="0">
                <a:latin typeface="Quicksand Medium"/>
                <a:ea typeface="Quicksand Medium"/>
                <a:cs typeface="Quicksand Medium"/>
                <a:sym typeface="Quicksand Medium"/>
              </a:rPr>
              <a:t> </a:t>
            </a:r>
            <a:r>
              <a:rPr lang="en-US" sz="5600" b="1" dirty="0" err="1">
                <a:latin typeface="Quicksand Medium"/>
                <a:ea typeface="Quicksand Medium"/>
                <a:cs typeface="Quicksand Medium"/>
                <a:sym typeface="Quicksand Medium"/>
              </a:rPr>
              <a:t>báo</a:t>
            </a:r>
            <a:r>
              <a:rPr lang="en-US" sz="5600" b="1" dirty="0">
                <a:latin typeface="Quicksand Medium"/>
                <a:ea typeface="Quicksand Medium"/>
                <a:cs typeface="Quicksand Medium"/>
                <a:sym typeface="Quicksand Medium"/>
              </a:rPr>
              <a:t> </a:t>
            </a:r>
            <a:r>
              <a:rPr lang="en-US" sz="5600" b="1" dirty="0" err="1">
                <a:latin typeface="Quicksand Medium"/>
                <a:ea typeface="Quicksand Medium"/>
                <a:cs typeface="Quicksand Medium"/>
                <a:sym typeface="Quicksand Medium"/>
              </a:rPr>
              <a:t>sự</a:t>
            </a:r>
            <a:r>
              <a:rPr lang="en-US" sz="5600" b="1" dirty="0">
                <a:latin typeface="Quicksand Medium"/>
                <a:ea typeface="Quicksand Medium"/>
                <a:cs typeface="Quicksand Medium"/>
                <a:sym typeface="Quicksand Medium"/>
              </a:rPr>
              <a:t> </a:t>
            </a:r>
            <a:r>
              <a:rPr lang="en-US" sz="5600" b="1" dirty="0" err="1">
                <a:latin typeface="Quicksand Medium"/>
                <a:ea typeface="Quicksand Medium"/>
                <a:cs typeface="Quicksand Medium"/>
                <a:sym typeface="Quicksand Medium"/>
              </a:rPr>
              <a:t>cố</a:t>
            </a:r>
            <a:r>
              <a:rPr lang="en-US" sz="5600" b="1" dirty="0">
                <a:latin typeface="Quicksand Medium"/>
                <a:ea typeface="Quicksand Medium"/>
                <a:cs typeface="Quicksand Medium"/>
                <a:sym typeface="Quicksand Medium"/>
              </a:rPr>
              <a:t> </a:t>
            </a:r>
            <a:r>
              <a:rPr lang="en-US" sz="5600" b="1" dirty="0" err="1">
                <a:latin typeface="Quicksand Medium"/>
                <a:ea typeface="Quicksand Medium"/>
                <a:cs typeface="Quicksand Medium"/>
                <a:sym typeface="Quicksand Medium"/>
              </a:rPr>
              <a:t>giao</a:t>
            </a:r>
            <a:r>
              <a:rPr lang="en-US" sz="5600" b="1" dirty="0">
                <a:latin typeface="Quicksand Medium"/>
                <a:ea typeface="Quicksand Medium"/>
                <a:cs typeface="Quicksand Medium"/>
                <a:sym typeface="Quicksand Medium"/>
              </a:rPr>
              <a:t> </a:t>
            </a:r>
            <a:r>
              <a:rPr lang="en-US" sz="5600" b="1" dirty="0" err="1">
                <a:latin typeface="Quicksand Medium"/>
                <a:ea typeface="Quicksand Medium"/>
                <a:cs typeface="Quicksand Medium"/>
                <a:sym typeface="Quicksand Medium"/>
              </a:rPr>
              <a:t>thông</a:t>
            </a:r>
            <a:endParaRPr lang="en-US" sz="5600" b="1" dirty="0">
              <a:latin typeface="Quicksand Medium"/>
              <a:ea typeface="Quicksand Medium"/>
              <a:cs typeface="Quicksand Medium"/>
              <a:sym typeface="Quicksand Medium"/>
            </a:endParaRPr>
          </a:p>
        </p:txBody>
      </p:sp>
      <p:sp>
        <p:nvSpPr>
          <p:cNvPr id="3" name="Freeform 3"/>
          <p:cNvSpPr/>
          <p:nvPr/>
        </p:nvSpPr>
        <p:spPr>
          <a:xfrm rot="3520730">
            <a:off x="12716433" y="-2322789"/>
            <a:ext cx="8681652" cy="5215575"/>
          </a:xfrm>
          <a:custGeom>
            <a:avLst/>
            <a:gdLst/>
            <a:ahLst/>
            <a:cxnLst/>
            <a:rect l="l" t="t" r="r" b="b"/>
            <a:pathLst>
              <a:path w="8782363" h="5013931">
                <a:moveTo>
                  <a:pt x="0" y="0"/>
                </a:moveTo>
                <a:lnTo>
                  <a:pt x="8782362" y="0"/>
                </a:lnTo>
                <a:lnTo>
                  <a:pt x="8782362" y="5013931"/>
                </a:lnTo>
                <a:lnTo>
                  <a:pt x="0" y="501393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4" name="Group 4"/>
          <p:cNvGrpSpPr/>
          <p:nvPr/>
        </p:nvGrpSpPr>
        <p:grpSpPr>
          <a:xfrm>
            <a:off x="-608680" y="9258300"/>
            <a:ext cx="19505361" cy="15817074"/>
            <a:chOff x="0" y="0"/>
            <a:chExt cx="26007147" cy="21089432"/>
          </a:xfrm>
        </p:grpSpPr>
        <p:grpSp>
          <p:nvGrpSpPr>
            <p:cNvPr id="5" name="Group 5"/>
            <p:cNvGrpSpPr/>
            <p:nvPr/>
          </p:nvGrpSpPr>
          <p:grpSpPr>
            <a:xfrm rot="-5400000">
              <a:off x="7701470" y="-7701470"/>
              <a:ext cx="10544716" cy="25947656"/>
              <a:chOff x="0" y="0"/>
              <a:chExt cx="1272376" cy="3130969"/>
            </a:xfrm>
          </p:grpSpPr>
          <p:sp>
            <p:nvSpPr>
              <p:cNvPr id="6" name="Freeform 6"/>
              <p:cNvSpPr/>
              <p:nvPr/>
            </p:nvSpPr>
            <p:spPr>
              <a:xfrm>
                <a:off x="0" y="0"/>
                <a:ext cx="1272376" cy="3130969"/>
              </a:xfrm>
              <a:custGeom>
                <a:avLst/>
                <a:gdLst/>
                <a:ahLst/>
                <a:cxnLst/>
                <a:rect l="l" t="t" r="r" b="b"/>
                <a:pathLst>
                  <a:path w="1272376" h="3130969">
                    <a:moveTo>
                      <a:pt x="0" y="0"/>
                    </a:moveTo>
                    <a:lnTo>
                      <a:pt x="1272376" y="0"/>
                    </a:lnTo>
                    <a:lnTo>
                      <a:pt x="1272376" y="3130969"/>
                    </a:lnTo>
                    <a:lnTo>
                      <a:pt x="0" y="3130969"/>
                    </a:lnTo>
                    <a:close/>
                  </a:path>
                </a:pathLst>
              </a:custGeom>
              <a:solidFill>
                <a:srgbClr val="476376"/>
              </a:solidFill>
            </p:spPr>
          </p:sp>
          <p:sp>
            <p:nvSpPr>
              <p:cNvPr id="7" name="TextBox 7"/>
              <p:cNvSpPr txBox="1"/>
              <p:nvPr/>
            </p:nvSpPr>
            <p:spPr>
              <a:xfrm>
                <a:off x="0" y="-114300"/>
                <a:ext cx="1272376" cy="3245269"/>
              </a:xfrm>
              <a:prstGeom prst="rect">
                <a:avLst/>
              </a:prstGeom>
            </p:spPr>
            <p:txBody>
              <a:bodyPr lIns="50800" tIns="50800" rIns="50800" bIns="50800" rtlCol="0" anchor="ctr"/>
              <a:lstStyle/>
              <a:p>
                <a:pPr algn="ctr">
                  <a:lnSpc>
                    <a:spcPts val="3765"/>
                  </a:lnSpc>
                </a:pPr>
                <a:endParaRPr/>
              </a:p>
            </p:txBody>
          </p:sp>
        </p:grpSp>
        <p:sp>
          <p:nvSpPr>
            <p:cNvPr id="8" name="Freeform 8"/>
            <p:cNvSpPr/>
            <p:nvPr/>
          </p:nvSpPr>
          <p:spPr>
            <a:xfrm rot="-5400000">
              <a:off x="2458858" y="-2458858"/>
              <a:ext cx="21089432" cy="26007147"/>
            </a:xfrm>
            <a:custGeom>
              <a:avLst/>
              <a:gdLst/>
              <a:ahLst/>
              <a:cxnLst/>
              <a:rect l="l" t="t" r="r" b="b"/>
              <a:pathLst>
                <a:path w="21089432" h="26007147">
                  <a:moveTo>
                    <a:pt x="0" y="0"/>
                  </a:moveTo>
                  <a:lnTo>
                    <a:pt x="21089432" y="0"/>
                  </a:lnTo>
                  <a:lnTo>
                    <a:pt x="21089432" y="26007148"/>
                  </a:lnTo>
                  <a:lnTo>
                    <a:pt x="0" y="26007148"/>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pSp>
      <p:sp>
        <p:nvSpPr>
          <p:cNvPr id="10" name="TextBox 10"/>
          <p:cNvSpPr txBox="1"/>
          <p:nvPr/>
        </p:nvSpPr>
        <p:spPr>
          <a:xfrm>
            <a:off x="1028700" y="1638300"/>
            <a:ext cx="6667500" cy="2918491"/>
          </a:xfrm>
          <a:prstGeom prst="rect">
            <a:avLst/>
          </a:prstGeom>
        </p:spPr>
        <p:txBody>
          <a:bodyPr wrap="square" lIns="0" tIns="0" rIns="0" bIns="0" rtlCol="0" anchor="t">
            <a:spAutoFit/>
          </a:bodyPr>
          <a:lstStyle/>
          <a:p>
            <a:pPr marL="402553" lvl="1" algn="l">
              <a:lnSpc>
                <a:spcPts val="6339"/>
              </a:lnSpc>
            </a:pPr>
            <a:r>
              <a:rPr lang="en-US" sz="3729" dirty="0" err="1">
                <a:solidFill>
                  <a:srgbClr val="203847"/>
                </a:solidFill>
                <a:latin typeface="Quicksand"/>
                <a:ea typeface="Quicksand"/>
                <a:cs typeface="Quicksand"/>
                <a:sym typeface="Quicksand"/>
              </a:rPr>
              <a:t>Mô</a:t>
            </a:r>
            <a:r>
              <a:rPr lang="en-US" sz="3729" dirty="0">
                <a:solidFill>
                  <a:srgbClr val="203847"/>
                </a:solidFill>
                <a:latin typeface="Quicksand"/>
                <a:ea typeface="Quicksand"/>
                <a:cs typeface="Quicksand"/>
                <a:sym typeface="Quicksand"/>
              </a:rPr>
              <a:t> </a:t>
            </a:r>
            <a:r>
              <a:rPr lang="en-US" sz="3729" dirty="0" err="1">
                <a:solidFill>
                  <a:srgbClr val="203847"/>
                </a:solidFill>
                <a:latin typeface="Quicksand"/>
                <a:ea typeface="Quicksand"/>
                <a:cs typeface="Quicksand"/>
                <a:sym typeface="Quicksand"/>
              </a:rPr>
              <a:t>hình</a:t>
            </a:r>
            <a:r>
              <a:rPr lang="en-US" sz="3729" dirty="0">
                <a:solidFill>
                  <a:srgbClr val="203847"/>
                </a:solidFill>
                <a:latin typeface="Quicksand"/>
                <a:ea typeface="Quicksand"/>
                <a:cs typeface="Quicksand"/>
                <a:sym typeface="Quicksand"/>
              </a:rPr>
              <a:t> Transformer:</a:t>
            </a:r>
          </a:p>
          <a:p>
            <a:pPr marL="805107" lvl="1" indent="-402554" algn="just">
              <a:lnSpc>
                <a:spcPct val="150000"/>
              </a:lnSpc>
              <a:buFont typeface="Arial"/>
              <a:buChar char="•"/>
            </a:pPr>
            <a:r>
              <a:rPr lang="en-US" sz="2400" dirty="0">
                <a:effectLst/>
                <a:latin typeface="Quicksand Medium" panose="020B0604020202020204" charset="0"/>
                <a:ea typeface="Times New Roman" panose="02020603050405020304" pitchFamily="18" charset="0"/>
              </a:rPr>
              <a:t>MobileNetV2</a:t>
            </a:r>
          </a:p>
          <a:p>
            <a:pPr marL="805107" lvl="1" indent="-402554" algn="just">
              <a:lnSpc>
                <a:spcPct val="150000"/>
              </a:lnSpc>
              <a:buFont typeface="Arial"/>
              <a:buChar char="•"/>
            </a:pPr>
            <a:r>
              <a:rPr lang="en-US" sz="2400" dirty="0">
                <a:effectLst/>
                <a:latin typeface="Quicksand Medium" panose="020B0604020202020204" charset="0"/>
                <a:ea typeface="Times New Roman" panose="02020603050405020304" pitchFamily="18" charset="0"/>
              </a:rPr>
              <a:t>Transformer Encoder</a:t>
            </a:r>
          </a:p>
          <a:p>
            <a:pPr marL="805107" lvl="1" indent="-402554" algn="just">
              <a:lnSpc>
                <a:spcPct val="150000"/>
              </a:lnSpc>
              <a:buFont typeface="Arial"/>
              <a:buChar char="•"/>
            </a:pPr>
            <a:r>
              <a:rPr lang="en-US" sz="2400" dirty="0">
                <a:latin typeface="Quicksand Medium" panose="020B0604020202020204" charset="0"/>
                <a:ea typeface="Times New Roman" panose="02020603050405020304" pitchFamily="18" charset="0"/>
              </a:rPr>
              <a:t>Dense</a:t>
            </a:r>
            <a:r>
              <a:rPr lang="en-US" sz="2400" dirty="0">
                <a:effectLst/>
                <a:latin typeface="Quicksand Medium" panose="020B0604020202020204" charset="0"/>
                <a:ea typeface="Times New Roman" panose="02020603050405020304" pitchFamily="18" charset="0"/>
              </a:rPr>
              <a:t> </a:t>
            </a:r>
            <a:endParaRPr lang="en-US" sz="2400" dirty="0">
              <a:latin typeface="Quicksand Medium" panose="020B0604020202020204" charset="0"/>
              <a:ea typeface="Times New Roman" panose="02020603050405020304" pitchFamily="18" charset="0"/>
            </a:endParaRPr>
          </a:p>
          <a:p>
            <a:pPr marL="805107" lvl="1" indent="-402554" algn="just">
              <a:lnSpc>
                <a:spcPct val="150000"/>
              </a:lnSpc>
              <a:buFont typeface="Arial"/>
              <a:buChar char="•"/>
            </a:pPr>
            <a:endParaRPr lang="en-US" sz="2200" dirty="0">
              <a:latin typeface="Quicksand Medium" panose="020B0604020202020204" charset="0"/>
            </a:endParaRPr>
          </a:p>
        </p:txBody>
      </p:sp>
      <p:pic>
        <p:nvPicPr>
          <p:cNvPr id="5122" name="Picture 2">
            <a:extLst>
              <a:ext uri="{FF2B5EF4-FFF2-40B4-BE49-F238E27FC236}">
                <a16:creationId xmlns:a16="http://schemas.microsoft.com/office/drawing/2014/main" id="{5091F7CD-302B-4C51-84EA-0601DD8A5425}"/>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4362450" y="3468042"/>
            <a:ext cx="13787437" cy="58222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711585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321771"/>
            <a:ext cx="14058900" cy="1117614"/>
          </a:xfrm>
          <a:prstGeom prst="rect">
            <a:avLst/>
          </a:prstGeom>
        </p:spPr>
        <p:txBody>
          <a:bodyPr wrap="square" lIns="0" tIns="0" rIns="0" bIns="0" rtlCol="0" anchor="t">
            <a:spAutoFit/>
          </a:bodyPr>
          <a:lstStyle/>
          <a:p>
            <a:pPr algn="just">
              <a:lnSpc>
                <a:spcPts val="9675"/>
              </a:lnSpc>
              <a:spcBef>
                <a:spcPct val="0"/>
              </a:spcBef>
            </a:pPr>
            <a:r>
              <a:rPr lang="en-US" sz="5600" b="1" dirty="0">
                <a:latin typeface="Quicksand Semi-Bold"/>
                <a:ea typeface="Quicksand Semi-Bold"/>
                <a:cs typeface="Quicksand Semi-Bold"/>
                <a:sym typeface="Quicksand Semi-Bold"/>
              </a:rPr>
              <a:t>4. </a:t>
            </a:r>
            <a:r>
              <a:rPr lang="en-US" sz="6000" b="1" dirty="0" err="1">
                <a:solidFill>
                  <a:srgbClr val="374F5F"/>
                </a:solidFill>
                <a:latin typeface="Quicksand Medium"/>
                <a:ea typeface="Quicksand Medium"/>
                <a:cs typeface="Quicksand Medium"/>
                <a:sym typeface="Quicksand Medium"/>
              </a:rPr>
              <a:t>Áp</a:t>
            </a:r>
            <a:r>
              <a:rPr lang="en-US" sz="6000" b="1" dirty="0">
                <a:solidFill>
                  <a:srgbClr val="374F5F"/>
                </a:solidFill>
                <a:latin typeface="Quicksand Medium"/>
                <a:ea typeface="Quicksand Medium"/>
                <a:cs typeface="Quicksand Medium"/>
                <a:sym typeface="Quicksand Medium"/>
              </a:rPr>
              <a:t> </a:t>
            </a:r>
            <a:r>
              <a:rPr lang="en-US" sz="6000" b="1" dirty="0" err="1">
                <a:solidFill>
                  <a:srgbClr val="374F5F"/>
                </a:solidFill>
                <a:latin typeface="Quicksand Medium"/>
                <a:ea typeface="Quicksand Medium"/>
                <a:cs typeface="Quicksand Medium"/>
                <a:sym typeface="Quicksand Medium"/>
              </a:rPr>
              <a:t>dụng</a:t>
            </a:r>
            <a:r>
              <a:rPr lang="en-US" sz="6000" b="1" dirty="0">
                <a:solidFill>
                  <a:srgbClr val="374F5F"/>
                </a:solidFill>
                <a:latin typeface="Quicksand Medium"/>
                <a:ea typeface="Quicksand Medium"/>
                <a:cs typeface="Quicksand Medium"/>
                <a:sym typeface="Quicksand Medium"/>
              </a:rPr>
              <a:t> </a:t>
            </a:r>
            <a:r>
              <a:rPr lang="en-US" sz="6000" b="1" dirty="0" err="1">
                <a:solidFill>
                  <a:srgbClr val="374F5F"/>
                </a:solidFill>
                <a:latin typeface="Quicksand Medium"/>
                <a:ea typeface="Quicksand Medium"/>
                <a:cs typeface="Quicksand Medium"/>
                <a:sym typeface="Quicksand Medium"/>
              </a:rPr>
              <a:t>trong</a:t>
            </a:r>
            <a:r>
              <a:rPr lang="en-US" sz="6000" b="1" dirty="0">
                <a:solidFill>
                  <a:srgbClr val="374F5F"/>
                </a:solidFill>
                <a:latin typeface="Quicksand Medium"/>
                <a:ea typeface="Quicksand Medium"/>
                <a:cs typeface="Quicksand Medium"/>
                <a:sym typeface="Quicksand Medium"/>
              </a:rPr>
              <a:t> </a:t>
            </a:r>
            <a:r>
              <a:rPr lang="en-US" sz="6000" b="1" dirty="0" err="1">
                <a:solidFill>
                  <a:srgbClr val="374F5F"/>
                </a:solidFill>
                <a:latin typeface="Quicksand Medium"/>
                <a:ea typeface="Quicksand Medium"/>
                <a:cs typeface="Quicksand Medium"/>
                <a:sym typeface="Quicksand Medium"/>
              </a:rPr>
              <a:t>bài</a:t>
            </a:r>
            <a:r>
              <a:rPr lang="en-US" sz="6000" b="1" dirty="0">
                <a:solidFill>
                  <a:srgbClr val="374F5F"/>
                </a:solidFill>
                <a:latin typeface="Quicksand Medium"/>
                <a:ea typeface="Quicksand Medium"/>
                <a:cs typeface="Quicksand Medium"/>
                <a:sym typeface="Quicksand Medium"/>
              </a:rPr>
              <a:t> </a:t>
            </a:r>
            <a:r>
              <a:rPr lang="en-US" sz="6000" b="1" dirty="0" err="1">
                <a:solidFill>
                  <a:srgbClr val="374F5F"/>
                </a:solidFill>
                <a:latin typeface="Quicksand Medium"/>
                <a:ea typeface="Quicksand Medium"/>
                <a:cs typeface="Quicksand Medium"/>
                <a:sym typeface="Quicksand Medium"/>
              </a:rPr>
              <a:t>toán</a:t>
            </a:r>
            <a:endParaRPr lang="en-US" sz="6000" b="1" dirty="0">
              <a:solidFill>
                <a:srgbClr val="374F5F"/>
              </a:solidFill>
              <a:latin typeface="Quicksand Medium"/>
              <a:ea typeface="Quicksand Medium"/>
              <a:cs typeface="Quicksand Medium"/>
              <a:sym typeface="Quicksand Medium"/>
            </a:endParaRPr>
          </a:p>
        </p:txBody>
      </p:sp>
      <p:sp>
        <p:nvSpPr>
          <p:cNvPr id="3" name="Freeform 3"/>
          <p:cNvSpPr/>
          <p:nvPr/>
        </p:nvSpPr>
        <p:spPr>
          <a:xfrm rot="3520730">
            <a:off x="12716433" y="-2322789"/>
            <a:ext cx="8681652" cy="5215575"/>
          </a:xfrm>
          <a:custGeom>
            <a:avLst/>
            <a:gdLst/>
            <a:ahLst/>
            <a:cxnLst/>
            <a:rect l="l" t="t" r="r" b="b"/>
            <a:pathLst>
              <a:path w="8782363" h="5013931">
                <a:moveTo>
                  <a:pt x="0" y="0"/>
                </a:moveTo>
                <a:lnTo>
                  <a:pt x="8782362" y="0"/>
                </a:lnTo>
                <a:lnTo>
                  <a:pt x="8782362" y="5013931"/>
                </a:lnTo>
                <a:lnTo>
                  <a:pt x="0" y="501393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4" name="Group 4"/>
          <p:cNvGrpSpPr/>
          <p:nvPr/>
        </p:nvGrpSpPr>
        <p:grpSpPr>
          <a:xfrm>
            <a:off x="-608680" y="9258300"/>
            <a:ext cx="19505361" cy="15817074"/>
            <a:chOff x="0" y="0"/>
            <a:chExt cx="26007147" cy="21089432"/>
          </a:xfrm>
        </p:grpSpPr>
        <p:grpSp>
          <p:nvGrpSpPr>
            <p:cNvPr id="5" name="Group 5"/>
            <p:cNvGrpSpPr/>
            <p:nvPr/>
          </p:nvGrpSpPr>
          <p:grpSpPr>
            <a:xfrm rot="-5400000">
              <a:off x="7701470" y="-7701470"/>
              <a:ext cx="10544716" cy="25947656"/>
              <a:chOff x="0" y="0"/>
              <a:chExt cx="1272376" cy="3130969"/>
            </a:xfrm>
          </p:grpSpPr>
          <p:sp>
            <p:nvSpPr>
              <p:cNvPr id="6" name="Freeform 6"/>
              <p:cNvSpPr/>
              <p:nvPr/>
            </p:nvSpPr>
            <p:spPr>
              <a:xfrm>
                <a:off x="0" y="0"/>
                <a:ext cx="1272376" cy="3130969"/>
              </a:xfrm>
              <a:custGeom>
                <a:avLst/>
                <a:gdLst/>
                <a:ahLst/>
                <a:cxnLst/>
                <a:rect l="l" t="t" r="r" b="b"/>
                <a:pathLst>
                  <a:path w="1272376" h="3130969">
                    <a:moveTo>
                      <a:pt x="0" y="0"/>
                    </a:moveTo>
                    <a:lnTo>
                      <a:pt x="1272376" y="0"/>
                    </a:lnTo>
                    <a:lnTo>
                      <a:pt x="1272376" y="3130969"/>
                    </a:lnTo>
                    <a:lnTo>
                      <a:pt x="0" y="3130969"/>
                    </a:lnTo>
                    <a:close/>
                  </a:path>
                </a:pathLst>
              </a:custGeom>
              <a:solidFill>
                <a:srgbClr val="476376"/>
              </a:solidFill>
            </p:spPr>
          </p:sp>
          <p:sp>
            <p:nvSpPr>
              <p:cNvPr id="7" name="TextBox 7"/>
              <p:cNvSpPr txBox="1"/>
              <p:nvPr/>
            </p:nvSpPr>
            <p:spPr>
              <a:xfrm>
                <a:off x="0" y="-114300"/>
                <a:ext cx="1272376" cy="3245269"/>
              </a:xfrm>
              <a:prstGeom prst="rect">
                <a:avLst/>
              </a:prstGeom>
            </p:spPr>
            <p:txBody>
              <a:bodyPr lIns="50800" tIns="50800" rIns="50800" bIns="50800" rtlCol="0" anchor="ctr"/>
              <a:lstStyle/>
              <a:p>
                <a:pPr algn="ctr">
                  <a:lnSpc>
                    <a:spcPts val="3765"/>
                  </a:lnSpc>
                </a:pPr>
                <a:endParaRPr/>
              </a:p>
            </p:txBody>
          </p:sp>
        </p:grpSp>
        <p:sp>
          <p:nvSpPr>
            <p:cNvPr id="8" name="Freeform 8"/>
            <p:cNvSpPr/>
            <p:nvPr/>
          </p:nvSpPr>
          <p:spPr>
            <a:xfrm rot="-5400000">
              <a:off x="2458858" y="-2458858"/>
              <a:ext cx="21089432" cy="26007147"/>
            </a:xfrm>
            <a:custGeom>
              <a:avLst/>
              <a:gdLst/>
              <a:ahLst/>
              <a:cxnLst/>
              <a:rect l="l" t="t" r="r" b="b"/>
              <a:pathLst>
                <a:path w="21089432" h="26007147">
                  <a:moveTo>
                    <a:pt x="0" y="0"/>
                  </a:moveTo>
                  <a:lnTo>
                    <a:pt x="21089432" y="0"/>
                  </a:lnTo>
                  <a:lnTo>
                    <a:pt x="21089432" y="26007148"/>
                  </a:lnTo>
                  <a:lnTo>
                    <a:pt x="0" y="2600714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sp>
        <p:nvSpPr>
          <p:cNvPr id="10" name="TextBox 10"/>
          <p:cNvSpPr txBox="1"/>
          <p:nvPr/>
        </p:nvSpPr>
        <p:spPr>
          <a:xfrm>
            <a:off x="1028700" y="2092911"/>
            <a:ext cx="15636174" cy="3513269"/>
          </a:xfrm>
          <a:prstGeom prst="rect">
            <a:avLst/>
          </a:prstGeom>
        </p:spPr>
        <p:txBody>
          <a:bodyPr lIns="0" tIns="0" rIns="0" bIns="0" rtlCol="0" anchor="t">
            <a:spAutoFit/>
          </a:bodyPr>
          <a:lstStyle/>
          <a:p>
            <a:pPr marL="402553" lvl="1" algn="l">
              <a:lnSpc>
                <a:spcPts val="6339"/>
              </a:lnSpc>
            </a:pPr>
            <a:r>
              <a:rPr lang="en-US" sz="3729" dirty="0" err="1">
                <a:solidFill>
                  <a:srgbClr val="203847"/>
                </a:solidFill>
                <a:latin typeface="Quicksand"/>
                <a:ea typeface="Quicksand"/>
                <a:cs typeface="Quicksand"/>
                <a:sym typeface="Quicksand"/>
              </a:rPr>
              <a:t>Môi</a:t>
            </a:r>
            <a:r>
              <a:rPr lang="en-US" sz="3729" dirty="0">
                <a:solidFill>
                  <a:srgbClr val="203847"/>
                </a:solidFill>
                <a:latin typeface="Quicksand"/>
                <a:ea typeface="Quicksand"/>
                <a:cs typeface="Quicksand"/>
                <a:sym typeface="Quicksand"/>
              </a:rPr>
              <a:t> </a:t>
            </a:r>
            <a:r>
              <a:rPr lang="en-US" sz="3729" dirty="0" err="1">
                <a:solidFill>
                  <a:srgbClr val="203847"/>
                </a:solidFill>
                <a:latin typeface="Quicksand"/>
                <a:ea typeface="Quicksand"/>
                <a:cs typeface="Quicksand"/>
                <a:sym typeface="Quicksand"/>
              </a:rPr>
              <a:t>trường</a:t>
            </a:r>
            <a:r>
              <a:rPr lang="en-US" sz="3729" dirty="0">
                <a:solidFill>
                  <a:srgbClr val="203847"/>
                </a:solidFill>
                <a:latin typeface="Quicksand"/>
                <a:ea typeface="Quicksand"/>
                <a:cs typeface="Quicksand"/>
                <a:sym typeface="Quicksand"/>
              </a:rPr>
              <a:t>:</a:t>
            </a:r>
          </a:p>
          <a:p>
            <a:pPr marL="805107" lvl="1" indent="-402554" algn="just">
              <a:lnSpc>
                <a:spcPct val="150000"/>
              </a:lnSpc>
              <a:buFont typeface="Arial"/>
              <a:buChar char="•"/>
            </a:pPr>
            <a:r>
              <a:rPr lang="en-US" sz="2400" dirty="0" err="1">
                <a:latin typeface="Quicksand Medium" panose="020B0604020202020204" charset="0"/>
              </a:rPr>
              <a:t>Bài</a:t>
            </a:r>
            <a:r>
              <a:rPr lang="en-US" sz="2400" dirty="0">
                <a:latin typeface="Quicksand Medium" panose="020B0604020202020204" charset="0"/>
              </a:rPr>
              <a:t> </a:t>
            </a:r>
            <a:r>
              <a:rPr lang="en-US" sz="2400" dirty="0" err="1">
                <a:latin typeface="Quicksand Medium" panose="020B0604020202020204" charset="0"/>
              </a:rPr>
              <a:t>toán</a:t>
            </a:r>
            <a:r>
              <a:rPr lang="en-US" sz="2400" dirty="0">
                <a:latin typeface="Quicksand Medium" panose="020B0604020202020204" charset="0"/>
              </a:rPr>
              <a:t> </a:t>
            </a:r>
            <a:r>
              <a:rPr lang="en-US" sz="2400" dirty="0" err="1">
                <a:latin typeface="Quicksand Medium" panose="020B0604020202020204" charset="0"/>
              </a:rPr>
              <a:t>được</a:t>
            </a:r>
            <a:r>
              <a:rPr lang="en-US" sz="2400" dirty="0">
                <a:latin typeface="Quicksand Medium" panose="020B0604020202020204" charset="0"/>
              </a:rPr>
              <a:t> </a:t>
            </a:r>
            <a:r>
              <a:rPr lang="en-US" sz="2400" dirty="0" err="1">
                <a:latin typeface="Quicksand Medium" panose="020B0604020202020204" charset="0"/>
              </a:rPr>
              <a:t>thực</a:t>
            </a:r>
            <a:r>
              <a:rPr lang="en-US" sz="2400" dirty="0">
                <a:latin typeface="Quicksand Medium" panose="020B0604020202020204" charset="0"/>
              </a:rPr>
              <a:t> </a:t>
            </a:r>
            <a:r>
              <a:rPr lang="en-US" sz="2400" dirty="0" err="1">
                <a:latin typeface="Quicksand Medium" panose="020B0604020202020204" charset="0"/>
              </a:rPr>
              <a:t>nghiệm</a:t>
            </a:r>
            <a:r>
              <a:rPr lang="en-US" sz="2400" dirty="0">
                <a:latin typeface="Quicksand Medium" panose="020B0604020202020204" charset="0"/>
              </a:rPr>
              <a:t> </a:t>
            </a:r>
            <a:r>
              <a:rPr lang="en-US" sz="2400" dirty="0" err="1">
                <a:latin typeface="Quicksand Medium" panose="020B0604020202020204" charset="0"/>
              </a:rPr>
              <a:t>trên</a:t>
            </a:r>
            <a:r>
              <a:rPr lang="en-US" sz="2400" dirty="0">
                <a:latin typeface="Quicksand Medium" panose="020B0604020202020204" charset="0"/>
              </a:rPr>
              <a:t> Google </a:t>
            </a:r>
            <a:r>
              <a:rPr lang="en-US" sz="2400" dirty="0" err="1">
                <a:latin typeface="Quicksand Medium" panose="020B0604020202020204" charset="0"/>
              </a:rPr>
              <a:t>Colab</a:t>
            </a:r>
            <a:r>
              <a:rPr lang="en-US" sz="2400" dirty="0">
                <a:latin typeface="Quicksand Medium" panose="020B0604020202020204" charset="0"/>
              </a:rPr>
              <a:t> </a:t>
            </a:r>
            <a:r>
              <a:rPr lang="en-US" sz="2400" dirty="0" err="1">
                <a:latin typeface="Quicksand Medium" panose="020B0604020202020204" charset="0"/>
              </a:rPr>
              <a:t>với</a:t>
            </a:r>
            <a:r>
              <a:rPr lang="en-US" sz="2400" dirty="0">
                <a:latin typeface="Quicksand Medium" panose="020B0604020202020204" charset="0"/>
              </a:rPr>
              <a:t> </a:t>
            </a:r>
            <a:r>
              <a:rPr lang="en-US" sz="2400" dirty="0" err="1">
                <a:latin typeface="Quicksand Medium" panose="020B0604020202020204" charset="0"/>
              </a:rPr>
              <a:t>các</a:t>
            </a:r>
            <a:r>
              <a:rPr lang="en-US" sz="2400" dirty="0">
                <a:latin typeface="Quicksand Medium" panose="020B0604020202020204" charset="0"/>
              </a:rPr>
              <a:t> GPU </a:t>
            </a:r>
            <a:r>
              <a:rPr lang="en-US" sz="2400" dirty="0" err="1">
                <a:latin typeface="Quicksand Medium" panose="020B0604020202020204" charset="0"/>
              </a:rPr>
              <a:t>mạnh</a:t>
            </a:r>
            <a:r>
              <a:rPr lang="en-US" sz="2400" dirty="0">
                <a:latin typeface="Quicksand Medium" panose="020B0604020202020204" charset="0"/>
              </a:rPr>
              <a:t> </a:t>
            </a:r>
            <a:r>
              <a:rPr lang="en-US" sz="2400" dirty="0" err="1">
                <a:latin typeface="Quicksand Medium" panose="020B0604020202020204" charset="0"/>
              </a:rPr>
              <a:t>mẽ</a:t>
            </a:r>
            <a:endParaRPr lang="en-US" sz="2400" dirty="0">
              <a:latin typeface="Quicksand Medium" panose="020B0604020202020204" charset="0"/>
            </a:endParaRPr>
          </a:p>
          <a:p>
            <a:pPr marL="805107" lvl="1" indent="-402554" algn="just">
              <a:lnSpc>
                <a:spcPct val="150000"/>
              </a:lnSpc>
              <a:buFont typeface="Arial"/>
              <a:buChar char="•"/>
            </a:pPr>
            <a:r>
              <a:rPr lang="en-US" sz="2400" dirty="0" err="1">
                <a:latin typeface="Quicksand Medium" panose="020B0604020202020204" charset="0"/>
              </a:rPr>
              <a:t>Sử</a:t>
            </a:r>
            <a:r>
              <a:rPr lang="en-US" sz="2400" dirty="0">
                <a:latin typeface="Quicksand Medium" panose="020B0604020202020204" charset="0"/>
              </a:rPr>
              <a:t> </a:t>
            </a:r>
            <a:r>
              <a:rPr lang="en-US" sz="2400" dirty="0" err="1">
                <a:latin typeface="Quicksand Medium" panose="020B0604020202020204" charset="0"/>
              </a:rPr>
              <a:t>dụng</a:t>
            </a:r>
            <a:r>
              <a:rPr lang="en-US" sz="2400" dirty="0">
                <a:latin typeface="Quicksand Medium" panose="020B0604020202020204" charset="0"/>
              </a:rPr>
              <a:t> </a:t>
            </a:r>
            <a:r>
              <a:rPr lang="en-US" sz="2400" dirty="0" err="1">
                <a:latin typeface="Quicksand Medium" panose="020B0604020202020204" charset="0"/>
              </a:rPr>
              <a:t>các</a:t>
            </a:r>
            <a:r>
              <a:rPr lang="en-US" sz="2400" dirty="0">
                <a:latin typeface="Quicksand Medium" panose="020B0604020202020204" charset="0"/>
              </a:rPr>
              <a:t> </a:t>
            </a:r>
            <a:r>
              <a:rPr lang="en-US" sz="2400" dirty="0" err="1">
                <a:latin typeface="Quicksand Medium" panose="020B0604020202020204" charset="0"/>
              </a:rPr>
              <a:t>thư</a:t>
            </a:r>
            <a:r>
              <a:rPr lang="en-US" sz="2400" dirty="0">
                <a:latin typeface="Quicksand Medium" panose="020B0604020202020204" charset="0"/>
              </a:rPr>
              <a:t> </a:t>
            </a:r>
            <a:r>
              <a:rPr lang="en-US" sz="2400" dirty="0" err="1">
                <a:latin typeface="Quicksand Medium" panose="020B0604020202020204" charset="0"/>
              </a:rPr>
              <a:t>viện</a:t>
            </a:r>
            <a:r>
              <a:rPr lang="en-US" sz="2400" dirty="0">
                <a:latin typeface="Quicksand Medium" panose="020B0604020202020204" charset="0"/>
              </a:rPr>
              <a:t> </a:t>
            </a:r>
            <a:r>
              <a:rPr lang="en-US" sz="2400" dirty="0" err="1">
                <a:latin typeface="Quicksand Medium" panose="020B0604020202020204" charset="0"/>
              </a:rPr>
              <a:t>phổ</a:t>
            </a:r>
            <a:r>
              <a:rPr lang="en-US" sz="2400" dirty="0">
                <a:latin typeface="Quicksand Medium" panose="020B0604020202020204" charset="0"/>
              </a:rPr>
              <a:t> </a:t>
            </a:r>
            <a:r>
              <a:rPr lang="en-US" sz="2400" dirty="0" err="1">
                <a:latin typeface="Quicksand Medium" panose="020B0604020202020204" charset="0"/>
              </a:rPr>
              <a:t>biến</a:t>
            </a:r>
            <a:r>
              <a:rPr lang="en-US" sz="2400" dirty="0">
                <a:latin typeface="Quicksand Medium" panose="020B0604020202020204" charset="0"/>
              </a:rPr>
              <a:t> </a:t>
            </a:r>
            <a:r>
              <a:rPr lang="en-US" sz="2400" dirty="0" err="1">
                <a:latin typeface="Quicksand Medium" panose="020B0604020202020204" charset="0"/>
              </a:rPr>
              <a:t>như</a:t>
            </a:r>
            <a:r>
              <a:rPr lang="en-US" sz="2400" dirty="0">
                <a:latin typeface="Quicksand Medium" panose="020B0604020202020204" charset="0"/>
              </a:rPr>
              <a:t> TensorFlow, </a:t>
            </a:r>
            <a:r>
              <a:rPr lang="en-US" sz="2400" dirty="0" err="1">
                <a:latin typeface="Quicksand Medium" panose="020B0604020202020204" charset="0"/>
              </a:rPr>
              <a:t>Keras</a:t>
            </a:r>
            <a:r>
              <a:rPr lang="en-US" sz="2400" dirty="0">
                <a:latin typeface="Quicksand Medium" panose="020B0604020202020204" charset="0"/>
              </a:rPr>
              <a:t>, </a:t>
            </a:r>
            <a:r>
              <a:rPr lang="en-US" sz="2400" dirty="0" err="1">
                <a:latin typeface="Quicksand Medium" panose="020B0604020202020204" charset="0"/>
              </a:rPr>
              <a:t>PyTorch</a:t>
            </a:r>
            <a:r>
              <a:rPr lang="en-US" sz="2400" dirty="0">
                <a:latin typeface="Quicksand Medium" panose="020B0604020202020204" charset="0"/>
              </a:rPr>
              <a:t>, OpenCV, NumPy </a:t>
            </a:r>
            <a:r>
              <a:rPr lang="en-US" sz="2400" dirty="0" err="1">
                <a:latin typeface="Quicksand Medium" panose="020B0604020202020204" charset="0"/>
              </a:rPr>
              <a:t>và</a:t>
            </a:r>
            <a:r>
              <a:rPr lang="en-US" sz="2400" dirty="0">
                <a:latin typeface="Quicksand Medium" panose="020B0604020202020204" charset="0"/>
              </a:rPr>
              <a:t> Pandas </a:t>
            </a:r>
            <a:r>
              <a:rPr lang="en-US" sz="2400" dirty="0" err="1">
                <a:latin typeface="Quicksand Medium" panose="020B0604020202020204" charset="0"/>
              </a:rPr>
              <a:t>cho</a:t>
            </a:r>
            <a:r>
              <a:rPr lang="en-US" sz="2400" dirty="0">
                <a:latin typeface="Quicksand Medium" panose="020B0604020202020204" charset="0"/>
              </a:rPr>
              <a:t> </a:t>
            </a:r>
            <a:r>
              <a:rPr lang="en-US" sz="2400" dirty="0" err="1">
                <a:latin typeface="Quicksand Medium" panose="020B0604020202020204" charset="0"/>
              </a:rPr>
              <a:t>xử</a:t>
            </a:r>
            <a:r>
              <a:rPr lang="en-US" sz="2400" dirty="0">
                <a:latin typeface="Quicksand Medium" panose="020B0604020202020204" charset="0"/>
              </a:rPr>
              <a:t> </a:t>
            </a:r>
            <a:r>
              <a:rPr lang="en-US" sz="2400" dirty="0" err="1">
                <a:latin typeface="Quicksand Medium" panose="020B0604020202020204" charset="0"/>
              </a:rPr>
              <a:t>lý</a:t>
            </a:r>
            <a:r>
              <a:rPr lang="en-US" sz="2400" dirty="0">
                <a:latin typeface="Quicksand Medium" panose="020B0604020202020204" charset="0"/>
              </a:rPr>
              <a:t> </a:t>
            </a:r>
            <a:r>
              <a:rPr lang="en-US" sz="2400" dirty="0" err="1">
                <a:latin typeface="Quicksand Medium" panose="020B0604020202020204" charset="0"/>
              </a:rPr>
              <a:t>dữ</a:t>
            </a:r>
            <a:r>
              <a:rPr lang="en-US" sz="2400" dirty="0">
                <a:latin typeface="Quicksand Medium" panose="020B0604020202020204" charset="0"/>
              </a:rPr>
              <a:t> </a:t>
            </a:r>
            <a:r>
              <a:rPr lang="en-US" sz="2400" dirty="0" err="1">
                <a:latin typeface="Quicksand Medium" panose="020B0604020202020204" charset="0"/>
              </a:rPr>
              <a:t>liệu</a:t>
            </a:r>
            <a:r>
              <a:rPr lang="en-US" sz="2400" dirty="0">
                <a:latin typeface="Quicksand Medium" panose="020B0604020202020204" charset="0"/>
              </a:rPr>
              <a:t>, Matplotlib </a:t>
            </a:r>
            <a:r>
              <a:rPr lang="en-US" sz="2400" dirty="0" err="1">
                <a:latin typeface="Quicksand Medium" panose="020B0604020202020204" charset="0"/>
              </a:rPr>
              <a:t>và</a:t>
            </a:r>
            <a:r>
              <a:rPr lang="en-US" sz="2400" dirty="0">
                <a:latin typeface="Quicksand Medium" panose="020B0604020202020204" charset="0"/>
              </a:rPr>
              <a:t> Seaborn </a:t>
            </a:r>
            <a:r>
              <a:rPr lang="en-US" sz="2400" dirty="0" err="1">
                <a:latin typeface="Quicksand Medium" panose="020B0604020202020204" charset="0"/>
              </a:rPr>
              <a:t>cho</a:t>
            </a:r>
            <a:r>
              <a:rPr lang="en-US" sz="2400" dirty="0">
                <a:latin typeface="Quicksand Medium" panose="020B0604020202020204" charset="0"/>
              </a:rPr>
              <a:t> </a:t>
            </a:r>
            <a:r>
              <a:rPr lang="en-US" sz="2400" dirty="0" err="1">
                <a:latin typeface="Quicksand Medium" panose="020B0604020202020204" charset="0"/>
              </a:rPr>
              <a:t>trực</a:t>
            </a:r>
            <a:r>
              <a:rPr lang="en-US" sz="2400" dirty="0">
                <a:latin typeface="Quicksand Medium" panose="020B0604020202020204" charset="0"/>
              </a:rPr>
              <a:t> </a:t>
            </a:r>
            <a:r>
              <a:rPr lang="en-US" sz="2400" dirty="0" err="1">
                <a:latin typeface="Quicksand Medium" panose="020B0604020202020204" charset="0"/>
              </a:rPr>
              <a:t>quan</a:t>
            </a:r>
            <a:r>
              <a:rPr lang="en-US" sz="2400" dirty="0">
                <a:latin typeface="Quicksand Medium" panose="020B0604020202020204" charset="0"/>
              </a:rPr>
              <a:t> </a:t>
            </a:r>
            <a:r>
              <a:rPr lang="en-US" sz="2400" dirty="0" err="1">
                <a:latin typeface="Quicksand Medium" panose="020B0604020202020204" charset="0"/>
              </a:rPr>
              <a:t>hóa</a:t>
            </a:r>
            <a:r>
              <a:rPr lang="en-US" sz="2400" dirty="0">
                <a:latin typeface="Quicksand Medium" panose="020B0604020202020204" charset="0"/>
              </a:rPr>
              <a:t> </a:t>
            </a:r>
            <a:r>
              <a:rPr lang="en-US" sz="2400" dirty="0" err="1">
                <a:latin typeface="Quicksand Medium" panose="020B0604020202020204" charset="0"/>
              </a:rPr>
              <a:t>kết</a:t>
            </a:r>
            <a:r>
              <a:rPr lang="en-US" sz="2400" dirty="0">
                <a:latin typeface="Quicksand Medium" panose="020B0604020202020204" charset="0"/>
              </a:rPr>
              <a:t> </a:t>
            </a:r>
            <a:r>
              <a:rPr lang="en-US" sz="2400" dirty="0" err="1">
                <a:latin typeface="Quicksand Medium" panose="020B0604020202020204" charset="0"/>
              </a:rPr>
              <a:t>quả</a:t>
            </a:r>
            <a:endParaRPr lang="en-US" sz="2400" dirty="0">
              <a:latin typeface="Quicksand Medium" panose="020B0604020202020204" charset="0"/>
            </a:endParaRPr>
          </a:p>
          <a:p>
            <a:pPr marL="805107" lvl="1" indent="-402554" algn="just">
              <a:lnSpc>
                <a:spcPct val="150000"/>
              </a:lnSpc>
              <a:buFont typeface="Arial"/>
              <a:buChar char="•"/>
            </a:pPr>
            <a:r>
              <a:rPr lang="en-US" sz="2400" dirty="0" err="1">
                <a:latin typeface="Quicksand Medium" panose="020B0604020202020204" charset="0"/>
              </a:rPr>
              <a:t>Bộ</a:t>
            </a:r>
            <a:r>
              <a:rPr lang="en-US" sz="2400" dirty="0">
                <a:latin typeface="Quicksand Medium" panose="020B0604020202020204" charset="0"/>
              </a:rPr>
              <a:t> </a:t>
            </a:r>
            <a:r>
              <a:rPr lang="en-US" sz="2400" dirty="0" err="1">
                <a:latin typeface="Quicksand Medium" panose="020B0604020202020204" charset="0"/>
              </a:rPr>
              <a:t>dữ</a:t>
            </a:r>
            <a:r>
              <a:rPr lang="en-US" sz="2400" dirty="0">
                <a:latin typeface="Quicksand Medium" panose="020B0604020202020204" charset="0"/>
              </a:rPr>
              <a:t> </a:t>
            </a:r>
            <a:r>
              <a:rPr lang="en-US" sz="2400" dirty="0" err="1">
                <a:latin typeface="Quicksand Medium" panose="020B0604020202020204" charset="0"/>
              </a:rPr>
              <a:t>liệu</a:t>
            </a:r>
            <a:r>
              <a:rPr lang="en-US" sz="2400" dirty="0">
                <a:latin typeface="Quicksand Medium" panose="020B0604020202020204" charset="0"/>
              </a:rPr>
              <a:t> </a:t>
            </a:r>
            <a:r>
              <a:rPr lang="en-US" sz="2400" dirty="0" err="1">
                <a:latin typeface="Quicksand Medium" panose="020B0604020202020204" charset="0"/>
              </a:rPr>
              <a:t>trong</a:t>
            </a:r>
            <a:r>
              <a:rPr lang="en-US" sz="2400" dirty="0">
                <a:latin typeface="Quicksand Medium" panose="020B0604020202020204" charset="0"/>
              </a:rPr>
              <a:t> Google Drive </a:t>
            </a:r>
            <a:r>
              <a:rPr lang="en-US" sz="2400" dirty="0" err="1">
                <a:latin typeface="Quicksand Medium" panose="020B0604020202020204" charset="0"/>
              </a:rPr>
              <a:t>và</a:t>
            </a:r>
            <a:r>
              <a:rPr lang="en-US" sz="2400" dirty="0">
                <a:latin typeface="Quicksand Medium" panose="020B0604020202020204" charset="0"/>
              </a:rPr>
              <a:t> </a:t>
            </a:r>
            <a:r>
              <a:rPr lang="en-US" sz="2400" dirty="0" err="1">
                <a:latin typeface="Quicksand Medium" panose="020B0604020202020204" charset="0"/>
              </a:rPr>
              <a:t>kết</a:t>
            </a:r>
            <a:r>
              <a:rPr lang="en-US" sz="2400" dirty="0">
                <a:latin typeface="Quicksand Medium" panose="020B0604020202020204" charset="0"/>
              </a:rPr>
              <a:t> </a:t>
            </a:r>
            <a:r>
              <a:rPr lang="en-US" sz="2400" dirty="0" err="1">
                <a:latin typeface="Quicksand Medium" panose="020B0604020202020204" charset="0"/>
              </a:rPr>
              <a:t>nối</a:t>
            </a:r>
            <a:r>
              <a:rPr lang="en-US" sz="2400" dirty="0">
                <a:latin typeface="Quicksand Medium" panose="020B0604020202020204" charset="0"/>
              </a:rPr>
              <a:t> </a:t>
            </a:r>
            <a:r>
              <a:rPr lang="en-US" sz="2400" dirty="0" err="1">
                <a:latin typeface="Quicksand Medium" panose="020B0604020202020204" charset="0"/>
              </a:rPr>
              <a:t>trực</a:t>
            </a:r>
            <a:r>
              <a:rPr lang="en-US" sz="2400" dirty="0">
                <a:latin typeface="Quicksand Medium" panose="020B0604020202020204" charset="0"/>
              </a:rPr>
              <a:t> </a:t>
            </a:r>
            <a:r>
              <a:rPr lang="en-US" sz="2400" dirty="0" err="1">
                <a:latin typeface="Quicksand Medium" panose="020B0604020202020204" charset="0"/>
              </a:rPr>
              <a:t>tiếp</a:t>
            </a:r>
            <a:r>
              <a:rPr lang="en-US" sz="2400" dirty="0">
                <a:latin typeface="Quicksand Medium" panose="020B0604020202020204" charset="0"/>
              </a:rPr>
              <a:t> </a:t>
            </a:r>
            <a:r>
              <a:rPr lang="en-US" sz="2400" dirty="0" err="1">
                <a:latin typeface="Quicksand Medium" panose="020B0604020202020204" charset="0"/>
              </a:rPr>
              <a:t>với</a:t>
            </a:r>
            <a:r>
              <a:rPr lang="en-US" sz="2400" dirty="0">
                <a:latin typeface="Quicksand Medium" panose="020B0604020202020204" charset="0"/>
              </a:rPr>
              <a:t> </a:t>
            </a:r>
            <a:r>
              <a:rPr lang="en-US" sz="2400" dirty="0" err="1">
                <a:latin typeface="Quicksand Medium" panose="020B0604020202020204" charset="0"/>
              </a:rPr>
              <a:t>Colab</a:t>
            </a:r>
            <a:r>
              <a:rPr lang="en-US" sz="2400" dirty="0">
                <a:latin typeface="Quicksand Medium" panose="020B0604020202020204" charset="0"/>
              </a:rPr>
              <a:t> </a:t>
            </a:r>
            <a:r>
              <a:rPr lang="en-US" sz="2400" dirty="0" err="1">
                <a:latin typeface="Quicksand Medium" panose="020B0604020202020204" charset="0"/>
              </a:rPr>
              <a:t>thông</a:t>
            </a:r>
            <a:r>
              <a:rPr lang="en-US" sz="2400" dirty="0">
                <a:latin typeface="Quicksand Medium" panose="020B0604020202020204" charset="0"/>
              </a:rPr>
              <a:t> qua API </a:t>
            </a:r>
            <a:r>
              <a:rPr lang="en-US" sz="2400" dirty="0" err="1">
                <a:latin typeface="Quicksand Medium" panose="020B0604020202020204" charset="0"/>
              </a:rPr>
              <a:t>của</a:t>
            </a:r>
            <a:r>
              <a:rPr lang="en-US" sz="2400" dirty="0">
                <a:latin typeface="Quicksand Medium" panose="020B0604020202020204" charset="0"/>
              </a:rPr>
              <a:t> Google</a:t>
            </a:r>
          </a:p>
          <a:p>
            <a:pPr marL="805107" lvl="1" indent="-402554" algn="just">
              <a:lnSpc>
                <a:spcPct val="150000"/>
              </a:lnSpc>
              <a:buFont typeface="Arial"/>
              <a:buChar char="•"/>
            </a:pPr>
            <a:r>
              <a:rPr lang="en-US" sz="2400" dirty="0" err="1">
                <a:latin typeface="Quicksand Medium" panose="020B0604020202020204" charset="0"/>
              </a:rPr>
              <a:t>Dữ</a:t>
            </a:r>
            <a:r>
              <a:rPr lang="en-US" sz="2400" dirty="0">
                <a:latin typeface="Quicksand Medium" panose="020B0604020202020204" charset="0"/>
              </a:rPr>
              <a:t> </a:t>
            </a:r>
            <a:r>
              <a:rPr lang="en-US" sz="2400" dirty="0" err="1">
                <a:latin typeface="Quicksand Medium" panose="020B0604020202020204" charset="0"/>
              </a:rPr>
              <a:t>liệu</a:t>
            </a:r>
            <a:r>
              <a:rPr lang="en-US" sz="2400" dirty="0">
                <a:latin typeface="Quicksand Medium" panose="020B0604020202020204" charset="0"/>
              </a:rPr>
              <a:t> </a:t>
            </a:r>
            <a:r>
              <a:rPr lang="en-US" sz="2400" dirty="0" err="1">
                <a:latin typeface="Quicksand Medium" panose="020B0604020202020204" charset="0"/>
              </a:rPr>
              <a:t>đã</a:t>
            </a:r>
            <a:r>
              <a:rPr lang="en-US" sz="2400" dirty="0">
                <a:latin typeface="Quicksand Medium" panose="020B0604020202020204" charset="0"/>
              </a:rPr>
              <a:t> </a:t>
            </a:r>
            <a:r>
              <a:rPr lang="en-US" sz="2400" dirty="0" err="1">
                <a:latin typeface="Quicksand Medium" panose="020B0604020202020204" charset="0"/>
              </a:rPr>
              <a:t>được</a:t>
            </a:r>
            <a:r>
              <a:rPr lang="en-US" sz="2400" dirty="0">
                <a:latin typeface="Quicksand Medium" panose="020B0604020202020204" charset="0"/>
              </a:rPr>
              <a:t> </a:t>
            </a:r>
            <a:r>
              <a:rPr lang="en-US" sz="2400" dirty="0" err="1">
                <a:latin typeface="Quicksand Medium" panose="020B0604020202020204" charset="0"/>
              </a:rPr>
              <a:t>phân</a:t>
            </a:r>
            <a:r>
              <a:rPr lang="en-US" sz="2400" dirty="0">
                <a:latin typeface="Quicksand Medium" panose="020B0604020202020204" charset="0"/>
              </a:rPr>
              <a:t> </a:t>
            </a:r>
            <a:r>
              <a:rPr lang="en-US" sz="2400" dirty="0" err="1">
                <a:latin typeface="Quicksand Medium" panose="020B0604020202020204" charset="0"/>
              </a:rPr>
              <a:t>loại</a:t>
            </a:r>
            <a:r>
              <a:rPr lang="en-US" sz="2400" dirty="0">
                <a:latin typeface="Quicksand Medium" panose="020B0604020202020204" charset="0"/>
              </a:rPr>
              <a:t> </a:t>
            </a:r>
            <a:r>
              <a:rPr lang="en-US" sz="2400" dirty="0" err="1">
                <a:latin typeface="Quicksand Medium" panose="020B0604020202020204" charset="0"/>
              </a:rPr>
              <a:t>thành</a:t>
            </a:r>
            <a:r>
              <a:rPr lang="en-US" sz="2400" dirty="0">
                <a:latin typeface="Quicksand Medium" panose="020B0604020202020204" charset="0"/>
              </a:rPr>
              <a:t> </a:t>
            </a:r>
            <a:r>
              <a:rPr lang="vi-VN" sz="2400" dirty="0">
                <a:latin typeface="Quicksand Medium" panose="020B0604020202020204" charset="0"/>
              </a:rPr>
              <a:t>thư mục chứa ảnh "có tai nạn" và "không tai nạn"</a:t>
            </a:r>
            <a:endParaRPr lang="en-US" sz="2200" dirty="0">
              <a:latin typeface="Quicksand Medium" panose="020B0604020202020204" charset="0"/>
            </a:endParaRPr>
          </a:p>
        </p:txBody>
      </p:sp>
    </p:spTree>
    <p:extLst>
      <p:ext uri="{BB962C8B-B14F-4D97-AF65-F5344CB8AC3E}">
        <p14:creationId xmlns:p14="http://schemas.microsoft.com/office/powerpoint/2010/main" val="38792471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321771"/>
            <a:ext cx="14058900" cy="1117614"/>
          </a:xfrm>
          <a:prstGeom prst="rect">
            <a:avLst/>
          </a:prstGeom>
        </p:spPr>
        <p:txBody>
          <a:bodyPr wrap="square" lIns="0" tIns="0" rIns="0" bIns="0" rtlCol="0" anchor="t">
            <a:spAutoFit/>
          </a:bodyPr>
          <a:lstStyle/>
          <a:p>
            <a:pPr algn="just">
              <a:lnSpc>
                <a:spcPts val="9675"/>
              </a:lnSpc>
              <a:spcBef>
                <a:spcPct val="0"/>
              </a:spcBef>
            </a:pPr>
            <a:r>
              <a:rPr lang="en-US" sz="5600" b="1" dirty="0">
                <a:latin typeface="Quicksand Semi-Bold"/>
                <a:ea typeface="Quicksand Semi-Bold"/>
                <a:cs typeface="Quicksand Semi-Bold"/>
                <a:sym typeface="Quicksand Semi-Bold"/>
              </a:rPr>
              <a:t>4. </a:t>
            </a:r>
            <a:r>
              <a:rPr lang="en-US" sz="6000" b="1" dirty="0" err="1">
                <a:solidFill>
                  <a:srgbClr val="374F5F"/>
                </a:solidFill>
                <a:latin typeface="Quicksand Medium"/>
                <a:ea typeface="Quicksand Medium"/>
                <a:cs typeface="Quicksand Medium"/>
                <a:sym typeface="Quicksand Medium"/>
              </a:rPr>
              <a:t>Áp</a:t>
            </a:r>
            <a:r>
              <a:rPr lang="en-US" sz="6000" b="1" dirty="0">
                <a:solidFill>
                  <a:srgbClr val="374F5F"/>
                </a:solidFill>
                <a:latin typeface="Quicksand Medium"/>
                <a:ea typeface="Quicksand Medium"/>
                <a:cs typeface="Quicksand Medium"/>
                <a:sym typeface="Quicksand Medium"/>
              </a:rPr>
              <a:t> </a:t>
            </a:r>
            <a:r>
              <a:rPr lang="en-US" sz="6000" b="1" dirty="0" err="1">
                <a:solidFill>
                  <a:srgbClr val="374F5F"/>
                </a:solidFill>
                <a:latin typeface="Quicksand Medium"/>
                <a:ea typeface="Quicksand Medium"/>
                <a:cs typeface="Quicksand Medium"/>
                <a:sym typeface="Quicksand Medium"/>
              </a:rPr>
              <a:t>dụng</a:t>
            </a:r>
            <a:r>
              <a:rPr lang="en-US" sz="6000" b="1" dirty="0">
                <a:solidFill>
                  <a:srgbClr val="374F5F"/>
                </a:solidFill>
                <a:latin typeface="Quicksand Medium"/>
                <a:ea typeface="Quicksand Medium"/>
                <a:cs typeface="Quicksand Medium"/>
                <a:sym typeface="Quicksand Medium"/>
              </a:rPr>
              <a:t> </a:t>
            </a:r>
            <a:r>
              <a:rPr lang="en-US" sz="6000" b="1" dirty="0" err="1">
                <a:solidFill>
                  <a:srgbClr val="374F5F"/>
                </a:solidFill>
                <a:latin typeface="Quicksand Medium"/>
                <a:ea typeface="Quicksand Medium"/>
                <a:cs typeface="Quicksand Medium"/>
                <a:sym typeface="Quicksand Medium"/>
              </a:rPr>
              <a:t>trong</a:t>
            </a:r>
            <a:r>
              <a:rPr lang="en-US" sz="6000" b="1" dirty="0">
                <a:solidFill>
                  <a:srgbClr val="374F5F"/>
                </a:solidFill>
                <a:latin typeface="Quicksand Medium"/>
                <a:ea typeface="Quicksand Medium"/>
                <a:cs typeface="Quicksand Medium"/>
                <a:sym typeface="Quicksand Medium"/>
              </a:rPr>
              <a:t> </a:t>
            </a:r>
            <a:r>
              <a:rPr lang="en-US" sz="6000" b="1" dirty="0" err="1">
                <a:solidFill>
                  <a:srgbClr val="374F5F"/>
                </a:solidFill>
                <a:latin typeface="Quicksand Medium"/>
                <a:ea typeface="Quicksand Medium"/>
                <a:cs typeface="Quicksand Medium"/>
                <a:sym typeface="Quicksand Medium"/>
              </a:rPr>
              <a:t>bài</a:t>
            </a:r>
            <a:r>
              <a:rPr lang="en-US" sz="6000" b="1" dirty="0">
                <a:solidFill>
                  <a:srgbClr val="374F5F"/>
                </a:solidFill>
                <a:latin typeface="Quicksand Medium"/>
                <a:ea typeface="Quicksand Medium"/>
                <a:cs typeface="Quicksand Medium"/>
                <a:sym typeface="Quicksand Medium"/>
              </a:rPr>
              <a:t> </a:t>
            </a:r>
            <a:r>
              <a:rPr lang="en-US" sz="6000" b="1" dirty="0" err="1">
                <a:solidFill>
                  <a:srgbClr val="374F5F"/>
                </a:solidFill>
                <a:latin typeface="Quicksand Medium"/>
                <a:ea typeface="Quicksand Medium"/>
                <a:cs typeface="Quicksand Medium"/>
                <a:sym typeface="Quicksand Medium"/>
              </a:rPr>
              <a:t>toán</a:t>
            </a:r>
            <a:endParaRPr lang="en-US" sz="6000" b="1" dirty="0">
              <a:solidFill>
                <a:srgbClr val="374F5F"/>
              </a:solidFill>
              <a:latin typeface="Quicksand Medium"/>
              <a:ea typeface="Quicksand Medium"/>
              <a:cs typeface="Quicksand Medium"/>
              <a:sym typeface="Quicksand Medium"/>
            </a:endParaRPr>
          </a:p>
        </p:txBody>
      </p:sp>
      <p:sp>
        <p:nvSpPr>
          <p:cNvPr id="3" name="Freeform 3"/>
          <p:cNvSpPr/>
          <p:nvPr/>
        </p:nvSpPr>
        <p:spPr>
          <a:xfrm rot="3520730">
            <a:off x="12716433" y="-2322789"/>
            <a:ext cx="8681652" cy="5215575"/>
          </a:xfrm>
          <a:custGeom>
            <a:avLst/>
            <a:gdLst/>
            <a:ahLst/>
            <a:cxnLst/>
            <a:rect l="l" t="t" r="r" b="b"/>
            <a:pathLst>
              <a:path w="8782363" h="5013931">
                <a:moveTo>
                  <a:pt x="0" y="0"/>
                </a:moveTo>
                <a:lnTo>
                  <a:pt x="8782362" y="0"/>
                </a:lnTo>
                <a:lnTo>
                  <a:pt x="8782362" y="5013931"/>
                </a:lnTo>
                <a:lnTo>
                  <a:pt x="0" y="501393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4" name="Group 4"/>
          <p:cNvGrpSpPr/>
          <p:nvPr/>
        </p:nvGrpSpPr>
        <p:grpSpPr>
          <a:xfrm>
            <a:off x="-608680" y="9258300"/>
            <a:ext cx="19505361" cy="15817074"/>
            <a:chOff x="0" y="0"/>
            <a:chExt cx="26007147" cy="21089432"/>
          </a:xfrm>
        </p:grpSpPr>
        <p:grpSp>
          <p:nvGrpSpPr>
            <p:cNvPr id="5" name="Group 5"/>
            <p:cNvGrpSpPr/>
            <p:nvPr/>
          </p:nvGrpSpPr>
          <p:grpSpPr>
            <a:xfrm rot="-5400000">
              <a:off x="7701470" y="-7701470"/>
              <a:ext cx="10544716" cy="25947656"/>
              <a:chOff x="0" y="0"/>
              <a:chExt cx="1272376" cy="3130969"/>
            </a:xfrm>
          </p:grpSpPr>
          <p:sp>
            <p:nvSpPr>
              <p:cNvPr id="6" name="Freeform 6"/>
              <p:cNvSpPr/>
              <p:nvPr/>
            </p:nvSpPr>
            <p:spPr>
              <a:xfrm>
                <a:off x="0" y="0"/>
                <a:ext cx="1272376" cy="3130969"/>
              </a:xfrm>
              <a:custGeom>
                <a:avLst/>
                <a:gdLst/>
                <a:ahLst/>
                <a:cxnLst/>
                <a:rect l="l" t="t" r="r" b="b"/>
                <a:pathLst>
                  <a:path w="1272376" h="3130969">
                    <a:moveTo>
                      <a:pt x="0" y="0"/>
                    </a:moveTo>
                    <a:lnTo>
                      <a:pt x="1272376" y="0"/>
                    </a:lnTo>
                    <a:lnTo>
                      <a:pt x="1272376" y="3130969"/>
                    </a:lnTo>
                    <a:lnTo>
                      <a:pt x="0" y="3130969"/>
                    </a:lnTo>
                    <a:close/>
                  </a:path>
                </a:pathLst>
              </a:custGeom>
              <a:solidFill>
                <a:srgbClr val="476376"/>
              </a:solidFill>
            </p:spPr>
          </p:sp>
          <p:sp>
            <p:nvSpPr>
              <p:cNvPr id="7" name="TextBox 7"/>
              <p:cNvSpPr txBox="1"/>
              <p:nvPr/>
            </p:nvSpPr>
            <p:spPr>
              <a:xfrm>
                <a:off x="0" y="-114300"/>
                <a:ext cx="1272376" cy="3245269"/>
              </a:xfrm>
              <a:prstGeom prst="rect">
                <a:avLst/>
              </a:prstGeom>
            </p:spPr>
            <p:txBody>
              <a:bodyPr lIns="50800" tIns="50800" rIns="50800" bIns="50800" rtlCol="0" anchor="ctr"/>
              <a:lstStyle/>
              <a:p>
                <a:pPr algn="ctr">
                  <a:lnSpc>
                    <a:spcPts val="3765"/>
                  </a:lnSpc>
                </a:pPr>
                <a:endParaRPr/>
              </a:p>
            </p:txBody>
          </p:sp>
        </p:grpSp>
        <p:sp>
          <p:nvSpPr>
            <p:cNvPr id="8" name="Freeform 8"/>
            <p:cNvSpPr/>
            <p:nvPr/>
          </p:nvSpPr>
          <p:spPr>
            <a:xfrm rot="-5400000">
              <a:off x="2458858" y="-2458858"/>
              <a:ext cx="21089432" cy="26007147"/>
            </a:xfrm>
            <a:custGeom>
              <a:avLst/>
              <a:gdLst/>
              <a:ahLst/>
              <a:cxnLst/>
              <a:rect l="l" t="t" r="r" b="b"/>
              <a:pathLst>
                <a:path w="21089432" h="26007147">
                  <a:moveTo>
                    <a:pt x="0" y="0"/>
                  </a:moveTo>
                  <a:lnTo>
                    <a:pt x="21089432" y="0"/>
                  </a:lnTo>
                  <a:lnTo>
                    <a:pt x="21089432" y="26007148"/>
                  </a:lnTo>
                  <a:lnTo>
                    <a:pt x="0" y="2600714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sp>
        <p:nvSpPr>
          <p:cNvPr id="10" name="TextBox 10"/>
          <p:cNvSpPr txBox="1"/>
          <p:nvPr/>
        </p:nvSpPr>
        <p:spPr>
          <a:xfrm>
            <a:off x="1028700" y="1562100"/>
            <a:ext cx="15636174" cy="6791090"/>
          </a:xfrm>
          <a:prstGeom prst="rect">
            <a:avLst/>
          </a:prstGeom>
        </p:spPr>
        <p:txBody>
          <a:bodyPr lIns="0" tIns="0" rIns="0" bIns="0" rtlCol="0" anchor="t">
            <a:spAutoFit/>
          </a:bodyPr>
          <a:lstStyle/>
          <a:p>
            <a:pPr marL="402553" lvl="1" algn="l">
              <a:lnSpc>
                <a:spcPts val="6339"/>
              </a:lnSpc>
            </a:pPr>
            <a:r>
              <a:rPr lang="en-US" sz="3729" dirty="0" err="1">
                <a:solidFill>
                  <a:srgbClr val="203847"/>
                </a:solidFill>
                <a:latin typeface="Quicksand"/>
                <a:ea typeface="Quicksand"/>
                <a:cs typeface="Quicksand"/>
                <a:sym typeface="Quicksand"/>
              </a:rPr>
              <a:t>Đặc</a:t>
            </a:r>
            <a:r>
              <a:rPr lang="en-US" sz="3729" dirty="0">
                <a:solidFill>
                  <a:srgbClr val="203847"/>
                </a:solidFill>
                <a:latin typeface="Quicksand"/>
                <a:ea typeface="Quicksand"/>
                <a:cs typeface="Quicksand"/>
                <a:sym typeface="Quicksand"/>
              </a:rPr>
              <a:t> </a:t>
            </a:r>
            <a:r>
              <a:rPr lang="en-US" sz="3729" dirty="0" err="1">
                <a:solidFill>
                  <a:srgbClr val="203847"/>
                </a:solidFill>
                <a:latin typeface="Quicksand"/>
                <a:ea typeface="Quicksand"/>
                <a:cs typeface="Quicksand"/>
                <a:sym typeface="Quicksand"/>
              </a:rPr>
              <a:t>trưng</a:t>
            </a:r>
            <a:r>
              <a:rPr lang="en-US" sz="3729" dirty="0">
                <a:solidFill>
                  <a:srgbClr val="203847"/>
                </a:solidFill>
                <a:latin typeface="Quicksand"/>
                <a:ea typeface="Quicksand"/>
                <a:cs typeface="Quicksand"/>
                <a:sym typeface="Quicksand"/>
              </a:rPr>
              <a:t> </a:t>
            </a:r>
            <a:r>
              <a:rPr lang="en-US" sz="3729" dirty="0" err="1">
                <a:solidFill>
                  <a:srgbClr val="203847"/>
                </a:solidFill>
                <a:latin typeface="Quicksand"/>
                <a:ea typeface="Quicksand"/>
                <a:cs typeface="Quicksand"/>
                <a:sym typeface="Quicksand"/>
              </a:rPr>
              <a:t>của</a:t>
            </a:r>
            <a:r>
              <a:rPr lang="en-US" sz="3729" dirty="0">
                <a:solidFill>
                  <a:srgbClr val="203847"/>
                </a:solidFill>
                <a:latin typeface="Quicksand"/>
                <a:ea typeface="Quicksand"/>
                <a:cs typeface="Quicksand"/>
                <a:sym typeface="Quicksand"/>
              </a:rPr>
              <a:t> </a:t>
            </a:r>
            <a:r>
              <a:rPr lang="en-US" sz="3729" dirty="0" err="1">
                <a:solidFill>
                  <a:srgbClr val="203847"/>
                </a:solidFill>
                <a:latin typeface="Quicksand"/>
                <a:ea typeface="Quicksand"/>
                <a:cs typeface="Quicksand"/>
                <a:sym typeface="Quicksand"/>
              </a:rPr>
              <a:t>ảnh</a:t>
            </a:r>
            <a:r>
              <a:rPr lang="en-US" sz="3729" dirty="0">
                <a:solidFill>
                  <a:srgbClr val="203847"/>
                </a:solidFill>
                <a:latin typeface="Quicksand"/>
                <a:ea typeface="Quicksand"/>
                <a:cs typeface="Quicksand"/>
                <a:sym typeface="Quicksand"/>
              </a:rPr>
              <a:t>:</a:t>
            </a:r>
          </a:p>
          <a:p>
            <a:pPr marL="805107" lvl="1" indent="-402554" algn="just">
              <a:lnSpc>
                <a:spcPct val="150000"/>
              </a:lnSpc>
              <a:buFont typeface="Arial"/>
              <a:buChar char="•"/>
            </a:pPr>
            <a:r>
              <a:rPr lang="vi-VN" sz="2400" dirty="0">
                <a:latin typeface="Quicksand Medium" panose="020B0604020202020204" charset="0"/>
              </a:rPr>
              <a:t>Các ảnh này được thu thập từ camera giao thông cố định hoặc camera hành trình gắn trên xe, ảnh màu RGB, có kích thước chuẩn là 250x250 pixels</a:t>
            </a:r>
            <a:endParaRPr lang="en-US" sz="2400" dirty="0">
              <a:latin typeface="Quicksand Medium" panose="020B0604020202020204" charset="0"/>
            </a:endParaRPr>
          </a:p>
          <a:p>
            <a:pPr marL="805107" lvl="1" indent="-402554" algn="just">
              <a:lnSpc>
                <a:spcPct val="150000"/>
              </a:lnSpc>
              <a:buFont typeface="Arial"/>
              <a:buChar char="•"/>
            </a:pPr>
            <a:r>
              <a:rPr lang="en-US" sz="2400" dirty="0" err="1">
                <a:latin typeface="Quicksand Medium" panose="020B0604020202020204" charset="0"/>
              </a:rPr>
              <a:t>Ảnh</a:t>
            </a:r>
            <a:r>
              <a:rPr lang="en-US" sz="2400" dirty="0">
                <a:latin typeface="Quicksand Medium" panose="020B0604020202020204" charset="0"/>
              </a:rPr>
              <a:t> </a:t>
            </a:r>
            <a:r>
              <a:rPr lang="en-US" sz="2400" dirty="0" err="1">
                <a:latin typeface="Quicksand Medium" panose="020B0604020202020204" charset="0"/>
              </a:rPr>
              <a:t>phân</a:t>
            </a:r>
            <a:r>
              <a:rPr lang="en-US" sz="2400" dirty="0">
                <a:latin typeface="Quicksand Medium" panose="020B0604020202020204" charset="0"/>
              </a:rPr>
              <a:t> </a:t>
            </a:r>
            <a:r>
              <a:rPr lang="en-US" sz="2400" dirty="0" err="1">
                <a:latin typeface="Quicksand Medium" panose="020B0604020202020204" charset="0"/>
              </a:rPr>
              <a:t>thành</a:t>
            </a:r>
            <a:r>
              <a:rPr lang="en-US" sz="2400" dirty="0">
                <a:latin typeface="Quicksand Medium" panose="020B0604020202020204" charset="0"/>
              </a:rPr>
              <a:t> 2 </a:t>
            </a:r>
            <a:r>
              <a:rPr lang="en-US" sz="2400" dirty="0" err="1">
                <a:latin typeface="Quicksand Medium" panose="020B0604020202020204" charset="0"/>
              </a:rPr>
              <a:t>lớp</a:t>
            </a:r>
            <a:r>
              <a:rPr lang="en-US" sz="2400" dirty="0">
                <a:latin typeface="Quicksand Medium" panose="020B0604020202020204" charset="0"/>
              </a:rPr>
              <a:t>: “</a:t>
            </a:r>
            <a:r>
              <a:rPr lang="en-US" sz="2400" dirty="0" err="1">
                <a:latin typeface="Quicksand Medium" panose="020B0604020202020204" charset="0"/>
              </a:rPr>
              <a:t>có</a:t>
            </a:r>
            <a:r>
              <a:rPr lang="en-US" sz="2400" dirty="0">
                <a:latin typeface="Quicksand Medium" panose="020B0604020202020204" charset="0"/>
              </a:rPr>
              <a:t> tai </a:t>
            </a:r>
            <a:r>
              <a:rPr lang="en-US" sz="2400" dirty="0" err="1">
                <a:latin typeface="Quicksand Medium" panose="020B0604020202020204" charset="0"/>
              </a:rPr>
              <a:t>nạn</a:t>
            </a:r>
            <a:r>
              <a:rPr lang="en-US" sz="2400" dirty="0">
                <a:latin typeface="Quicksand Medium" panose="020B0604020202020204" charset="0"/>
              </a:rPr>
              <a:t>” </a:t>
            </a:r>
            <a:r>
              <a:rPr lang="en-US" sz="2400" dirty="0" err="1">
                <a:latin typeface="Quicksand Medium" panose="020B0604020202020204" charset="0"/>
              </a:rPr>
              <a:t>và</a:t>
            </a:r>
            <a:r>
              <a:rPr lang="en-US" sz="2400" dirty="0">
                <a:latin typeface="Quicksand Medium" panose="020B0604020202020204" charset="0"/>
              </a:rPr>
              <a:t> “</a:t>
            </a:r>
            <a:r>
              <a:rPr lang="en-US" sz="2400" dirty="0" err="1">
                <a:latin typeface="Quicksand Medium" panose="020B0604020202020204" charset="0"/>
              </a:rPr>
              <a:t>không</a:t>
            </a:r>
            <a:r>
              <a:rPr lang="en-US" sz="2400" dirty="0">
                <a:latin typeface="Quicksand Medium" panose="020B0604020202020204" charset="0"/>
              </a:rPr>
              <a:t> tai </a:t>
            </a:r>
            <a:r>
              <a:rPr lang="en-US" sz="2400" dirty="0" err="1">
                <a:latin typeface="Quicksand Medium" panose="020B0604020202020204" charset="0"/>
              </a:rPr>
              <a:t>nạn</a:t>
            </a:r>
            <a:r>
              <a:rPr lang="en-US" sz="2400" dirty="0">
                <a:latin typeface="Quicksand Medium" panose="020B0604020202020204" charset="0"/>
              </a:rPr>
              <a:t>”</a:t>
            </a:r>
          </a:p>
          <a:p>
            <a:pPr marL="0" lvl="1">
              <a:lnSpc>
                <a:spcPts val="6339"/>
              </a:lnSpc>
            </a:pPr>
            <a:r>
              <a:rPr lang="en-US" sz="3729" dirty="0">
                <a:solidFill>
                  <a:srgbClr val="203847"/>
                </a:solidFill>
                <a:latin typeface="Quicksand"/>
              </a:rPr>
              <a:t>   </a:t>
            </a:r>
            <a:r>
              <a:rPr lang="vi-VN" sz="3729" dirty="0">
                <a:solidFill>
                  <a:srgbClr val="203847"/>
                </a:solidFill>
                <a:latin typeface="Quicksand"/>
              </a:rPr>
              <a:t>Một số đặc trưng hữu ích gồm:</a:t>
            </a:r>
          </a:p>
          <a:p>
            <a:pPr marL="805107" lvl="1" indent="-402554" algn="just">
              <a:lnSpc>
                <a:spcPct val="150000"/>
              </a:lnSpc>
              <a:buFont typeface="Arial"/>
              <a:buChar char="•"/>
            </a:pPr>
            <a:r>
              <a:rPr lang="vi-VN" sz="2400" dirty="0">
                <a:latin typeface="Quicksand Medium" panose="020B0604020202020204" charset="0"/>
              </a:rPr>
              <a:t>Số lượng xe bị hỏng</a:t>
            </a:r>
          </a:p>
          <a:p>
            <a:pPr marL="805107" lvl="1" indent="-402554" algn="just">
              <a:lnSpc>
                <a:spcPct val="150000"/>
              </a:lnSpc>
              <a:buFont typeface="Arial"/>
              <a:buChar char="•"/>
            </a:pPr>
            <a:r>
              <a:rPr lang="vi-VN" sz="2400" dirty="0">
                <a:latin typeface="Quicksand Medium" panose="020B0604020202020204" charset="0"/>
              </a:rPr>
              <a:t>Vị trí xe trên làn (lệch, lật)</a:t>
            </a:r>
          </a:p>
          <a:p>
            <a:pPr marL="805107" lvl="1" indent="-402554" algn="just">
              <a:lnSpc>
                <a:spcPct val="150000"/>
              </a:lnSpc>
              <a:buFont typeface="Arial"/>
              <a:buChar char="•"/>
            </a:pPr>
            <a:r>
              <a:rPr lang="vi-VN" sz="2400" dirty="0">
                <a:latin typeface="Quicksand Medium" panose="020B0604020202020204" charset="0"/>
              </a:rPr>
              <a:t>Sự hiện diện của đèn cảnh sát/cứu thương</a:t>
            </a:r>
            <a:endParaRPr lang="en-US" sz="2400" dirty="0">
              <a:latin typeface="Quicksand Medium" panose="020B0604020202020204" charset="0"/>
            </a:endParaRPr>
          </a:p>
          <a:p>
            <a:pPr marL="0" lvl="1">
              <a:lnSpc>
                <a:spcPts val="6339"/>
              </a:lnSpc>
            </a:pPr>
            <a:r>
              <a:rPr lang="en-US" sz="3729" dirty="0">
                <a:solidFill>
                  <a:srgbClr val="203847"/>
                </a:solidFill>
                <a:latin typeface="Quicksand"/>
              </a:rPr>
              <a:t>  </a:t>
            </a:r>
            <a:r>
              <a:rPr lang="vi-VN" sz="3729" dirty="0">
                <a:solidFill>
                  <a:srgbClr val="203847"/>
                </a:solidFill>
                <a:latin typeface="Quicksand"/>
              </a:rPr>
              <a:t>Một số đặc trưng </a:t>
            </a:r>
            <a:r>
              <a:rPr lang="en-US" sz="3729" dirty="0" err="1">
                <a:solidFill>
                  <a:srgbClr val="203847"/>
                </a:solidFill>
                <a:latin typeface="Quicksand"/>
              </a:rPr>
              <a:t>khác</a:t>
            </a:r>
            <a:r>
              <a:rPr lang="en-US" sz="3729" dirty="0">
                <a:solidFill>
                  <a:srgbClr val="203847"/>
                </a:solidFill>
                <a:latin typeface="Quicksand"/>
              </a:rPr>
              <a:t> </a:t>
            </a:r>
            <a:r>
              <a:rPr lang="en-US" sz="3729" dirty="0" err="1">
                <a:solidFill>
                  <a:srgbClr val="203847"/>
                </a:solidFill>
                <a:latin typeface="Quicksand"/>
              </a:rPr>
              <a:t>có</a:t>
            </a:r>
            <a:r>
              <a:rPr lang="en-US" sz="3729" dirty="0">
                <a:solidFill>
                  <a:srgbClr val="203847"/>
                </a:solidFill>
                <a:latin typeface="Quicksand"/>
              </a:rPr>
              <a:t> </a:t>
            </a:r>
            <a:r>
              <a:rPr lang="en-US" sz="3729" dirty="0" err="1">
                <a:solidFill>
                  <a:srgbClr val="203847"/>
                </a:solidFill>
                <a:latin typeface="Quicksand"/>
              </a:rPr>
              <a:t>thể</a:t>
            </a:r>
            <a:r>
              <a:rPr lang="en-US" sz="3729" dirty="0">
                <a:solidFill>
                  <a:srgbClr val="203847"/>
                </a:solidFill>
                <a:latin typeface="Quicksand"/>
              </a:rPr>
              <a:t> </a:t>
            </a:r>
            <a:r>
              <a:rPr lang="en-US" sz="3729" dirty="0" err="1">
                <a:solidFill>
                  <a:srgbClr val="203847"/>
                </a:solidFill>
                <a:latin typeface="Quicksand"/>
              </a:rPr>
              <a:t>khai</a:t>
            </a:r>
            <a:r>
              <a:rPr lang="en-US" sz="3729" dirty="0">
                <a:solidFill>
                  <a:srgbClr val="203847"/>
                </a:solidFill>
                <a:latin typeface="Quicksand"/>
              </a:rPr>
              <a:t> </a:t>
            </a:r>
            <a:r>
              <a:rPr lang="en-US" sz="3729" dirty="0" err="1">
                <a:solidFill>
                  <a:srgbClr val="203847"/>
                </a:solidFill>
                <a:latin typeface="Quicksand"/>
              </a:rPr>
              <a:t>thác</a:t>
            </a:r>
            <a:r>
              <a:rPr lang="vi-VN" sz="3729" dirty="0">
                <a:solidFill>
                  <a:srgbClr val="203847"/>
                </a:solidFill>
                <a:latin typeface="Quicksand"/>
              </a:rPr>
              <a:t>:</a:t>
            </a:r>
          </a:p>
          <a:p>
            <a:pPr marL="805107" lvl="1" indent="-402554" algn="just">
              <a:lnSpc>
                <a:spcPct val="150000"/>
              </a:lnSpc>
              <a:buFont typeface="Arial"/>
              <a:buChar char="•"/>
            </a:pPr>
            <a:r>
              <a:rPr lang="vi-VN" sz="2400" dirty="0">
                <a:latin typeface="Quicksand Medium" panose="020B0604020202020204" charset="0"/>
              </a:rPr>
              <a:t>Sự thay đổi nhanh về chuyển động</a:t>
            </a:r>
            <a:endParaRPr lang="en-US" sz="2400" dirty="0">
              <a:latin typeface="Quicksand Medium" panose="020B0604020202020204" charset="0"/>
            </a:endParaRPr>
          </a:p>
          <a:p>
            <a:pPr marL="805107" lvl="1" indent="-402554" algn="just">
              <a:lnSpc>
                <a:spcPct val="150000"/>
              </a:lnSpc>
              <a:buFont typeface="Arial"/>
              <a:buChar char="•"/>
            </a:pPr>
            <a:r>
              <a:rPr lang="vi-VN" sz="2400" dirty="0">
                <a:latin typeface="Quicksand Medium" panose="020B0604020202020204" charset="0"/>
              </a:rPr>
              <a:t>Sự rung/lắc của camera</a:t>
            </a:r>
          </a:p>
        </p:txBody>
      </p:sp>
    </p:spTree>
    <p:extLst>
      <p:ext uri="{BB962C8B-B14F-4D97-AF65-F5344CB8AC3E}">
        <p14:creationId xmlns:p14="http://schemas.microsoft.com/office/powerpoint/2010/main" val="3978754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321771"/>
            <a:ext cx="14058900" cy="1117614"/>
          </a:xfrm>
          <a:prstGeom prst="rect">
            <a:avLst/>
          </a:prstGeom>
        </p:spPr>
        <p:txBody>
          <a:bodyPr wrap="square" lIns="0" tIns="0" rIns="0" bIns="0" rtlCol="0" anchor="t">
            <a:spAutoFit/>
          </a:bodyPr>
          <a:lstStyle/>
          <a:p>
            <a:pPr algn="just">
              <a:lnSpc>
                <a:spcPts val="9675"/>
              </a:lnSpc>
              <a:spcBef>
                <a:spcPct val="0"/>
              </a:spcBef>
            </a:pPr>
            <a:r>
              <a:rPr lang="en-US" sz="5600" b="1" dirty="0">
                <a:latin typeface="Quicksand Semi-Bold"/>
                <a:ea typeface="Quicksand Semi-Bold"/>
                <a:cs typeface="Quicksand Semi-Bold"/>
                <a:sym typeface="Quicksand Semi-Bold"/>
              </a:rPr>
              <a:t>4. </a:t>
            </a:r>
            <a:r>
              <a:rPr lang="en-US" sz="6000" b="1" dirty="0" err="1">
                <a:solidFill>
                  <a:srgbClr val="374F5F"/>
                </a:solidFill>
                <a:latin typeface="Quicksand Medium"/>
                <a:ea typeface="Quicksand Medium"/>
                <a:cs typeface="Quicksand Medium"/>
                <a:sym typeface="Quicksand Medium"/>
              </a:rPr>
              <a:t>Áp</a:t>
            </a:r>
            <a:r>
              <a:rPr lang="en-US" sz="6000" b="1" dirty="0">
                <a:solidFill>
                  <a:srgbClr val="374F5F"/>
                </a:solidFill>
                <a:latin typeface="Quicksand Medium"/>
                <a:ea typeface="Quicksand Medium"/>
                <a:cs typeface="Quicksand Medium"/>
                <a:sym typeface="Quicksand Medium"/>
              </a:rPr>
              <a:t> </a:t>
            </a:r>
            <a:r>
              <a:rPr lang="en-US" sz="6000" b="1" dirty="0" err="1">
                <a:solidFill>
                  <a:srgbClr val="374F5F"/>
                </a:solidFill>
                <a:latin typeface="Quicksand Medium"/>
                <a:ea typeface="Quicksand Medium"/>
                <a:cs typeface="Quicksand Medium"/>
                <a:sym typeface="Quicksand Medium"/>
              </a:rPr>
              <a:t>dụng</a:t>
            </a:r>
            <a:r>
              <a:rPr lang="en-US" sz="6000" b="1" dirty="0">
                <a:solidFill>
                  <a:srgbClr val="374F5F"/>
                </a:solidFill>
                <a:latin typeface="Quicksand Medium"/>
                <a:ea typeface="Quicksand Medium"/>
                <a:cs typeface="Quicksand Medium"/>
                <a:sym typeface="Quicksand Medium"/>
              </a:rPr>
              <a:t> </a:t>
            </a:r>
            <a:r>
              <a:rPr lang="en-US" sz="6000" b="1" dirty="0" err="1">
                <a:solidFill>
                  <a:srgbClr val="374F5F"/>
                </a:solidFill>
                <a:latin typeface="Quicksand Medium"/>
                <a:ea typeface="Quicksand Medium"/>
                <a:cs typeface="Quicksand Medium"/>
                <a:sym typeface="Quicksand Medium"/>
              </a:rPr>
              <a:t>trong</a:t>
            </a:r>
            <a:r>
              <a:rPr lang="en-US" sz="6000" b="1" dirty="0">
                <a:solidFill>
                  <a:srgbClr val="374F5F"/>
                </a:solidFill>
                <a:latin typeface="Quicksand Medium"/>
                <a:ea typeface="Quicksand Medium"/>
                <a:cs typeface="Quicksand Medium"/>
                <a:sym typeface="Quicksand Medium"/>
              </a:rPr>
              <a:t> </a:t>
            </a:r>
            <a:r>
              <a:rPr lang="en-US" sz="6000" b="1" dirty="0" err="1">
                <a:solidFill>
                  <a:srgbClr val="374F5F"/>
                </a:solidFill>
                <a:latin typeface="Quicksand Medium"/>
                <a:ea typeface="Quicksand Medium"/>
                <a:cs typeface="Quicksand Medium"/>
                <a:sym typeface="Quicksand Medium"/>
              </a:rPr>
              <a:t>bài</a:t>
            </a:r>
            <a:r>
              <a:rPr lang="en-US" sz="6000" b="1" dirty="0">
                <a:solidFill>
                  <a:srgbClr val="374F5F"/>
                </a:solidFill>
                <a:latin typeface="Quicksand Medium"/>
                <a:ea typeface="Quicksand Medium"/>
                <a:cs typeface="Quicksand Medium"/>
                <a:sym typeface="Quicksand Medium"/>
              </a:rPr>
              <a:t> </a:t>
            </a:r>
            <a:r>
              <a:rPr lang="en-US" sz="6000" b="1" dirty="0" err="1">
                <a:solidFill>
                  <a:srgbClr val="374F5F"/>
                </a:solidFill>
                <a:latin typeface="Quicksand Medium"/>
                <a:ea typeface="Quicksand Medium"/>
                <a:cs typeface="Quicksand Medium"/>
                <a:sym typeface="Quicksand Medium"/>
              </a:rPr>
              <a:t>toán</a:t>
            </a:r>
            <a:endParaRPr lang="en-US" sz="6000" b="1" dirty="0">
              <a:solidFill>
                <a:srgbClr val="374F5F"/>
              </a:solidFill>
              <a:latin typeface="Quicksand Medium"/>
              <a:ea typeface="Quicksand Medium"/>
              <a:cs typeface="Quicksand Medium"/>
              <a:sym typeface="Quicksand Medium"/>
            </a:endParaRPr>
          </a:p>
        </p:txBody>
      </p:sp>
      <p:sp>
        <p:nvSpPr>
          <p:cNvPr id="3" name="Freeform 3"/>
          <p:cNvSpPr/>
          <p:nvPr/>
        </p:nvSpPr>
        <p:spPr>
          <a:xfrm rot="3520730">
            <a:off x="12716433" y="-2322789"/>
            <a:ext cx="8681652" cy="5215575"/>
          </a:xfrm>
          <a:custGeom>
            <a:avLst/>
            <a:gdLst/>
            <a:ahLst/>
            <a:cxnLst/>
            <a:rect l="l" t="t" r="r" b="b"/>
            <a:pathLst>
              <a:path w="8782363" h="5013931">
                <a:moveTo>
                  <a:pt x="0" y="0"/>
                </a:moveTo>
                <a:lnTo>
                  <a:pt x="8782362" y="0"/>
                </a:lnTo>
                <a:lnTo>
                  <a:pt x="8782362" y="5013931"/>
                </a:lnTo>
                <a:lnTo>
                  <a:pt x="0" y="501393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4" name="Group 4"/>
          <p:cNvGrpSpPr/>
          <p:nvPr/>
        </p:nvGrpSpPr>
        <p:grpSpPr>
          <a:xfrm>
            <a:off x="-608680" y="9258300"/>
            <a:ext cx="19505361" cy="15817074"/>
            <a:chOff x="0" y="0"/>
            <a:chExt cx="26007147" cy="21089432"/>
          </a:xfrm>
        </p:grpSpPr>
        <p:grpSp>
          <p:nvGrpSpPr>
            <p:cNvPr id="5" name="Group 5"/>
            <p:cNvGrpSpPr/>
            <p:nvPr/>
          </p:nvGrpSpPr>
          <p:grpSpPr>
            <a:xfrm rot="-5400000">
              <a:off x="7701470" y="-7701470"/>
              <a:ext cx="10544716" cy="25947656"/>
              <a:chOff x="0" y="0"/>
              <a:chExt cx="1272376" cy="3130969"/>
            </a:xfrm>
          </p:grpSpPr>
          <p:sp>
            <p:nvSpPr>
              <p:cNvPr id="6" name="Freeform 6"/>
              <p:cNvSpPr/>
              <p:nvPr/>
            </p:nvSpPr>
            <p:spPr>
              <a:xfrm>
                <a:off x="0" y="0"/>
                <a:ext cx="1272376" cy="3130969"/>
              </a:xfrm>
              <a:custGeom>
                <a:avLst/>
                <a:gdLst/>
                <a:ahLst/>
                <a:cxnLst/>
                <a:rect l="l" t="t" r="r" b="b"/>
                <a:pathLst>
                  <a:path w="1272376" h="3130969">
                    <a:moveTo>
                      <a:pt x="0" y="0"/>
                    </a:moveTo>
                    <a:lnTo>
                      <a:pt x="1272376" y="0"/>
                    </a:lnTo>
                    <a:lnTo>
                      <a:pt x="1272376" y="3130969"/>
                    </a:lnTo>
                    <a:lnTo>
                      <a:pt x="0" y="3130969"/>
                    </a:lnTo>
                    <a:close/>
                  </a:path>
                </a:pathLst>
              </a:custGeom>
              <a:solidFill>
                <a:srgbClr val="476376"/>
              </a:solidFill>
            </p:spPr>
          </p:sp>
          <p:sp>
            <p:nvSpPr>
              <p:cNvPr id="7" name="TextBox 7"/>
              <p:cNvSpPr txBox="1"/>
              <p:nvPr/>
            </p:nvSpPr>
            <p:spPr>
              <a:xfrm>
                <a:off x="0" y="-114300"/>
                <a:ext cx="1272376" cy="3245269"/>
              </a:xfrm>
              <a:prstGeom prst="rect">
                <a:avLst/>
              </a:prstGeom>
            </p:spPr>
            <p:txBody>
              <a:bodyPr lIns="50800" tIns="50800" rIns="50800" bIns="50800" rtlCol="0" anchor="ctr"/>
              <a:lstStyle/>
              <a:p>
                <a:pPr algn="ctr">
                  <a:lnSpc>
                    <a:spcPts val="3765"/>
                  </a:lnSpc>
                </a:pPr>
                <a:endParaRPr/>
              </a:p>
            </p:txBody>
          </p:sp>
        </p:grpSp>
        <p:sp>
          <p:nvSpPr>
            <p:cNvPr id="8" name="Freeform 8"/>
            <p:cNvSpPr/>
            <p:nvPr/>
          </p:nvSpPr>
          <p:spPr>
            <a:xfrm rot="-5400000">
              <a:off x="2458858" y="-2458858"/>
              <a:ext cx="21089432" cy="26007147"/>
            </a:xfrm>
            <a:custGeom>
              <a:avLst/>
              <a:gdLst/>
              <a:ahLst/>
              <a:cxnLst/>
              <a:rect l="l" t="t" r="r" b="b"/>
              <a:pathLst>
                <a:path w="21089432" h="26007147">
                  <a:moveTo>
                    <a:pt x="0" y="0"/>
                  </a:moveTo>
                  <a:lnTo>
                    <a:pt x="21089432" y="0"/>
                  </a:lnTo>
                  <a:lnTo>
                    <a:pt x="21089432" y="26007148"/>
                  </a:lnTo>
                  <a:lnTo>
                    <a:pt x="0" y="2600714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sp>
        <p:nvSpPr>
          <p:cNvPr id="10" name="TextBox 10"/>
          <p:cNvSpPr txBox="1"/>
          <p:nvPr/>
        </p:nvSpPr>
        <p:spPr>
          <a:xfrm>
            <a:off x="1028700" y="1562100"/>
            <a:ext cx="15636174" cy="4298613"/>
          </a:xfrm>
          <a:prstGeom prst="rect">
            <a:avLst/>
          </a:prstGeom>
        </p:spPr>
        <p:txBody>
          <a:bodyPr lIns="0" tIns="0" rIns="0" bIns="0" rtlCol="0" anchor="t">
            <a:spAutoFit/>
          </a:bodyPr>
          <a:lstStyle/>
          <a:p>
            <a:pPr marL="402553" lvl="1" algn="l">
              <a:lnSpc>
                <a:spcPts val="6339"/>
              </a:lnSpc>
            </a:pPr>
            <a:r>
              <a:rPr lang="en-US" sz="3729" dirty="0" err="1">
                <a:solidFill>
                  <a:srgbClr val="203847"/>
                </a:solidFill>
                <a:latin typeface="Quicksand"/>
                <a:ea typeface="Quicksand"/>
                <a:cs typeface="Quicksand"/>
                <a:sym typeface="Quicksand"/>
              </a:rPr>
              <a:t>Khó</a:t>
            </a:r>
            <a:r>
              <a:rPr lang="en-US" sz="3729" dirty="0">
                <a:solidFill>
                  <a:srgbClr val="203847"/>
                </a:solidFill>
                <a:latin typeface="Quicksand"/>
                <a:ea typeface="Quicksand"/>
                <a:cs typeface="Quicksand"/>
                <a:sym typeface="Quicksand"/>
              </a:rPr>
              <a:t> </a:t>
            </a:r>
            <a:r>
              <a:rPr lang="en-US" sz="3729" dirty="0" err="1">
                <a:solidFill>
                  <a:srgbClr val="203847"/>
                </a:solidFill>
                <a:latin typeface="Quicksand"/>
                <a:ea typeface="Quicksand"/>
                <a:cs typeface="Quicksand"/>
                <a:sym typeface="Quicksand"/>
              </a:rPr>
              <a:t>khăn</a:t>
            </a:r>
            <a:r>
              <a:rPr lang="en-US" sz="3729" dirty="0">
                <a:solidFill>
                  <a:srgbClr val="203847"/>
                </a:solidFill>
                <a:latin typeface="Quicksand"/>
                <a:ea typeface="Quicksand"/>
                <a:cs typeface="Quicksand"/>
                <a:sym typeface="Quicksand"/>
              </a:rPr>
              <a:t> </a:t>
            </a:r>
            <a:r>
              <a:rPr lang="en-US" sz="3729" dirty="0" err="1">
                <a:solidFill>
                  <a:srgbClr val="203847"/>
                </a:solidFill>
                <a:latin typeface="Quicksand"/>
                <a:ea typeface="Quicksand"/>
                <a:cs typeface="Quicksand"/>
                <a:sym typeface="Quicksand"/>
              </a:rPr>
              <a:t>đối</a:t>
            </a:r>
            <a:r>
              <a:rPr lang="en-US" sz="3729" dirty="0">
                <a:solidFill>
                  <a:srgbClr val="203847"/>
                </a:solidFill>
                <a:latin typeface="Quicksand"/>
                <a:ea typeface="Quicksand"/>
                <a:cs typeface="Quicksand"/>
                <a:sym typeface="Quicksand"/>
              </a:rPr>
              <a:t> </a:t>
            </a:r>
            <a:r>
              <a:rPr lang="en-US" sz="3729" dirty="0" err="1">
                <a:solidFill>
                  <a:srgbClr val="203847"/>
                </a:solidFill>
                <a:latin typeface="Quicksand"/>
                <a:ea typeface="Quicksand"/>
                <a:cs typeface="Quicksand"/>
                <a:sym typeface="Quicksand"/>
              </a:rPr>
              <a:t>mặt</a:t>
            </a:r>
            <a:r>
              <a:rPr lang="en-US" sz="3729" dirty="0">
                <a:solidFill>
                  <a:srgbClr val="203847"/>
                </a:solidFill>
                <a:latin typeface="Quicksand"/>
                <a:ea typeface="Quicksand"/>
                <a:cs typeface="Quicksand"/>
                <a:sym typeface="Quicksand"/>
              </a:rPr>
              <a:t>:</a:t>
            </a:r>
          </a:p>
          <a:p>
            <a:pPr marL="805107" lvl="1" indent="-402554" algn="just">
              <a:lnSpc>
                <a:spcPct val="150000"/>
              </a:lnSpc>
              <a:buFont typeface="Arial"/>
              <a:buChar char="•"/>
            </a:pPr>
            <a:r>
              <a:rPr lang="vi-VN" sz="2400" dirty="0">
                <a:latin typeface="Quicksand Medium" panose="020B0604020202020204" charset="0"/>
              </a:rPr>
              <a:t>Đa dạng điều kiện ánh sáng</a:t>
            </a:r>
            <a:endParaRPr lang="en-US" sz="2400" dirty="0">
              <a:latin typeface="Quicksand Medium" panose="020B0604020202020204" charset="0"/>
            </a:endParaRPr>
          </a:p>
          <a:p>
            <a:pPr marL="805107" lvl="1" indent="-402554" algn="just">
              <a:lnSpc>
                <a:spcPct val="150000"/>
              </a:lnSpc>
              <a:buFont typeface="Arial"/>
              <a:buChar char="•"/>
            </a:pPr>
            <a:r>
              <a:rPr lang="en-US" sz="2400" dirty="0" err="1">
                <a:latin typeface="Quicksand Medium" panose="020B0604020202020204" charset="0"/>
              </a:rPr>
              <a:t>Góc</a:t>
            </a:r>
            <a:r>
              <a:rPr lang="en-US" sz="2400" dirty="0">
                <a:latin typeface="Quicksand Medium" panose="020B0604020202020204" charset="0"/>
              </a:rPr>
              <a:t> </a:t>
            </a:r>
            <a:r>
              <a:rPr lang="en-US" sz="2400" dirty="0" err="1">
                <a:latin typeface="Quicksand Medium" panose="020B0604020202020204" charset="0"/>
              </a:rPr>
              <a:t>nhìn</a:t>
            </a:r>
            <a:r>
              <a:rPr lang="en-US" sz="2400" dirty="0">
                <a:latin typeface="Quicksand Medium" panose="020B0604020202020204" charset="0"/>
              </a:rPr>
              <a:t> </a:t>
            </a:r>
            <a:r>
              <a:rPr lang="en-US" sz="2400" dirty="0" err="1">
                <a:latin typeface="Quicksand Medium" panose="020B0604020202020204" charset="0"/>
              </a:rPr>
              <a:t>khác</a:t>
            </a:r>
            <a:r>
              <a:rPr lang="en-US" sz="2400" dirty="0">
                <a:latin typeface="Quicksand Medium" panose="020B0604020202020204" charset="0"/>
              </a:rPr>
              <a:t> </a:t>
            </a:r>
            <a:r>
              <a:rPr lang="en-US" sz="2400" dirty="0" err="1">
                <a:latin typeface="Quicksand Medium" panose="020B0604020202020204" charset="0"/>
              </a:rPr>
              <a:t>nhau</a:t>
            </a:r>
            <a:endParaRPr lang="en-US" sz="2400" dirty="0">
              <a:latin typeface="Quicksand Medium" panose="020B0604020202020204" charset="0"/>
            </a:endParaRPr>
          </a:p>
          <a:p>
            <a:pPr marL="805107" lvl="1" indent="-402554" algn="just">
              <a:lnSpc>
                <a:spcPct val="150000"/>
              </a:lnSpc>
              <a:buFont typeface="Arial"/>
              <a:buChar char="•"/>
            </a:pPr>
            <a:r>
              <a:rPr lang="vi-VN" sz="2400" dirty="0">
                <a:latin typeface="Quicksand Medium" panose="020B0604020202020204" charset="0"/>
              </a:rPr>
              <a:t>Hiện tượng sai nhãn </a:t>
            </a:r>
            <a:endParaRPr lang="en-US" sz="2400" dirty="0">
              <a:latin typeface="Quicksand Medium" panose="020B0604020202020204" charset="0"/>
            </a:endParaRPr>
          </a:p>
          <a:p>
            <a:pPr marL="805107" lvl="1" indent="-402554" algn="just">
              <a:lnSpc>
                <a:spcPct val="150000"/>
              </a:lnSpc>
              <a:buFont typeface="Arial"/>
              <a:buChar char="•"/>
            </a:pPr>
            <a:r>
              <a:rPr lang="en-US" sz="2400" dirty="0">
                <a:latin typeface="Quicksand Medium" panose="020B0604020202020204" charset="0"/>
              </a:rPr>
              <a:t>Tai </a:t>
            </a:r>
            <a:r>
              <a:rPr lang="en-US" sz="2400" dirty="0" err="1">
                <a:latin typeface="Quicksand Medium" panose="020B0604020202020204" charset="0"/>
              </a:rPr>
              <a:t>nạn</a:t>
            </a:r>
            <a:r>
              <a:rPr lang="en-US" sz="2400" dirty="0">
                <a:latin typeface="Quicksand Medium" panose="020B0604020202020204" charset="0"/>
              </a:rPr>
              <a:t> </a:t>
            </a:r>
            <a:r>
              <a:rPr lang="en-US" sz="2400" dirty="0" err="1">
                <a:latin typeface="Quicksand Medium" panose="020B0604020202020204" charset="0"/>
              </a:rPr>
              <a:t>nhỏ</a:t>
            </a:r>
            <a:r>
              <a:rPr lang="en-US" sz="2400" dirty="0">
                <a:latin typeface="Quicksand Medium" panose="020B0604020202020204" charset="0"/>
              </a:rPr>
              <a:t> </a:t>
            </a:r>
            <a:r>
              <a:rPr lang="en-US" sz="2400" dirty="0" err="1">
                <a:latin typeface="Quicksand Medium" panose="020B0604020202020204" charset="0"/>
              </a:rPr>
              <a:t>khó</a:t>
            </a:r>
            <a:r>
              <a:rPr lang="en-US" sz="2400" dirty="0">
                <a:latin typeface="Quicksand Medium" panose="020B0604020202020204" charset="0"/>
              </a:rPr>
              <a:t> </a:t>
            </a:r>
            <a:r>
              <a:rPr lang="en-US" sz="2400" dirty="0" err="1">
                <a:latin typeface="Quicksand Medium" panose="020B0604020202020204" charset="0"/>
              </a:rPr>
              <a:t>nhận</a:t>
            </a:r>
            <a:r>
              <a:rPr lang="en-US" sz="2400" dirty="0">
                <a:latin typeface="Quicksand Medium" panose="020B0604020202020204" charset="0"/>
              </a:rPr>
              <a:t> </a:t>
            </a:r>
            <a:r>
              <a:rPr lang="en-US" sz="2400" dirty="0" err="1">
                <a:latin typeface="Quicksand Medium" panose="020B0604020202020204" charset="0"/>
              </a:rPr>
              <a:t>biết</a:t>
            </a:r>
            <a:endParaRPr lang="en-US" sz="2400" dirty="0">
              <a:latin typeface="Quicksand Medium" panose="020B0604020202020204" charset="0"/>
            </a:endParaRPr>
          </a:p>
          <a:p>
            <a:pPr marL="805107" lvl="1" indent="-402554" algn="just">
              <a:lnSpc>
                <a:spcPct val="150000"/>
              </a:lnSpc>
              <a:buFont typeface="Arial"/>
              <a:buChar char="•"/>
            </a:pPr>
            <a:r>
              <a:rPr lang="vi-VN" sz="2400" dirty="0">
                <a:latin typeface="Quicksand Medium" panose="020B0604020202020204" charset="0"/>
              </a:rPr>
              <a:t>Đa dạng điều kiện</a:t>
            </a:r>
            <a:r>
              <a:rPr lang="en-US" sz="2400" dirty="0">
                <a:latin typeface="Quicksand Medium" panose="020B0604020202020204" charset="0"/>
              </a:rPr>
              <a:t> </a:t>
            </a:r>
            <a:r>
              <a:rPr lang="en-US" sz="2400" dirty="0" err="1">
                <a:latin typeface="Quicksand Medium" panose="020B0604020202020204" charset="0"/>
              </a:rPr>
              <a:t>thời</a:t>
            </a:r>
            <a:r>
              <a:rPr lang="en-US" sz="2400" dirty="0">
                <a:latin typeface="Quicksand Medium" panose="020B0604020202020204" charset="0"/>
              </a:rPr>
              <a:t> </a:t>
            </a:r>
            <a:r>
              <a:rPr lang="en-US" sz="2400" dirty="0" err="1">
                <a:latin typeface="Quicksand Medium" panose="020B0604020202020204" charset="0"/>
              </a:rPr>
              <a:t>tiết</a:t>
            </a:r>
            <a:endParaRPr lang="en-US" sz="2400" dirty="0">
              <a:latin typeface="Quicksand Medium" panose="020B0604020202020204" charset="0"/>
            </a:endParaRPr>
          </a:p>
          <a:p>
            <a:pPr marL="0" lvl="1">
              <a:lnSpc>
                <a:spcPts val="6339"/>
              </a:lnSpc>
            </a:pPr>
            <a:r>
              <a:rPr lang="en-US" sz="3729" dirty="0">
                <a:solidFill>
                  <a:srgbClr val="203847"/>
                </a:solidFill>
                <a:latin typeface="Quicksand"/>
              </a:rPr>
              <a:t>   </a:t>
            </a:r>
            <a:endParaRPr lang="vi-VN" sz="2400" dirty="0">
              <a:latin typeface="Quicksand Medium" panose="020B0604020202020204" charset="0"/>
            </a:endParaRPr>
          </a:p>
        </p:txBody>
      </p:sp>
    </p:spTree>
    <p:extLst>
      <p:ext uri="{BB962C8B-B14F-4D97-AF65-F5344CB8AC3E}">
        <p14:creationId xmlns:p14="http://schemas.microsoft.com/office/powerpoint/2010/main" val="19449087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321771"/>
            <a:ext cx="14058900" cy="1117614"/>
          </a:xfrm>
          <a:prstGeom prst="rect">
            <a:avLst/>
          </a:prstGeom>
        </p:spPr>
        <p:txBody>
          <a:bodyPr wrap="square" lIns="0" tIns="0" rIns="0" bIns="0" rtlCol="0" anchor="t">
            <a:spAutoFit/>
          </a:bodyPr>
          <a:lstStyle/>
          <a:p>
            <a:pPr algn="just">
              <a:lnSpc>
                <a:spcPts val="9675"/>
              </a:lnSpc>
              <a:spcBef>
                <a:spcPct val="0"/>
              </a:spcBef>
            </a:pPr>
            <a:r>
              <a:rPr lang="en-US" sz="5600" b="1" dirty="0">
                <a:latin typeface="Quicksand Semi-Bold"/>
                <a:ea typeface="Quicksand Semi-Bold"/>
                <a:cs typeface="Quicksand Semi-Bold"/>
                <a:sym typeface="Quicksand Semi-Bold"/>
              </a:rPr>
              <a:t>4. </a:t>
            </a:r>
            <a:r>
              <a:rPr lang="en-US" sz="6000" b="1" dirty="0" err="1">
                <a:solidFill>
                  <a:srgbClr val="374F5F"/>
                </a:solidFill>
                <a:latin typeface="Quicksand Medium"/>
                <a:ea typeface="Quicksand Medium"/>
                <a:cs typeface="Quicksand Medium"/>
                <a:sym typeface="Quicksand Medium"/>
              </a:rPr>
              <a:t>Áp</a:t>
            </a:r>
            <a:r>
              <a:rPr lang="en-US" sz="6000" b="1" dirty="0">
                <a:solidFill>
                  <a:srgbClr val="374F5F"/>
                </a:solidFill>
                <a:latin typeface="Quicksand Medium"/>
                <a:ea typeface="Quicksand Medium"/>
                <a:cs typeface="Quicksand Medium"/>
                <a:sym typeface="Quicksand Medium"/>
              </a:rPr>
              <a:t> </a:t>
            </a:r>
            <a:r>
              <a:rPr lang="en-US" sz="6000" b="1" dirty="0" err="1">
                <a:solidFill>
                  <a:srgbClr val="374F5F"/>
                </a:solidFill>
                <a:latin typeface="Quicksand Medium"/>
                <a:ea typeface="Quicksand Medium"/>
                <a:cs typeface="Quicksand Medium"/>
                <a:sym typeface="Quicksand Medium"/>
              </a:rPr>
              <a:t>dụng</a:t>
            </a:r>
            <a:r>
              <a:rPr lang="en-US" sz="6000" b="1" dirty="0">
                <a:solidFill>
                  <a:srgbClr val="374F5F"/>
                </a:solidFill>
                <a:latin typeface="Quicksand Medium"/>
                <a:ea typeface="Quicksand Medium"/>
                <a:cs typeface="Quicksand Medium"/>
                <a:sym typeface="Quicksand Medium"/>
              </a:rPr>
              <a:t> </a:t>
            </a:r>
            <a:r>
              <a:rPr lang="en-US" sz="6000" b="1" dirty="0" err="1">
                <a:solidFill>
                  <a:srgbClr val="374F5F"/>
                </a:solidFill>
                <a:latin typeface="Quicksand Medium"/>
                <a:ea typeface="Quicksand Medium"/>
                <a:cs typeface="Quicksand Medium"/>
                <a:sym typeface="Quicksand Medium"/>
              </a:rPr>
              <a:t>trong</a:t>
            </a:r>
            <a:r>
              <a:rPr lang="en-US" sz="6000" b="1" dirty="0">
                <a:solidFill>
                  <a:srgbClr val="374F5F"/>
                </a:solidFill>
                <a:latin typeface="Quicksand Medium"/>
                <a:ea typeface="Quicksand Medium"/>
                <a:cs typeface="Quicksand Medium"/>
                <a:sym typeface="Quicksand Medium"/>
              </a:rPr>
              <a:t> </a:t>
            </a:r>
            <a:r>
              <a:rPr lang="en-US" sz="6000" b="1" dirty="0" err="1">
                <a:solidFill>
                  <a:srgbClr val="374F5F"/>
                </a:solidFill>
                <a:latin typeface="Quicksand Medium"/>
                <a:ea typeface="Quicksand Medium"/>
                <a:cs typeface="Quicksand Medium"/>
                <a:sym typeface="Quicksand Medium"/>
              </a:rPr>
              <a:t>bài</a:t>
            </a:r>
            <a:r>
              <a:rPr lang="en-US" sz="6000" b="1" dirty="0">
                <a:solidFill>
                  <a:srgbClr val="374F5F"/>
                </a:solidFill>
                <a:latin typeface="Quicksand Medium"/>
                <a:ea typeface="Quicksand Medium"/>
                <a:cs typeface="Quicksand Medium"/>
                <a:sym typeface="Quicksand Medium"/>
              </a:rPr>
              <a:t> </a:t>
            </a:r>
            <a:r>
              <a:rPr lang="en-US" sz="6000" b="1" dirty="0" err="1">
                <a:solidFill>
                  <a:srgbClr val="374F5F"/>
                </a:solidFill>
                <a:latin typeface="Quicksand Medium"/>
                <a:ea typeface="Quicksand Medium"/>
                <a:cs typeface="Quicksand Medium"/>
                <a:sym typeface="Quicksand Medium"/>
              </a:rPr>
              <a:t>toán</a:t>
            </a:r>
            <a:endParaRPr lang="en-US" sz="6000" b="1" dirty="0">
              <a:solidFill>
                <a:srgbClr val="374F5F"/>
              </a:solidFill>
              <a:latin typeface="Quicksand Medium"/>
              <a:ea typeface="Quicksand Medium"/>
              <a:cs typeface="Quicksand Medium"/>
              <a:sym typeface="Quicksand Medium"/>
            </a:endParaRPr>
          </a:p>
        </p:txBody>
      </p:sp>
      <p:sp>
        <p:nvSpPr>
          <p:cNvPr id="3" name="Freeform 3"/>
          <p:cNvSpPr/>
          <p:nvPr/>
        </p:nvSpPr>
        <p:spPr>
          <a:xfrm rot="3520730">
            <a:off x="12716433" y="-2322789"/>
            <a:ext cx="8681652" cy="5215575"/>
          </a:xfrm>
          <a:custGeom>
            <a:avLst/>
            <a:gdLst/>
            <a:ahLst/>
            <a:cxnLst/>
            <a:rect l="l" t="t" r="r" b="b"/>
            <a:pathLst>
              <a:path w="8782363" h="5013931">
                <a:moveTo>
                  <a:pt x="0" y="0"/>
                </a:moveTo>
                <a:lnTo>
                  <a:pt x="8782362" y="0"/>
                </a:lnTo>
                <a:lnTo>
                  <a:pt x="8782362" y="5013931"/>
                </a:lnTo>
                <a:lnTo>
                  <a:pt x="0" y="501393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4" name="Group 4"/>
          <p:cNvGrpSpPr/>
          <p:nvPr/>
        </p:nvGrpSpPr>
        <p:grpSpPr>
          <a:xfrm>
            <a:off x="-608680" y="9258300"/>
            <a:ext cx="19505361" cy="15817074"/>
            <a:chOff x="0" y="0"/>
            <a:chExt cx="26007147" cy="21089432"/>
          </a:xfrm>
        </p:grpSpPr>
        <p:grpSp>
          <p:nvGrpSpPr>
            <p:cNvPr id="5" name="Group 5"/>
            <p:cNvGrpSpPr/>
            <p:nvPr/>
          </p:nvGrpSpPr>
          <p:grpSpPr>
            <a:xfrm rot="-5400000">
              <a:off x="7701470" y="-7701470"/>
              <a:ext cx="10544716" cy="25947656"/>
              <a:chOff x="0" y="0"/>
              <a:chExt cx="1272376" cy="3130969"/>
            </a:xfrm>
          </p:grpSpPr>
          <p:sp>
            <p:nvSpPr>
              <p:cNvPr id="6" name="Freeform 6"/>
              <p:cNvSpPr/>
              <p:nvPr/>
            </p:nvSpPr>
            <p:spPr>
              <a:xfrm>
                <a:off x="0" y="0"/>
                <a:ext cx="1272376" cy="3130969"/>
              </a:xfrm>
              <a:custGeom>
                <a:avLst/>
                <a:gdLst/>
                <a:ahLst/>
                <a:cxnLst/>
                <a:rect l="l" t="t" r="r" b="b"/>
                <a:pathLst>
                  <a:path w="1272376" h="3130969">
                    <a:moveTo>
                      <a:pt x="0" y="0"/>
                    </a:moveTo>
                    <a:lnTo>
                      <a:pt x="1272376" y="0"/>
                    </a:lnTo>
                    <a:lnTo>
                      <a:pt x="1272376" y="3130969"/>
                    </a:lnTo>
                    <a:lnTo>
                      <a:pt x="0" y="3130969"/>
                    </a:lnTo>
                    <a:close/>
                  </a:path>
                </a:pathLst>
              </a:custGeom>
              <a:solidFill>
                <a:srgbClr val="476376"/>
              </a:solidFill>
            </p:spPr>
          </p:sp>
          <p:sp>
            <p:nvSpPr>
              <p:cNvPr id="7" name="TextBox 7"/>
              <p:cNvSpPr txBox="1"/>
              <p:nvPr/>
            </p:nvSpPr>
            <p:spPr>
              <a:xfrm>
                <a:off x="0" y="-114300"/>
                <a:ext cx="1272376" cy="3245269"/>
              </a:xfrm>
              <a:prstGeom prst="rect">
                <a:avLst/>
              </a:prstGeom>
            </p:spPr>
            <p:txBody>
              <a:bodyPr lIns="50800" tIns="50800" rIns="50800" bIns="50800" rtlCol="0" anchor="ctr"/>
              <a:lstStyle/>
              <a:p>
                <a:pPr algn="ctr">
                  <a:lnSpc>
                    <a:spcPts val="3765"/>
                  </a:lnSpc>
                </a:pPr>
                <a:endParaRPr/>
              </a:p>
            </p:txBody>
          </p:sp>
        </p:grpSp>
        <p:sp>
          <p:nvSpPr>
            <p:cNvPr id="8" name="Freeform 8"/>
            <p:cNvSpPr/>
            <p:nvPr/>
          </p:nvSpPr>
          <p:spPr>
            <a:xfrm rot="-5400000">
              <a:off x="2458858" y="-2458858"/>
              <a:ext cx="21089432" cy="26007147"/>
            </a:xfrm>
            <a:custGeom>
              <a:avLst/>
              <a:gdLst/>
              <a:ahLst/>
              <a:cxnLst/>
              <a:rect l="l" t="t" r="r" b="b"/>
              <a:pathLst>
                <a:path w="21089432" h="26007147">
                  <a:moveTo>
                    <a:pt x="0" y="0"/>
                  </a:moveTo>
                  <a:lnTo>
                    <a:pt x="21089432" y="0"/>
                  </a:lnTo>
                  <a:lnTo>
                    <a:pt x="21089432" y="26007148"/>
                  </a:lnTo>
                  <a:lnTo>
                    <a:pt x="0" y="2600714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sp>
        <p:nvSpPr>
          <p:cNvPr id="10" name="TextBox 10"/>
          <p:cNvSpPr txBox="1"/>
          <p:nvPr/>
        </p:nvSpPr>
        <p:spPr>
          <a:xfrm>
            <a:off x="1028700" y="2092911"/>
            <a:ext cx="3467100" cy="4026487"/>
          </a:xfrm>
          <a:prstGeom prst="rect">
            <a:avLst/>
          </a:prstGeom>
        </p:spPr>
        <p:txBody>
          <a:bodyPr wrap="square" lIns="0" tIns="0" rIns="0" bIns="0" rtlCol="0" anchor="t">
            <a:spAutoFit/>
          </a:bodyPr>
          <a:lstStyle/>
          <a:p>
            <a:pPr marL="402553" lvl="1" algn="l">
              <a:lnSpc>
                <a:spcPts val="6339"/>
              </a:lnSpc>
            </a:pPr>
            <a:r>
              <a:rPr lang="en-US" sz="3729" dirty="0" err="1">
                <a:solidFill>
                  <a:srgbClr val="203847"/>
                </a:solidFill>
                <a:latin typeface="Quicksand"/>
                <a:ea typeface="Quicksand"/>
                <a:cs typeface="Quicksand"/>
                <a:sym typeface="Quicksand"/>
              </a:rPr>
              <a:t>Các</a:t>
            </a:r>
            <a:r>
              <a:rPr lang="en-US" sz="3729" dirty="0">
                <a:solidFill>
                  <a:srgbClr val="203847"/>
                </a:solidFill>
                <a:latin typeface="Quicksand"/>
                <a:ea typeface="Quicksand"/>
                <a:cs typeface="Quicksand"/>
                <a:sym typeface="Quicksand"/>
              </a:rPr>
              <a:t> </a:t>
            </a:r>
            <a:r>
              <a:rPr lang="en-US" sz="3729" dirty="0" err="1">
                <a:solidFill>
                  <a:srgbClr val="203847"/>
                </a:solidFill>
                <a:latin typeface="Quicksand"/>
                <a:ea typeface="Quicksand"/>
                <a:cs typeface="Quicksand"/>
                <a:sym typeface="Quicksand"/>
              </a:rPr>
              <a:t>độ</a:t>
            </a:r>
            <a:r>
              <a:rPr lang="en-US" sz="3729" dirty="0">
                <a:solidFill>
                  <a:srgbClr val="203847"/>
                </a:solidFill>
                <a:latin typeface="Quicksand"/>
                <a:ea typeface="Quicksand"/>
                <a:cs typeface="Quicksand"/>
                <a:sym typeface="Quicksand"/>
              </a:rPr>
              <a:t> </a:t>
            </a:r>
            <a:r>
              <a:rPr lang="en-US" sz="3729" dirty="0" err="1">
                <a:solidFill>
                  <a:srgbClr val="203847"/>
                </a:solidFill>
                <a:latin typeface="Quicksand"/>
                <a:ea typeface="Quicksand"/>
                <a:cs typeface="Quicksand"/>
                <a:sym typeface="Quicksand"/>
              </a:rPr>
              <a:t>đo</a:t>
            </a:r>
            <a:r>
              <a:rPr lang="en-US" sz="3729" dirty="0">
                <a:solidFill>
                  <a:srgbClr val="203847"/>
                </a:solidFill>
                <a:latin typeface="Quicksand"/>
                <a:ea typeface="Quicksand"/>
                <a:cs typeface="Quicksand"/>
                <a:sym typeface="Quicksand"/>
              </a:rPr>
              <a:t>:</a:t>
            </a:r>
          </a:p>
          <a:p>
            <a:pPr marL="805107" lvl="1" indent="-402554" algn="just">
              <a:lnSpc>
                <a:spcPct val="150000"/>
              </a:lnSpc>
              <a:buFont typeface="Arial"/>
              <a:buChar char="•"/>
            </a:pPr>
            <a:r>
              <a:rPr lang="en-US" sz="2400" dirty="0">
                <a:latin typeface="Quicksand Medium" panose="020B0604020202020204" charset="0"/>
              </a:rPr>
              <a:t>Accuracy </a:t>
            </a:r>
          </a:p>
          <a:p>
            <a:pPr marL="805107" lvl="1" indent="-402554" algn="just">
              <a:lnSpc>
                <a:spcPct val="150000"/>
              </a:lnSpc>
              <a:buFont typeface="Arial"/>
              <a:buChar char="•"/>
            </a:pPr>
            <a:r>
              <a:rPr lang="en-US" sz="2400" dirty="0">
                <a:latin typeface="Quicksand Medium" panose="020B0604020202020204" charset="0"/>
              </a:rPr>
              <a:t>Precision </a:t>
            </a:r>
          </a:p>
          <a:p>
            <a:pPr marL="805107" lvl="1" indent="-402554" algn="just">
              <a:lnSpc>
                <a:spcPct val="150000"/>
              </a:lnSpc>
              <a:buFont typeface="Arial"/>
              <a:buChar char="•"/>
            </a:pPr>
            <a:r>
              <a:rPr lang="en-US" sz="2400" dirty="0">
                <a:latin typeface="Quicksand Medium" panose="020B0604020202020204" charset="0"/>
              </a:rPr>
              <a:t>Recall </a:t>
            </a:r>
          </a:p>
          <a:p>
            <a:pPr marL="805107" lvl="1" indent="-402554" algn="just">
              <a:lnSpc>
                <a:spcPct val="150000"/>
              </a:lnSpc>
              <a:buFont typeface="Arial"/>
              <a:buChar char="•"/>
            </a:pPr>
            <a:r>
              <a:rPr lang="en-US" sz="2400" dirty="0">
                <a:latin typeface="Quicksand Medium" panose="020B0604020202020204" charset="0"/>
              </a:rPr>
              <a:t>F1-score </a:t>
            </a:r>
          </a:p>
          <a:p>
            <a:pPr marL="805107" lvl="1" indent="-402554" algn="just">
              <a:lnSpc>
                <a:spcPct val="150000"/>
              </a:lnSpc>
              <a:buFont typeface="Arial"/>
              <a:buChar char="•"/>
            </a:pPr>
            <a:r>
              <a:rPr lang="en-US" sz="2400" dirty="0">
                <a:latin typeface="Quicksand Medium" panose="020B0604020202020204" charset="0"/>
              </a:rPr>
              <a:t>Confusion Matrix</a:t>
            </a:r>
          </a:p>
          <a:p>
            <a:pPr marL="805107" lvl="1" indent="-402554" algn="just">
              <a:lnSpc>
                <a:spcPct val="150000"/>
              </a:lnSpc>
              <a:buFont typeface="Arial"/>
              <a:buChar char="•"/>
            </a:pPr>
            <a:endParaRPr lang="en-US" sz="2200" dirty="0">
              <a:latin typeface="Quicksand Medium" panose="020B0604020202020204" charset="0"/>
            </a:endParaRPr>
          </a:p>
        </p:txBody>
      </p:sp>
      <p:graphicFrame>
        <p:nvGraphicFramePr>
          <p:cNvPr id="9" name="Table 8">
            <a:extLst>
              <a:ext uri="{FF2B5EF4-FFF2-40B4-BE49-F238E27FC236}">
                <a16:creationId xmlns:a16="http://schemas.microsoft.com/office/drawing/2014/main" id="{3C0E5CF3-B77B-4B1E-B3FB-269E2B9DE578}"/>
              </a:ext>
            </a:extLst>
          </p:cNvPr>
          <p:cNvGraphicFramePr>
            <a:graphicFrameLocks noGrp="1"/>
          </p:cNvGraphicFramePr>
          <p:nvPr>
            <p:extLst>
              <p:ext uri="{D42A27DB-BD31-4B8C-83A1-F6EECF244321}">
                <p14:modId xmlns:p14="http://schemas.microsoft.com/office/powerpoint/2010/main" val="915059811"/>
              </p:ext>
            </p:extLst>
          </p:nvPr>
        </p:nvGraphicFramePr>
        <p:xfrm>
          <a:off x="6324600" y="1866900"/>
          <a:ext cx="10287000" cy="7239001"/>
        </p:xfrm>
        <a:graphic>
          <a:graphicData uri="http://schemas.openxmlformats.org/drawingml/2006/table">
            <a:tbl>
              <a:tblPr firstRow="1" firstCol="1" bandRow="1">
                <a:tableStyleId>{5C22544A-7EE6-4342-B048-85BDC9FD1C3A}</a:tableStyleId>
              </a:tblPr>
              <a:tblGrid>
                <a:gridCol w="1603656">
                  <a:extLst>
                    <a:ext uri="{9D8B030D-6E8A-4147-A177-3AD203B41FA5}">
                      <a16:colId xmlns:a16="http://schemas.microsoft.com/office/drawing/2014/main" val="208416542"/>
                    </a:ext>
                  </a:extLst>
                </a:gridCol>
                <a:gridCol w="4665695">
                  <a:extLst>
                    <a:ext uri="{9D8B030D-6E8A-4147-A177-3AD203B41FA5}">
                      <a16:colId xmlns:a16="http://schemas.microsoft.com/office/drawing/2014/main" val="2062670499"/>
                    </a:ext>
                  </a:extLst>
                </a:gridCol>
                <a:gridCol w="4017649">
                  <a:extLst>
                    <a:ext uri="{9D8B030D-6E8A-4147-A177-3AD203B41FA5}">
                      <a16:colId xmlns:a16="http://schemas.microsoft.com/office/drawing/2014/main" val="345492508"/>
                    </a:ext>
                  </a:extLst>
                </a:gridCol>
              </a:tblGrid>
              <a:tr h="763645">
                <a:tc>
                  <a:txBody>
                    <a:bodyPr/>
                    <a:lstStyle/>
                    <a:p>
                      <a:pPr marL="0" marR="0">
                        <a:lnSpc>
                          <a:spcPct val="150000"/>
                        </a:lnSpc>
                        <a:spcBef>
                          <a:spcPts val="0"/>
                        </a:spcBef>
                        <a:spcAft>
                          <a:spcPts val="1000"/>
                        </a:spcAft>
                        <a:tabLst>
                          <a:tab pos="270510" algn="l"/>
                          <a:tab pos="540385" algn="l"/>
                        </a:tabLst>
                      </a:pPr>
                      <a:r>
                        <a:rPr lang="en-US" sz="2200" dirty="0" err="1">
                          <a:effectLst/>
                          <a:latin typeface="Quicksand Medium" panose="020B0604020202020204" charset="0"/>
                        </a:rPr>
                        <a:t>Độ</a:t>
                      </a:r>
                      <a:r>
                        <a:rPr lang="en-US" sz="2200" dirty="0">
                          <a:effectLst/>
                          <a:latin typeface="Quicksand Medium" panose="020B0604020202020204" charset="0"/>
                        </a:rPr>
                        <a:t> </a:t>
                      </a:r>
                      <a:r>
                        <a:rPr lang="en-US" sz="2200" dirty="0" err="1">
                          <a:effectLst/>
                          <a:latin typeface="Quicksand Medium" panose="020B0604020202020204" charset="0"/>
                        </a:rPr>
                        <a:t>đo</a:t>
                      </a:r>
                      <a:endParaRPr lang="en-US" sz="2200" dirty="0">
                        <a:effectLst/>
                        <a:latin typeface="Quicksand Medium" panose="020B0604020202020204" charset="0"/>
                        <a:ea typeface="Times New Roman" panose="02020603050405020304" pitchFamily="18" charset="0"/>
                      </a:endParaRPr>
                    </a:p>
                  </a:txBody>
                  <a:tcPr marL="68580" marR="68580" marT="0" marB="0" anchor="ctr"/>
                </a:tc>
                <a:tc>
                  <a:txBody>
                    <a:bodyPr/>
                    <a:lstStyle/>
                    <a:p>
                      <a:pPr marL="0" marR="0">
                        <a:lnSpc>
                          <a:spcPct val="150000"/>
                        </a:lnSpc>
                        <a:spcBef>
                          <a:spcPts val="0"/>
                        </a:spcBef>
                        <a:spcAft>
                          <a:spcPts val="1000"/>
                        </a:spcAft>
                        <a:tabLst>
                          <a:tab pos="270510" algn="l"/>
                          <a:tab pos="540385" algn="l"/>
                        </a:tabLst>
                      </a:pPr>
                      <a:r>
                        <a:rPr lang="en-US" sz="2200">
                          <a:effectLst/>
                          <a:latin typeface="Quicksand Medium" panose="020B0604020202020204" charset="0"/>
                        </a:rPr>
                        <a:t>Phản ánh điều gì?</a:t>
                      </a:r>
                      <a:endParaRPr lang="en-US" sz="2200">
                        <a:effectLst/>
                        <a:latin typeface="Quicksand Medium" panose="020B0604020202020204" charset="0"/>
                        <a:ea typeface="Times New Roman" panose="02020603050405020304" pitchFamily="18" charset="0"/>
                      </a:endParaRPr>
                    </a:p>
                  </a:txBody>
                  <a:tcPr marL="68580" marR="68580" marT="0" marB="0" anchor="ctr"/>
                </a:tc>
                <a:tc>
                  <a:txBody>
                    <a:bodyPr/>
                    <a:lstStyle/>
                    <a:p>
                      <a:pPr marL="0" marR="0">
                        <a:lnSpc>
                          <a:spcPct val="150000"/>
                        </a:lnSpc>
                        <a:spcBef>
                          <a:spcPts val="0"/>
                        </a:spcBef>
                        <a:spcAft>
                          <a:spcPts val="1000"/>
                        </a:spcAft>
                        <a:tabLst>
                          <a:tab pos="270510" algn="l"/>
                          <a:tab pos="540385" algn="l"/>
                        </a:tabLst>
                      </a:pPr>
                      <a:r>
                        <a:rPr lang="en-US" sz="2200">
                          <a:effectLst/>
                          <a:latin typeface="Quicksand Medium" panose="020B0604020202020204" charset="0"/>
                        </a:rPr>
                        <a:t>Khi nào nên dùng?</a:t>
                      </a:r>
                      <a:endParaRPr lang="en-US" sz="2200">
                        <a:effectLst/>
                        <a:latin typeface="Quicksand Medium" panose="020B0604020202020204" charset="0"/>
                        <a:ea typeface="Times New Roman" panose="02020603050405020304" pitchFamily="18" charset="0"/>
                      </a:endParaRPr>
                    </a:p>
                  </a:txBody>
                  <a:tcPr marL="68580" marR="68580" marT="0" marB="0" anchor="ctr"/>
                </a:tc>
                <a:extLst>
                  <a:ext uri="{0D108BD9-81ED-4DB2-BD59-A6C34878D82A}">
                    <a16:rowId xmlns:a16="http://schemas.microsoft.com/office/drawing/2014/main" val="919691682"/>
                  </a:ext>
                </a:extLst>
              </a:tr>
              <a:tr h="1618839">
                <a:tc>
                  <a:txBody>
                    <a:bodyPr/>
                    <a:lstStyle/>
                    <a:p>
                      <a:pPr marL="0" marR="0">
                        <a:lnSpc>
                          <a:spcPct val="150000"/>
                        </a:lnSpc>
                        <a:spcBef>
                          <a:spcPts val="0"/>
                        </a:spcBef>
                        <a:spcAft>
                          <a:spcPts val="1000"/>
                        </a:spcAft>
                        <a:tabLst>
                          <a:tab pos="270510" algn="l"/>
                          <a:tab pos="540385" algn="l"/>
                        </a:tabLst>
                      </a:pPr>
                      <a:r>
                        <a:rPr lang="en-US" sz="2200">
                          <a:effectLst/>
                          <a:latin typeface="Quicksand Medium" panose="020B0604020202020204" charset="0"/>
                        </a:rPr>
                        <a:t>Accuracy</a:t>
                      </a:r>
                      <a:endParaRPr lang="en-US" sz="2200">
                        <a:effectLst/>
                        <a:latin typeface="Quicksand Medium" panose="020B0604020202020204" charset="0"/>
                        <a:ea typeface="Times New Roman" panose="02020603050405020304" pitchFamily="18" charset="0"/>
                      </a:endParaRPr>
                    </a:p>
                  </a:txBody>
                  <a:tcPr marL="68580" marR="68580" marT="0" marB="0" anchor="ctr"/>
                </a:tc>
                <a:tc>
                  <a:txBody>
                    <a:bodyPr/>
                    <a:lstStyle/>
                    <a:p>
                      <a:pPr marL="0" marR="0">
                        <a:lnSpc>
                          <a:spcPct val="150000"/>
                        </a:lnSpc>
                        <a:spcBef>
                          <a:spcPts val="0"/>
                        </a:spcBef>
                        <a:spcAft>
                          <a:spcPts val="1000"/>
                        </a:spcAft>
                        <a:tabLst>
                          <a:tab pos="270510" algn="l"/>
                          <a:tab pos="540385" algn="l"/>
                        </a:tabLst>
                      </a:pPr>
                      <a:r>
                        <a:rPr lang="en-US" sz="2200">
                          <a:effectLst/>
                          <a:latin typeface="Quicksand Medium" panose="020B0604020202020204" charset="0"/>
                        </a:rPr>
                        <a:t>Tổng số mẫu được phân loại đúng</a:t>
                      </a:r>
                      <a:endParaRPr lang="en-US" sz="2200">
                        <a:effectLst/>
                        <a:latin typeface="Quicksand Medium" panose="020B0604020202020204" charset="0"/>
                        <a:ea typeface="Times New Roman" panose="02020603050405020304" pitchFamily="18" charset="0"/>
                      </a:endParaRPr>
                    </a:p>
                  </a:txBody>
                  <a:tcPr marL="68580" marR="68580" marT="0" marB="0" anchor="ctr"/>
                </a:tc>
                <a:tc>
                  <a:txBody>
                    <a:bodyPr/>
                    <a:lstStyle/>
                    <a:p>
                      <a:pPr marL="0" marR="0">
                        <a:lnSpc>
                          <a:spcPct val="150000"/>
                        </a:lnSpc>
                        <a:spcBef>
                          <a:spcPts val="0"/>
                        </a:spcBef>
                        <a:spcAft>
                          <a:spcPts val="1000"/>
                        </a:spcAft>
                        <a:tabLst>
                          <a:tab pos="270510" algn="l"/>
                          <a:tab pos="540385" algn="l"/>
                        </a:tabLst>
                      </a:pPr>
                      <a:r>
                        <a:rPr lang="en-US" sz="2200">
                          <a:effectLst/>
                          <a:latin typeface="Quicksand Medium" panose="020B0604020202020204" charset="0"/>
                        </a:rPr>
                        <a:t>Khi dữ liệu cân bằng, mục tiêu tổng thể là đúng nhiều nhất</a:t>
                      </a:r>
                      <a:endParaRPr lang="en-US" sz="2200">
                        <a:effectLst/>
                        <a:latin typeface="Quicksand Medium" panose="020B0604020202020204" charset="0"/>
                        <a:ea typeface="Times New Roman" panose="02020603050405020304" pitchFamily="18" charset="0"/>
                      </a:endParaRPr>
                    </a:p>
                  </a:txBody>
                  <a:tcPr marL="68580" marR="68580" marT="0" marB="0" anchor="ctr"/>
                </a:tc>
                <a:extLst>
                  <a:ext uri="{0D108BD9-81ED-4DB2-BD59-A6C34878D82A}">
                    <a16:rowId xmlns:a16="http://schemas.microsoft.com/office/drawing/2014/main" val="3145556822"/>
                  </a:ext>
                </a:extLst>
              </a:tr>
              <a:tr h="1618839">
                <a:tc>
                  <a:txBody>
                    <a:bodyPr/>
                    <a:lstStyle/>
                    <a:p>
                      <a:pPr marL="0" marR="0">
                        <a:lnSpc>
                          <a:spcPct val="150000"/>
                        </a:lnSpc>
                        <a:spcBef>
                          <a:spcPts val="0"/>
                        </a:spcBef>
                        <a:spcAft>
                          <a:spcPts val="1000"/>
                        </a:spcAft>
                        <a:tabLst>
                          <a:tab pos="270510" algn="l"/>
                          <a:tab pos="540385" algn="l"/>
                        </a:tabLst>
                      </a:pPr>
                      <a:r>
                        <a:rPr lang="en-US" sz="2200">
                          <a:effectLst/>
                          <a:latin typeface="Quicksand Medium" panose="020B0604020202020204" charset="0"/>
                        </a:rPr>
                        <a:t>Precision</a:t>
                      </a:r>
                      <a:endParaRPr lang="en-US" sz="2200">
                        <a:effectLst/>
                        <a:latin typeface="Quicksand Medium" panose="020B0604020202020204" charset="0"/>
                        <a:ea typeface="Times New Roman" panose="02020603050405020304" pitchFamily="18" charset="0"/>
                      </a:endParaRPr>
                    </a:p>
                  </a:txBody>
                  <a:tcPr marL="68580" marR="68580" marT="0" marB="0" anchor="ctr"/>
                </a:tc>
                <a:tc>
                  <a:txBody>
                    <a:bodyPr/>
                    <a:lstStyle/>
                    <a:p>
                      <a:pPr marL="0" marR="0">
                        <a:lnSpc>
                          <a:spcPct val="150000"/>
                        </a:lnSpc>
                        <a:spcBef>
                          <a:spcPts val="0"/>
                        </a:spcBef>
                        <a:spcAft>
                          <a:spcPts val="1000"/>
                        </a:spcAft>
                        <a:tabLst>
                          <a:tab pos="270510" algn="l"/>
                          <a:tab pos="540385" algn="l"/>
                        </a:tabLst>
                      </a:pPr>
                      <a:r>
                        <a:rPr lang="en-US" sz="2200">
                          <a:effectLst/>
                          <a:latin typeface="Quicksand Medium" panose="020B0604020202020204" charset="0"/>
                        </a:rPr>
                        <a:t>Trong các mẫu dự đoán dương, bao nhiêu là đúng</a:t>
                      </a:r>
                      <a:endParaRPr lang="en-US" sz="2200">
                        <a:effectLst/>
                        <a:latin typeface="Quicksand Medium" panose="020B0604020202020204" charset="0"/>
                        <a:ea typeface="Times New Roman" panose="02020603050405020304" pitchFamily="18" charset="0"/>
                      </a:endParaRPr>
                    </a:p>
                  </a:txBody>
                  <a:tcPr marL="68580" marR="68580" marT="0" marB="0" anchor="ctr"/>
                </a:tc>
                <a:tc>
                  <a:txBody>
                    <a:bodyPr/>
                    <a:lstStyle/>
                    <a:p>
                      <a:pPr marL="0" marR="0">
                        <a:lnSpc>
                          <a:spcPct val="150000"/>
                        </a:lnSpc>
                        <a:spcBef>
                          <a:spcPts val="0"/>
                        </a:spcBef>
                        <a:spcAft>
                          <a:spcPts val="1000"/>
                        </a:spcAft>
                        <a:tabLst>
                          <a:tab pos="270510" algn="l"/>
                          <a:tab pos="540385" algn="l"/>
                        </a:tabLst>
                      </a:pPr>
                      <a:r>
                        <a:rPr lang="en-US" sz="2200">
                          <a:effectLst/>
                          <a:latin typeface="Quicksand Medium" panose="020B0604020202020204" charset="0"/>
                        </a:rPr>
                        <a:t>Khi cần tránh báo động giả</a:t>
                      </a:r>
                      <a:endParaRPr lang="en-US" sz="2200">
                        <a:effectLst/>
                        <a:latin typeface="Quicksand Medium" panose="020B0604020202020204" charset="0"/>
                        <a:ea typeface="Times New Roman" panose="02020603050405020304" pitchFamily="18" charset="0"/>
                      </a:endParaRPr>
                    </a:p>
                  </a:txBody>
                  <a:tcPr marL="68580" marR="68580" marT="0" marB="0" anchor="ctr"/>
                </a:tc>
                <a:extLst>
                  <a:ext uri="{0D108BD9-81ED-4DB2-BD59-A6C34878D82A}">
                    <a16:rowId xmlns:a16="http://schemas.microsoft.com/office/drawing/2014/main" val="1069963624"/>
                  </a:ext>
                </a:extLst>
              </a:tr>
              <a:tr h="1618839">
                <a:tc>
                  <a:txBody>
                    <a:bodyPr/>
                    <a:lstStyle/>
                    <a:p>
                      <a:pPr marL="0" marR="0">
                        <a:lnSpc>
                          <a:spcPct val="150000"/>
                        </a:lnSpc>
                        <a:spcBef>
                          <a:spcPts val="0"/>
                        </a:spcBef>
                        <a:spcAft>
                          <a:spcPts val="1000"/>
                        </a:spcAft>
                        <a:tabLst>
                          <a:tab pos="270510" algn="l"/>
                          <a:tab pos="540385" algn="l"/>
                        </a:tabLst>
                      </a:pPr>
                      <a:r>
                        <a:rPr lang="en-US" sz="2200">
                          <a:effectLst/>
                          <a:latin typeface="Quicksand Medium" panose="020B0604020202020204" charset="0"/>
                        </a:rPr>
                        <a:t>Recall</a:t>
                      </a:r>
                      <a:endParaRPr lang="en-US" sz="2200">
                        <a:effectLst/>
                        <a:latin typeface="Quicksand Medium" panose="020B0604020202020204" charset="0"/>
                        <a:ea typeface="Times New Roman" panose="02020603050405020304" pitchFamily="18" charset="0"/>
                      </a:endParaRPr>
                    </a:p>
                  </a:txBody>
                  <a:tcPr marL="68580" marR="68580" marT="0" marB="0" anchor="ctr"/>
                </a:tc>
                <a:tc>
                  <a:txBody>
                    <a:bodyPr/>
                    <a:lstStyle/>
                    <a:p>
                      <a:pPr marL="0" marR="0">
                        <a:lnSpc>
                          <a:spcPct val="150000"/>
                        </a:lnSpc>
                        <a:spcBef>
                          <a:spcPts val="0"/>
                        </a:spcBef>
                        <a:spcAft>
                          <a:spcPts val="1000"/>
                        </a:spcAft>
                        <a:tabLst>
                          <a:tab pos="270510" algn="l"/>
                          <a:tab pos="540385" algn="l"/>
                        </a:tabLst>
                      </a:pPr>
                      <a:r>
                        <a:rPr lang="en-US" sz="2200">
                          <a:effectLst/>
                          <a:latin typeface="Quicksand Medium" panose="020B0604020202020204" charset="0"/>
                        </a:rPr>
                        <a:t>Trong các mẫu thực dương, bao nhiêu được phát hiện</a:t>
                      </a:r>
                      <a:endParaRPr lang="en-US" sz="2200">
                        <a:effectLst/>
                        <a:latin typeface="Quicksand Medium" panose="020B0604020202020204" charset="0"/>
                        <a:ea typeface="Times New Roman" panose="02020603050405020304" pitchFamily="18" charset="0"/>
                      </a:endParaRPr>
                    </a:p>
                  </a:txBody>
                  <a:tcPr marL="68580" marR="68580" marT="0" marB="0" anchor="ctr"/>
                </a:tc>
                <a:tc>
                  <a:txBody>
                    <a:bodyPr/>
                    <a:lstStyle/>
                    <a:p>
                      <a:pPr marL="0" marR="0">
                        <a:lnSpc>
                          <a:spcPct val="150000"/>
                        </a:lnSpc>
                        <a:spcBef>
                          <a:spcPts val="0"/>
                        </a:spcBef>
                        <a:spcAft>
                          <a:spcPts val="1000"/>
                        </a:spcAft>
                        <a:tabLst>
                          <a:tab pos="270510" algn="l"/>
                          <a:tab pos="540385" algn="l"/>
                        </a:tabLst>
                      </a:pPr>
                      <a:r>
                        <a:rPr lang="en-US" sz="2200">
                          <a:effectLst/>
                          <a:latin typeface="Quicksand Medium" panose="020B0604020202020204" charset="0"/>
                        </a:rPr>
                        <a:t>Khi cần tránh bỏ sót (như trong y tế hoặc tai nạn)</a:t>
                      </a:r>
                      <a:endParaRPr lang="en-US" sz="2200">
                        <a:effectLst/>
                        <a:latin typeface="Quicksand Medium" panose="020B0604020202020204" charset="0"/>
                        <a:ea typeface="Times New Roman" panose="02020603050405020304" pitchFamily="18" charset="0"/>
                      </a:endParaRPr>
                    </a:p>
                  </a:txBody>
                  <a:tcPr marL="68580" marR="68580" marT="0" marB="0" anchor="ctr"/>
                </a:tc>
                <a:extLst>
                  <a:ext uri="{0D108BD9-81ED-4DB2-BD59-A6C34878D82A}">
                    <a16:rowId xmlns:a16="http://schemas.microsoft.com/office/drawing/2014/main" val="1043712666"/>
                  </a:ext>
                </a:extLst>
              </a:tr>
              <a:tr h="1618839">
                <a:tc>
                  <a:txBody>
                    <a:bodyPr/>
                    <a:lstStyle/>
                    <a:p>
                      <a:pPr marL="0" marR="0">
                        <a:lnSpc>
                          <a:spcPct val="150000"/>
                        </a:lnSpc>
                        <a:spcBef>
                          <a:spcPts val="0"/>
                        </a:spcBef>
                        <a:spcAft>
                          <a:spcPts val="1000"/>
                        </a:spcAft>
                        <a:tabLst>
                          <a:tab pos="270510" algn="l"/>
                          <a:tab pos="540385" algn="l"/>
                        </a:tabLst>
                      </a:pPr>
                      <a:r>
                        <a:rPr lang="en-US" sz="2200">
                          <a:effectLst/>
                          <a:latin typeface="Quicksand Medium" panose="020B0604020202020204" charset="0"/>
                        </a:rPr>
                        <a:t>F1-score</a:t>
                      </a:r>
                      <a:endParaRPr lang="en-US" sz="2200">
                        <a:effectLst/>
                        <a:latin typeface="Quicksand Medium" panose="020B0604020202020204" charset="0"/>
                        <a:ea typeface="Times New Roman" panose="02020603050405020304" pitchFamily="18" charset="0"/>
                      </a:endParaRPr>
                    </a:p>
                  </a:txBody>
                  <a:tcPr marL="68580" marR="68580" marT="0" marB="0" anchor="ctr"/>
                </a:tc>
                <a:tc>
                  <a:txBody>
                    <a:bodyPr/>
                    <a:lstStyle/>
                    <a:p>
                      <a:pPr marL="0" marR="0">
                        <a:lnSpc>
                          <a:spcPct val="150000"/>
                        </a:lnSpc>
                        <a:spcBef>
                          <a:spcPts val="0"/>
                        </a:spcBef>
                        <a:spcAft>
                          <a:spcPts val="1000"/>
                        </a:spcAft>
                        <a:tabLst>
                          <a:tab pos="270510" algn="l"/>
                          <a:tab pos="540385" algn="l"/>
                        </a:tabLst>
                      </a:pPr>
                      <a:r>
                        <a:rPr lang="en-US" sz="2200">
                          <a:effectLst/>
                          <a:latin typeface="Quicksand Medium" panose="020B0604020202020204" charset="0"/>
                        </a:rPr>
                        <a:t>Trung bình giữa precision và recall</a:t>
                      </a:r>
                      <a:endParaRPr lang="en-US" sz="2200">
                        <a:effectLst/>
                        <a:latin typeface="Quicksand Medium" panose="020B0604020202020204" charset="0"/>
                        <a:ea typeface="Times New Roman" panose="02020603050405020304" pitchFamily="18" charset="0"/>
                      </a:endParaRPr>
                    </a:p>
                  </a:txBody>
                  <a:tcPr marL="68580" marR="68580" marT="0" marB="0" anchor="ctr"/>
                </a:tc>
                <a:tc>
                  <a:txBody>
                    <a:bodyPr/>
                    <a:lstStyle/>
                    <a:p>
                      <a:pPr marL="0" marR="0">
                        <a:lnSpc>
                          <a:spcPct val="150000"/>
                        </a:lnSpc>
                        <a:spcBef>
                          <a:spcPts val="0"/>
                        </a:spcBef>
                        <a:spcAft>
                          <a:spcPts val="1000"/>
                        </a:spcAft>
                        <a:tabLst>
                          <a:tab pos="270510" algn="l"/>
                          <a:tab pos="540385" algn="l"/>
                        </a:tabLst>
                      </a:pPr>
                      <a:r>
                        <a:rPr lang="en-US" sz="2200" dirty="0">
                          <a:effectLst/>
                          <a:latin typeface="Quicksand Medium" panose="020B0604020202020204" charset="0"/>
                        </a:rPr>
                        <a:t>Khi </a:t>
                      </a:r>
                      <a:r>
                        <a:rPr lang="en-US" sz="2200" dirty="0" err="1">
                          <a:effectLst/>
                          <a:latin typeface="Quicksand Medium" panose="020B0604020202020204" charset="0"/>
                        </a:rPr>
                        <a:t>cần</a:t>
                      </a:r>
                      <a:r>
                        <a:rPr lang="en-US" sz="2200" dirty="0">
                          <a:effectLst/>
                          <a:latin typeface="Quicksand Medium" panose="020B0604020202020204" charset="0"/>
                        </a:rPr>
                        <a:t> </a:t>
                      </a:r>
                      <a:r>
                        <a:rPr lang="en-US" sz="2200" dirty="0" err="1">
                          <a:effectLst/>
                          <a:latin typeface="Quicksand Medium" panose="020B0604020202020204" charset="0"/>
                        </a:rPr>
                        <a:t>đánh</a:t>
                      </a:r>
                      <a:r>
                        <a:rPr lang="en-US" sz="2200" dirty="0">
                          <a:effectLst/>
                          <a:latin typeface="Quicksand Medium" panose="020B0604020202020204" charset="0"/>
                        </a:rPr>
                        <a:t> </a:t>
                      </a:r>
                      <a:r>
                        <a:rPr lang="en-US" sz="2200" dirty="0" err="1">
                          <a:effectLst/>
                          <a:latin typeface="Quicksand Medium" panose="020B0604020202020204" charset="0"/>
                        </a:rPr>
                        <a:t>giá</a:t>
                      </a:r>
                      <a:r>
                        <a:rPr lang="en-US" sz="2200" dirty="0">
                          <a:effectLst/>
                          <a:latin typeface="Quicksand Medium" panose="020B0604020202020204" charset="0"/>
                        </a:rPr>
                        <a:t> </a:t>
                      </a:r>
                      <a:r>
                        <a:rPr lang="en-US" sz="2200" dirty="0" err="1">
                          <a:effectLst/>
                          <a:latin typeface="Quicksand Medium" panose="020B0604020202020204" charset="0"/>
                        </a:rPr>
                        <a:t>cân</a:t>
                      </a:r>
                      <a:r>
                        <a:rPr lang="en-US" sz="2200" dirty="0">
                          <a:effectLst/>
                          <a:latin typeface="Quicksand Medium" panose="020B0604020202020204" charset="0"/>
                        </a:rPr>
                        <a:t> </a:t>
                      </a:r>
                      <a:r>
                        <a:rPr lang="en-US" sz="2200" dirty="0" err="1">
                          <a:effectLst/>
                          <a:latin typeface="Quicksand Medium" panose="020B0604020202020204" charset="0"/>
                        </a:rPr>
                        <a:t>bằng</a:t>
                      </a:r>
                      <a:r>
                        <a:rPr lang="en-US" sz="2200" dirty="0">
                          <a:effectLst/>
                          <a:latin typeface="Quicksand Medium" panose="020B0604020202020204" charset="0"/>
                        </a:rPr>
                        <a:t> </a:t>
                      </a:r>
                      <a:r>
                        <a:rPr lang="en-US" sz="2200" dirty="0" err="1">
                          <a:effectLst/>
                          <a:latin typeface="Quicksand Medium" panose="020B0604020202020204" charset="0"/>
                        </a:rPr>
                        <a:t>giữa</a:t>
                      </a:r>
                      <a:r>
                        <a:rPr lang="en-US" sz="2200" dirty="0">
                          <a:effectLst/>
                          <a:latin typeface="Quicksand Medium" panose="020B0604020202020204" charset="0"/>
                        </a:rPr>
                        <a:t> precision </a:t>
                      </a:r>
                      <a:r>
                        <a:rPr lang="en-US" sz="2200" dirty="0" err="1">
                          <a:effectLst/>
                          <a:latin typeface="Quicksand Medium" panose="020B0604020202020204" charset="0"/>
                        </a:rPr>
                        <a:t>và</a:t>
                      </a:r>
                      <a:r>
                        <a:rPr lang="en-US" sz="2200" dirty="0">
                          <a:effectLst/>
                          <a:latin typeface="Quicksand Medium" panose="020B0604020202020204" charset="0"/>
                        </a:rPr>
                        <a:t> recall</a:t>
                      </a:r>
                      <a:endParaRPr lang="en-US" sz="2200" dirty="0">
                        <a:effectLst/>
                        <a:latin typeface="Quicksand Medium" panose="020B0604020202020204" charset="0"/>
                        <a:ea typeface="Times New Roman" panose="02020603050405020304" pitchFamily="18" charset="0"/>
                      </a:endParaRPr>
                    </a:p>
                  </a:txBody>
                  <a:tcPr marL="68580" marR="68580" marT="0" marB="0" anchor="ctr"/>
                </a:tc>
                <a:extLst>
                  <a:ext uri="{0D108BD9-81ED-4DB2-BD59-A6C34878D82A}">
                    <a16:rowId xmlns:a16="http://schemas.microsoft.com/office/drawing/2014/main" val="2218683958"/>
                  </a:ext>
                </a:extLst>
              </a:tr>
            </a:tbl>
          </a:graphicData>
        </a:graphic>
      </p:graphicFrame>
    </p:spTree>
    <p:extLst>
      <p:ext uri="{BB962C8B-B14F-4D97-AF65-F5344CB8AC3E}">
        <p14:creationId xmlns:p14="http://schemas.microsoft.com/office/powerpoint/2010/main" val="20771109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321771"/>
            <a:ext cx="14058900" cy="1117614"/>
          </a:xfrm>
          <a:prstGeom prst="rect">
            <a:avLst/>
          </a:prstGeom>
        </p:spPr>
        <p:txBody>
          <a:bodyPr wrap="square" lIns="0" tIns="0" rIns="0" bIns="0" rtlCol="0" anchor="t">
            <a:spAutoFit/>
          </a:bodyPr>
          <a:lstStyle/>
          <a:p>
            <a:pPr algn="just">
              <a:lnSpc>
                <a:spcPts val="9675"/>
              </a:lnSpc>
              <a:spcBef>
                <a:spcPct val="0"/>
              </a:spcBef>
            </a:pPr>
            <a:r>
              <a:rPr lang="en-US" sz="5600" b="1" dirty="0">
                <a:latin typeface="Quicksand Semi-Bold"/>
                <a:ea typeface="Quicksand Semi-Bold"/>
                <a:cs typeface="Quicksand Semi-Bold"/>
                <a:sym typeface="Quicksand Semi-Bold"/>
              </a:rPr>
              <a:t>4. </a:t>
            </a:r>
            <a:r>
              <a:rPr lang="en-US" sz="6000" b="1" dirty="0" err="1">
                <a:solidFill>
                  <a:srgbClr val="374F5F"/>
                </a:solidFill>
                <a:latin typeface="Quicksand Medium"/>
                <a:ea typeface="Quicksand Medium"/>
                <a:cs typeface="Quicksand Medium"/>
                <a:sym typeface="Quicksand Medium"/>
              </a:rPr>
              <a:t>Áp</a:t>
            </a:r>
            <a:r>
              <a:rPr lang="en-US" sz="6000" b="1" dirty="0">
                <a:solidFill>
                  <a:srgbClr val="374F5F"/>
                </a:solidFill>
                <a:latin typeface="Quicksand Medium"/>
                <a:ea typeface="Quicksand Medium"/>
                <a:cs typeface="Quicksand Medium"/>
                <a:sym typeface="Quicksand Medium"/>
              </a:rPr>
              <a:t> </a:t>
            </a:r>
            <a:r>
              <a:rPr lang="en-US" sz="6000" b="1" dirty="0" err="1">
                <a:solidFill>
                  <a:srgbClr val="374F5F"/>
                </a:solidFill>
                <a:latin typeface="Quicksand Medium"/>
                <a:ea typeface="Quicksand Medium"/>
                <a:cs typeface="Quicksand Medium"/>
                <a:sym typeface="Quicksand Medium"/>
              </a:rPr>
              <a:t>dụng</a:t>
            </a:r>
            <a:r>
              <a:rPr lang="en-US" sz="6000" b="1" dirty="0">
                <a:solidFill>
                  <a:srgbClr val="374F5F"/>
                </a:solidFill>
                <a:latin typeface="Quicksand Medium"/>
                <a:ea typeface="Quicksand Medium"/>
                <a:cs typeface="Quicksand Medium"/>
                <a:sym typeface="Quicksand Medium"/>
              </a:rPr>
              <a:t> </a:t>
            </a:r>
            <a:r>
              <a:rPr lang="en-US" sz="6000" b="1" dirty="0" err="1">
                <a:solidFill>
                  <a:srgbClr val="374F5F"/>
                </a:solidFill>
                <a:latin typeface="Quicksand Medium"/>
                <a:ea typeface="Quicksand Medium"/>
                <a:cs typeface="Quicksand Medium"/>
                <a:sym typeface="Quicksand Medium"/>
              </a:rPr>
              <a:t>trong</a:t>
            </a:r>
            <a:r>
              <a:rPr lang="en-US" sz="6000" b="1" dirty="0">
                <a:solidFill>
                  <a:srgbClr val="374F5F"/>
                </a:solidFill>
                <a:latin typeface="Quicksand Medium"/>
                <a:ea typeface="Quicksand Medium"/>
                <a:cs typeface="Quicksand Medium"/>
                <a:sym typeface="Quicksand Medium"/>
              </a:rPr>
              <a:t> </a:t>
            </a:r>
            <a:r>
              <a:rPr lang="en-US" sz="6000" b="1" dirty="0" err="1">
                <a:solidFill>
                  <a:srgbClr val="374F5F"/>
                </a:solidFill>
                <a:latin typeface="Quicksand Medium"/>
                <a:ea typeface="Quicksand Medium"/>
                <a:cs typeface="Quicksand Medium"/>
                <a:sym typeface="Quicksand Medium"/>
              </a:rPr>
              <a:t>bài</a:t>
            </a:r>
            <a:r>
              <a:rPr lang="en-US" sz="6000" b="1" dirty="0">
                <a:solidFill>
                  <a:srgbClr val="374F5F"/>
                </a:solidFill>
                <a:latin typeface="Quicksand Medium"/>
                <a:ea typeface="Quicksand Medium"/>
                <a:cs typeface="Quicksand Medium"/>
                <a:sym typeface="Quicksand Medium"/>
              </a:rPr>
              <a:t> </a:t>
            </a:r>
            <a:r>
              <a:rPr lang="en-US" sz="6000" b="1" dirty="0" err="1">
                <a:solidFill>
                  <a:srgbClr val="374F5F"/>
                </a:solidFill>
                <a:latin typeface="Quicksand Medium"/>
                <a:ea typeface="Quicksand Medium"/>
                <a:cs typeface="Quicksand Medium"/>
                <a:sym typeface="Quicksand Medium"/>
              </a:rPr>
              <a:t>toán</a:t>
            </a:r>
            <a:endParaRPr lang="en-US" sz="6000" b="1" dirty="0">
              <a:solidFill>
                <a:srgbClr val="374F5F"/>
              </a:solidFill>
              <a:latin typeface="Quicksand Medium"/>
              <a:ea typeface="Quicksand Medium"/>
              <a:cs typeface="Quicksand Medium"/>
              <a:sym typeface="Quicksand Medium"/>
            </a:endParaRPr>
          </a:p>
        </p:txBody>
      </p:sp>
      <p:sp>
        <p:nvSpPr>
          <p:cNvPr id="3" name="Freeform 3"/>
          <p:cNvSpPr/>
          <p:nvPr/>
        </p:nvSpPr>
        <p:spPr>
          <a:xfrm rot="3520730">
            <a:off x="12716433" y="-2322789"/>
            <a:ext cx="8681652" cy="5215575"/>
          </a:xfrm>
          <a:custGeom>
            <a:avLst/>
            <a:gdLst/>
            <a:ahLst/>
            <a:cxnLst/>
            <a:rect l="l" t="t" r="r" b="b"/>
            <a:pathLst>
              <a:path w="8782363" h="5013931">
                <a:moveTo>
                  <a:pt x="0" y="0"/>
                </a:moveTo>
                <a:lnTo>
                  <a:pt x="8782362" y="0"/>
                </a:lnTo>
                <a:lnTo>
                  <a:pt x="8782362" y="5013931"/>
                </a:lnTo>
                <a:lnTo>
                  <a:pt x="0" y="501393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4" name="Group 4"/>
          <p:cNvGrpSpPr/>
          <p:nvPr/>
        </p:nvGrpSpPr>
        <p:grpSpPr>
          <a:xfrm>
            <a:off x="-608680" y="9258300"/>
            <a:ext cx="19505361" cy="15817074"/>
            <a:chOff x="0" y="0"/>
            <a:chExt cx="26007147" cy="21089432"/>
          </a:xfrm>
        </p:grpSpPr>
        <p:grpSp>
          <p:nvGrpSpPr>
            <p:cNvPr id="5" name="Group 5"/>
            <p:cNvGrpSpPr/>
            <p:nvPr/>
          </p:nvGrpSpPr>
          <p:grpSpPr>
            <a:xfrm rot="-5400000">
              <a:off x="7701470" y="-7701470"/>
              <a:ext cx="10544716" cy="25947656"/>
              <a:chOff x="0" y="0"/>
              <a:chExt cx="1272376" cy="3130969"/>
            </a:xfrm>
          </p:grpSpPr>
          <p:sp>
            <p:nvSpPr>
              <p:cNvPr id="6" name="Freeform 6"/>
              <p:cNvSpPr/>
              <p:nvPr/>
            </p:nvSpPr>
            <p:spPr>
              <a:xfrm>
                <a:off x="0" y="0"/>
                <a:ext cx="1272376" cy="3130969"/>
              </a:xfrm>
              <a:custGeom>
                <a:avLst/>
                <a:gdLst/>
                <a:ahLst/>
                <a:cxnLst/>
                <a:rect l="l" t="t" r="r" b="b"/>
                <a:pathLst>
                  <a:path w="1272376" h="3130969">
                    <a:moveTo>
                      <a:pt x="0" y="0"/>
                    </a:moveTo>
                    <a:lnTo>
                      <a:pt x="1272376" y="0"/>
                    </a:lnTo>
                    <a:lnTo>
                      <a:pt x="1272376" y="3130969"/>
                    </a:lnTo>
                    <a:lnTo>
                      <a:pt x="0" y="3130969"/>
                    </a:lnTo>
                    <a:close/>
                  </a:path>
                </a:pathLst>
              </a:custGeom>
              <a:solidFill>
                <a:srgbClr val="476376"/>
              </a:solidFill>
            </p:spPr>
          </p:sp>
          <p:sp>
            <p:nvSpPr>
              <p:cNvPr id="7" name="TextBox 7"/>
              <p:cNvSpPr txBox="1"/>
              <p:nvPr/>
            </p:nvSpPr>
            <p:spPr>
              <a:xfrm>
                <a:off x="0" y="-114300"/>
                <a:ext cx="1272376" cy="3245269"/>
              </a:xfrm>
              <a:prstGeom prst="rect">
                <a:avLst/>
              </a:prstGeom>
            </p:spPr>
            <p:txBody>
              <a:bodyPr lIns="50800" tIns="50800" rIns="50800" bIns="50800" rtlCol="0" anchor="ctr"/>
              <a:lstStyle/>
              <a:p>
                <a:pPr algn="ctr">
                  <a:lnSpc>
                    <a:spcPts val="3765"/>
                  </a:lnSpc>
                </a:pPr>
                <a:endParaRPr/>
              </a:p>
            </p:txBody>
          </p:sp>
        </p:grpSp>
        <p:sp>
          <p:nvSpPr>
            <p:cNvPr id="8" name="Freeform 8"/>
            <p:cNvSpPr/>
            <p:nvPr/>
          </p:nvSpPr>
          <p:spPr>
            <a:xfrm rot="-5400000">
              <a:off x="2458858" y="-2458858"/>
              <a:ext cx="21089432" cy="26007147"/>
            </a:xfrm>
            <a:custGeom>
              <a:avLst/>
              <a:gdLst/>
              <a:ahLst/>
              <a:cxnLst/>
              <a:rect l="l" t="t" r="r" b="b"/>
              <a:pathLst>
                <a:path w="21089432" h="26007147">
                  <a:moveTo>
                    <a:pt x="0" y="0"/>
                  </a:moveTo>
                  <a:lnTo>
                    <a:pt x="21089432" y="0"/>
                  </a:lnTo>
                  <a:lnTo>
                    <a:pt x="21089432" y="26007148"/>
                  </a:lnTo>
                  <a:lnTo>
                    <a:pt x="0" y="2600714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sp>
        <p:nvSpPr>
          <p:cNvPr id="10" name="TextBox 10"/>
          <p:cNvSpPr txBox="1"/>
          <p:nvPr/>
        </p:nvSpPr>
        <p:spPr>
          <a:xfrm>
            <a:off x="1028700" y="2092911"/>
            <a:ext cx="15636174" cy="720710"/>
          </a:xfrm>
          <a:prstGeom prst="rect">
            <a:avLst/>
          </a:prstGeom>
        </p:spPr>
        <p:txBody>
          <a:bodyPr lIns="0" tIns="0" rIns="0" bIns="0" rtlCol="0" anchor="t">
            <a:spAutoFit/>
          </a:bodyPr>
          <a:lstStyle/>
          <a:p>
            <a:pPr marL="402553" lvl="1" algn="l">
              <a:lnSpc>
                <a:spcPts val="6339"/>
              </a:lnSpc>
            </a:pPr>
            <a:r>
              <a:rPr lang="en-US" sz="3729" dirty="0" err="1">
                <a:solidFill>
                  <a:srgbClr val="203847"/>
                </a:solidFill>
                <a:latin typeface="Quicksand"/>
                <a:ea typeface="Quicksand"/>
                <a:cs typeface="Quicksand"/>
                <a:sym typeface="Quicksand"/>
              </a:rPr>
              <a:t>Kết</a:t>
            </a:r>
            <a:r>
              <a:rPr lang="en-US" sz="3729" dirty="0">
                <a:solidFill>
                  <a:srgbClr val="203847"/>
                </a:solidFill>
                <a:latin typeface="Quicksand"/>
                <a:ea typeface="Quicksand"/>
                <a:cs typeface="Quicksand"/>
                <a:sym typeface="Quicksand"/>
              </a:rPr>
              <a:t> </a:t>
            </a:r>
            <a:r>
              <a:rPr lang="en-US" sz="3729" dirty="0" err="1">
                <a:solidFill>
                  <a:srgbClr val="203847"/>
                </a:solidFill>
                <a:latin typeface="Quicksand"/>
                <a:ea typeface="Quicksand"/>
                <a:cs typeface="Quicksand"/>
                <a:sym typeface="Quicksand"/>
              </a:rPr>
              <a:t>quả</a:t>
            </a:r>
            <a:r>
              <a:rPr lang="en-US" sz="3729" dirty="0">
                <a:solidFill>
                  <a:srgbClr val="203847"/>
                </a:solidFill>
                <a:latin typeface="Quicksand"/>
                <a:ea typeface="Quicksand"/>
                <a:cs typeface="Quicksand"/>
                <a:sym typeface="Quicksand"/>
              </a:rPr>
              <a:t> </a:t>
            </a:r>
            <a:r>
              <a:rPr lang="en-US" sz="3729" dirty="0" err="1">
                <a:solidFill>
                  <a:srgbClr val="203847"/>
                </a:solidFill>
                <a:latin typeface="Quicksand"/>
                <a:ea typeface="Quicksand"/>
                <a:cs typeface="Quicksand"/>
                <a:sym typeface="Quicksand"/>
              </a:rPr>
              <a:t>dự</a:t>
            </a:r>
            <a:r>
              <a:rPr lang="en-US" sz="3729" dirty="0">
                <a:solidFill>
                  <a:srgbClr val="203847"/>
                </a:solidFill>
                <a:latin typeface="Quicksand"/>
                <a:ea typeface="Quicksand"/>
                <a:cs typeface="Quicksand"/>
                <a:sym typeface="Quicksand"/>
              </a:rPr>
              <a:t> </a:t>
            </a:r>
            <a:r>
              <a:rPr lang="en-US" sz="3729" dirty="0" err="1">
                <a:solidFill>
                  <a:srgbClr val="203847"/>
                </a:solidFill>
                <a:latin typeface="Quicksand"/>
                <a:ea typeface="Quicksand"/>
                <a:cs typeface="Quicksand"/>
                <a:sym typeface="Quicksand"/>
              </a:rPr>
              <a:t>đoán</a:t>
            </a:r>
            <a:r>
              <a:rPr lang="en-US" sz="3729" dirty="0">
                <a:solidFill>
                  <a:srgbClr val="203847"/>
                </a:solidFill>
                <a:latin typeface="Quicksand"/>
                <a:ea typeface="Quicksand"/>
                <a:cs typeface="Quicksand"/>
                <a:sym typeface="Quicksand"/>
              </a:rPr>
              <a:t> </a:t>
            </a:r>
            <a:r>
              <a:rPr lang="en-US" sz="3729" dirty="0" err="1">
                <a:solidFill>
                  <a:srgbClr val="203847"/>
                </a:solidFill>
                <a:latin typeface="Quicksand"/>
                <a:ea typeface="Quicksand"/>
                <a:cs typeface="Quicksand"/>
                <a:sym typeface="Quicksand"/>
              </a:rPr>
              <a:t>các</a:t>
            </a:r>
            <a:r>
              <a:rPr lang="en-US" sz="3729" dirty="0">
                <a:solidFill>
                  <a:srgbClr val="203847"/>
                </a:solidFill>
                <a:latin typeface="Quicksand"/>
                <a:ea typeface="Quicksand"/>
                <a:cs typeface="Quicksand"/>
                <a:sym typeface="Quicksand"/>
              </a:rPr>
              <a:t> </a:t>
            </a:r>
            <a:r>
              <a:rPr lang="en-US" sz="3729" dirty="0" err="1">
                <a:solidFill>
                  <a:srgbClr val="203847"/>
                </a:solidFill>
                <a:latin typeface="Quicksand"/>
                <a:ea typeface="Quicksand"/>
                <a:cs typeface="Quicksand"/>
                <a:sym typeface="Quicksand"/>
              </a:rPr>
              <a:t>mô</a:t>
            </a:r>
            <a:r>
              <a:rPr lang="en-US" sz="3729" dirty="0">
                <a:solidFill>
                  <a:srgbClr val="203847"/>
                </a:solidFill>
                <a:latin typeface="Quicksand"/>
                <a:ea typeface="Quicksand"/>
                <a:cs typeface="Quicksand"/>
                <a:sym typeface="Quicksand"/>
              </a:rPr>
              <a:t> </a:t>
            </a:r>
            <a:r>
              <a:rPr lang="en-US" sz="3729" dirty="0" err="1">
                <a:solidFill>
                  <a:srgbClr val="203847"/>
                </a:solidFill>
                <a:latin typeface="Quicksand"/>
                <a:ea typeface="Quicksand"/>
                <a:cs typeface="Quicksand"/>
                <a:sym typeface="Quicksand"/>
              </a:rPr>
              <a:t>hình</a:t>
            </a:r>
            <a:r>
              <a:rPr lang="en-US" sz="3729" dirty="0">
                <a:solidFill>
                  <a:srgbClr val="203847"/>
                </a:solidFill>
                <a:latin typeface="Quicksand"/>
                <a:ea typeface="Quicksand"/>
                <a:cs typeface="Quicksand"/>
                <a:sym typeface="Quicksand"/>
              </a:rPr>
              <a:t>:</a:t>
            </a:r>
          </a:p>
        </p:txBody>
      </p:sp>
      <p:graphicFrame>
        <p:nvGraphicFramePr>
          <p:cNvPr id="9" name="Table 8">
            <a:extLst>
              <a:ext uri="{FF2B5EF4-FFF2-40B4-BE49-F238E27FC236}">
                <a16:creationId xmlns:a16="http://schemas.microsoft.com/office/drawing/2014/main" id="{B0D63142-7032-4486-92AF-1EAA2A8850F5}"/>
              </a:ext>
            </a:extLst>
          </p:cNvPr>
          <p:cNvGraphicFramePr>
            <a:graphicFrameLocks noGrp="1"/>
          </p:cNvGraphicFramePr>
          <p:nvPr>
            <p:extLst>
              <p:ext uri="{D42A27DB-BD31-4B8C-83A1-F6EECF244321}">
                <p14:modId xmlns:p14="http://schemas.microsoft.com/office/powerpoint/2010/main" val="4190901068"/>
              </p:ext>
            </p:extLst>
          </p:nvPr>
        </p:nvGraphicFramePr>
        <p:xfrm>
          <a:off x="637540" y="3672386"/>
          <a:ext cx="11021059" cy="4727148"/>
        </p:xfrm>
        <a:graphic>
          <a:graphicData uri="http://schemas.openxmlformats.org/drawingml/2006/table">
            <a:tbl>
              <a:tblPr firstRow="1" firstCol="1" bandRow="1">
                <a:tableStyleId>{5C22544A-7EE6-4342-B048-85BDC9FD1C3A}</a:tableStyleId>
              </a:tblPr>
              <a:tblGrid>
                <a:gridCol w="2751617">
                  <a:extLst>
                    <a:ext uri="{9D8B030D-6E8A-4147-A177-3AD203B41FA5}">
                      <a16:colId xmlns:a16="http://schemas.microsoft.com/office/drawing/2014/main" val="328660332"/>
                    </a:ext>
                  </a:extLst>
                </a:gridCol>
                <a:gridCol w="2068272">
                  <a:extLst>
                    <a:ext uri="{9D8B030D-6E8A-4147-A177-3AD203B41FA5}">
                      <a16:colId xmlns:a16="http://schemas.microsoft.com/office/drawing/2014/main" val="139768526"/>
                    </a:ext>
                  </a:extLst>
                </a:gridCol>
                <a:gridCol w="2105966">
                  <a:extLst>
                    <a:ext uri="{9D8B030D-6E8A-4147-A177-3AD203B41FA5}">
                      <a16:colId xmlns:a16="http://schemas.microsoft.com/office/drawing/2014/main" val="121498851"/>
                    </a:ext>
                  </a:extLst>
                </a:gridCol>
                <a:gridCol w="2047602">
                  <a:extLst>
                    <a:ext uri="{9D8B030D-6E8A-4147-A177-3AD203B41FA5}">
                      <a16:colId xmlns:a16="http://schemas.microsoft.com/office/drawing/2014/main" val="2392245793"/>
                    </a:ext>
                  </a:extLst>
                </a:gridCol>
                <a:gridCol w="2047602">
                  <a:extLst>
                    <a:ext uri="{9D8B030D-6E8A-4147-A177-3AD203B41FA5}">
                      <a16:colId xmlns:a16="http://schemas.microsoft.com/office/drawing/2014/main" val="3410730866"/>
                    </a:ext>
                  </a:extLst>
                </a:gridCol>
              </a:tblGrid>
              <a:tr h="1181787">
                <a:tc>
                  <a:txBody>
                    <a:bodyPr/>
                    <a:lstStyle/>
                    <a:p>
                      <a:pPr marL="0" marR="0" algn="ctr">
                        <a:spcBef>
                          <a:spcPts val="0"/>
                        </a:spcBef>
                        <a:spcAft>
                          <a:spcPts val="1000"/>
                        </a:spcAft>
                        <a:tabLst>
                          <a:tab pos="270510" algn="l"/>
                          <a:tab pos="540385" algn="l"/>
                        </a:tabLst>
                      </a:pPr>
                      <a:r>
                        <a:rPr lang="en-US" sz="2400">
                          <a:effectLst/>
                          <a:latin typeface="Quicksand Medium" panose="020B0604020202020204" charset="0"/>
                        </a:rPr>
                        <a:t>Mô hình</a:t>
                      </a:r>
                      <a:endParaRPr lang="en-US" sz="2400">
                        <a:effectLst/>
                        <a:latin typeface="Quicksand Medium" panose="020B0604020202020204" charset="0"/>
                        <a:ea typeface="Times New Roman" panose="02020603050405020304" pitchFamily="18" charset="0"/>
                      </a:endParaRPr>
                    </a:p>
                  </a:txBody>
                  <a:tcPr marL="68580" marR="68580" marT="0" marB="0" anchor="ctr"/>
                </a:tc>
                <a:tc>
                  <a:txBody>
                    <a:bodyPr/>
                    <a:lstStyle/>
                    <a:p>
                      <a:pPr marL="0" marR="0" algn="ctr">
                        <a:spcBef>
                          <a:spcPts val="0"/>
                        </a:spcBef>
                        <a:spcAft>
                          <a:spcPts val="1000"/>
                        </a:spcAft>
                        <a:tabLst>
                          <a:tab pos="270510" algn="l"/>
                          <a:tab pos="540385" algn="l"/>
                        </a:tabLst>
                      </a:pPr>
                      <a:r>
                        <a:rPr lang="en-US" sz="2400">
                          <a:effectLst/>
                          <a:latin typeface="Quicksand Medium" panose="020B0604020202020204" charset="0"/>
                        </a:rPr>
                        <a:t>Accuracy</a:t>
                      </a:r>
                      <a:endParaRPr lang="en-US" sz="2400">
                        <a:effectLst/>
                        <a:latin typeface="Quicksand Medium" panose="020B0604020202020204" charset="0"/>
                        <a:ea typeface="Times New Roman" panose="02020603050405020304" pitchFamily="18" charset="0"/>
                      </a:endParaRPr>
                    </a:p>
                  </a:txBody>
                  <a:tcPr marL="68580" marR="68580" marT="0" marB="0" anchor="ctr"/>
                </a:tc>
                <a:tc>
                  <a:txBody>
                    <a:bodyPr/>
                    <a:lstStyle/>
                    <a:p>
                      <a:pPr marL="0" marR="0" algn="ctr">
                        <a:spcBef>
                          <a:spcPts val="0"/>
                        </a:spcBef>
                        <a:spcAft>
                          <a:spcPts val="1000"/>
                        </a:spcAft>
                        <a:tabLst>
                          <a:tab pos="270510" algn="l"/>
                          <a:tab pos="540385" algn="l"/>
                        </a:tabLst>
                      </a:pPr>
                      <a:r>
                        <a:rPr lang="en-US" sz="2400">
                          <a:effectLst/>
                          <a:latin typeface="Quicksand Medium" panose="020B0604020202020204" charset="0"/>
                        </a:rPr>
                        <a:t>Precision</a:t>
                      </a:r>
                      <a:endParaRPr lang="en-US" sz="2400">
                        <a:effectLst/>
                        <a:latin typeface="Quicksand Medium" panose="020B0604020202020204" charset="0"/>
                        <a:ea typeface="Times New Roman" panose="02020603050405020304" pitchFamily="18" charset="0"/>
                      </a:endParaRPr>
                    </a:p>
                  </a:txBody>
                  <a:tcPr marL="68580" marR="68580" marT="0" marB="0" anchor="ctr"/>
                </a:tc>
                <a:tc>
                  <a:txBody>
                    <a:bodyPr/>
                    <a:lstStyle/>
                    <a:p>
                      <a:pPr marL="0" marR="0" algn="ctr">
                        <a:spcBef>
                          <a:spcPts val="0"/>
                        </a:spcBef>
                        <a:spcAft>
                          <a:spcPts val="1000"/>
                        </a:spcAft>
                        <a:tabLst>
                          <a:tab pos="270510" algn="l"/>
                          <a:tab pos="540385" algn="l"/>
                        </a:tabLst>
                      </a:pPr>
                      <a:r>
                        <a:rPr lang="en-US" sz="2400">
                          <a:effectLst/>
                          <a:latin typeface="Quicksand Medium" panose="020B0604020202020204" charset="0"/>
                        </a:rPr>
                        <a:t>Recall</a:t>
                      </a:r>
                      <a:endParaRPr lang="en-US" sz="2400">
                        <a:effectLst/>
                        <a:latin typeface="Quicksand Medium" panose="020B0604020202020204" charset="0"/>
                        <a:ea typeface="Times New Roman" panose="02020603050405020304" pitchFamily="18" charset="0"/>
                      </a:endParaRPr>
                    </a:p>
                  </a:txBody>
                  <a:tcPr marL="68580" marR="68580" marT="0" marB="0" anchor="ctr"/>
                </a:tc>
                <a:tc>
                  <a:txBody>
                    <a:bodyPr/>
                    <a:lstStyle/>
                    <a:p>
                      <a:pPr marL="0" marR="0" algn="ctr">
                        <a:spcBef>
                          <a:spcPts val="0"/>
                        </a:spcBef>
                        <a:spcAft>
                          <a:spcPts val="1000"/>
                        </a:spcAft>
                        <a:tabLst>
                          <a:tab pos="270510" algn="l"/>
                          <a:tab pos="540385" algn="l"/>
                        </a:tabLst>
                      </a:pPr>
                      <a:r>
                        <a:rPr lang="en-US" sz="2400">
                          <a:effectLst/>
                          <a:latin typeface="Quicksand Medium" panose="020B0604020202020204" charset="0"/>
                        </a:rPr>
                        <a:t>F1-Score</a:t>
                      </a:r>
                      <a:endParaRPr lang="en-US" sz="2400">
                        <a:effectLst/>
                        <a:latin typeface="Quicksand Medium" panose="020B0604020202020204" charset="0"/>
                        <a:ea typeface="Times New Roman" panose="02020603050405020304" pitchFamily="18" charset="0"/>
                      </a:endParaRPr>
                    </a:p>
                  </a:txBody>
                  <a:tcPr marL="68580" marR="68580" marT="0" marB="0" anchor="ctr"/>
                </a:tc>
                <a:extLst>
                  <a:ext uri="{0D108BD9-81ED-4DB2-BD59-A6C34878D82A}">
                    <a16:rowId xmlns:a16="http://schemas.microsoft.com/office/drawing/2014/main" val="165041295"/>
                  </a:ext>
                </a:extLst>
              </a:tr>
              <a:tr h="1181787">
                <a:tc>
                  <a:txBody>
                    <a:bodyPr/>
                    <a:lstStyle/>
                    <a:p>
                      <a:pPr marL="0" marR="0">
                        <a:spcBef>
                          <a:spcPts val="0"/>
                        </a:spcBef>
                        <a:spcAft>
                          <a:spcPts val="1000"/>
                        </a:spcAft>
                        <a:tabLst>
                          <a:tab pos="270510" algn="l"/>
                          <a:tab pos="540385" algn="l"/>
                        </a:tabLst>
                      </a:pPr>
                      <a:r>
                        <a:rPr lang="en-US" sz="2400">
                          <a:effectLst/>
                          <a:latin typeface="Quicksand Medium" panose="020B0604020202020204" charset="0"/>
                        </a:rPr>
                        <a:t>CNN </a:t>
                      </a:r>
                      <a:endParaRPr lang="en-US" sz="2400">
                        <a:effectLst/>
                        <a:latin typeface="Quicksand Medium" panose="020B0604020202020204" charset="0"/>
                        <a:ea typeface="Times New Roman" panose="02020603050405020304" pitchFamily="18" charset="0"/>
                      </a:endParaRPr>
                    </a:p>
                  </a:txBody>
                  <a:tcPr marL="68580" marR="68580" marT="0" marB="0" anchor="ctr"/>
                </a:tc>
                <a:tc>
                  <a:txBody>
                    <a:bodyPr/>
                    <a:lstStyle/>
                    <a:p>
                      <a:pPr marL="0" marR="0">
                        <a:spcBef>
                          <a:spcPts val="0"/>
                        </a:spcBef>
                        <a:spcAft>
                          <a:spcPts val="1000"/>
                        </a:spcAft>
                        <a:tabLst>
                          <a:tab pos="270510" algn="l"/>
                          <a:tab pos="540385" algn="l"/>
                        </a:tabLst>
                      </a:pPr>
                      <a:r>
                        <a:rPr lang="en-US" sz="2400">
                          <a:effectLst/>
                          <a:latin typeface="Quicksand Medium" panose="020B0604020202020204" charset="0"/>
                        </a:rPr>
                        <a:t>0.8979</a:t>
                      </a:r>
                      <a:endParaRPr lang="en-US" sz="2400">
                        <a:effectLst/>
                        <a:latin typeface="Quicksand Medium" panose="020B0604020202020204" charset="0"/>
                        <a:ea typeface="Times New Roman" panose="02020603050405020304" pitchFamily="18" charset="0"/>
                      </a:endParaRPr>
                    </a:p>
                  </a:txBody>
                  <a:tcPr marL="68580" marR="68580" marT="0" marB="0" anchor="ctr"/>
                </a:tc>
                <a:tc>
                  <a:txBody>
                    <a:bodyPr/>
                    <a:lstStyle/>
                    <a:p>
                      <a:pPr marL="0" marR="0">
                        <a:spcBef>
                          <a:spcPts val="0"/>
                        </a:spcBef>
                        <a:spcAft>
                          <a:spcPts val="1000"/>
                        </a:spcAft>
                        <a:tabLst>
                          <a:tab pos="270510" algn="l"/>
                          <a:tab pos="540385" algn="l"/>
                        </a:tabLst>
                      </a:pPr>
                      <a:r>
                        <a:rPr lang="en-US" sz="2400">
                          <a:effectLst/>
                          <a:latin typeface="Quicksand Medium" panose="020B0604020202020204" charset="0"/>
                        </a:rPr>
                        <a:t>0.9097</a:t>
                      </a:r>
                      <a:endParaRPr lang="en-US" sz="2400">
                        <a:effectLst/>
                        <a:latin typeface="Quicksand Medium" panose="020B0604020202020204" charset="0"/>
                        <a:ea typeface="Times New Roman" panose="02020603050405020304" pitchFamily="18" charset="0"/>
                      </a:endParaRPr>
                    </a:p>
                  </a:txBody>
                  <a:tcPr marL="68580" marR="68580" marT="0" marB="0" anchor="ctr"/>
                </a:tc>
                <a:tc>
                  <a:txBody>
                    <a:bodyPr/>
                    <a:lstStyle/>
                    <a:p>
                      <a:pPr marL="0" marR="0">
                        <a:spcBef>
                          <a:spcPts val="0"/>
                        </a:spcBef>
                        <a:spcAft>
                          <a:spcPts val="1000"/>
                        </a:spcAft>
                        <a:tabLst>
                          <a:tab pos="270510" algn="l"/>
                          <a:tab pos="540385" algn="l"/>
                        </a:tabLst>
                      </a:pPr>
                      <a:r>
                        <a:rPr lang="en-US" sz="2400">
                          <a:effectLst/>
                          <a:latin typeface="Quicksand Medium" panose="020B0604020202020204" charset="0"/>
                        </a:rPr>
                        <a:t>0.8979</a:t>
                      </a:r>
                      <a:endParaRPr lang="en-US" sz="2400">
                        <a:effectLst/>
                        <a:latin typeface="Quicksand Medium" panose="020B0604020202020204" charset="0"/>
                        <a:ea typeface="Times New Roman" panose="02020603050405020304" pitchFamily="18" charset="0"/>
                      </a:endParaRPr>
                    </a:p>
                  </a:txBody>
                  <a:tcPr marL="68580" marR="68580" marT="0" marB="0" anchor="ctr"/>
                </a:tc>
                <a:tc>
                  <a:txBody>
                    <a:bodyPr/>
                    <a:lstStyle/>
                    <a:p>
                      <a:pPr marL="0" marR="0">
                        <a:spcBef>
                          <a:spcPts val="0"/>
                        </a:spcBef>
                        <a:spcAft>
                          <a:spcPts val="1000"/>
                        </a:spcAft>
                        <a:tabLst>
                          <a:tab pos="270510" algn="l"/>
                          <a:tab pos="540385" algn="l"/>
                        </a:tabLst>
                      </a:pPr>
                      <a:r>
                        <a:rPr lang="en-US" sz="2400">
                          <a:effectLst/>
                          <a:latin typeface="Quicksand Medium" panose="020B0604020202020204" charset="0"/>
                        </a:rPr>
                        <a:t>0.8977</a:t>
                      </a:r>
                      <a:endParaRPr lang="en-US" sz="2400">
                        <a:effectLst/>
                        <a:latin typeface="Quicksand Medium" panose="020B0604020202020204" charset="0"/>
                        <a:ea typeface="Times New Roman" panose="02020603050405020304" pitchFamily="18" charset="0"/>
                      </a:endParaRPr>
                    </a:p>
                  </a:txBody>
                  <a:tcPr marL="68580" marR="68580" marT="0" marB="0" anchor="ctr"/>
                </a:tc>
                <a:extLst>
                  <a:ext uri="{0D108BD9-81ED-4DB2-BD59-A6C34878D82A}">
                    <a16:rowId xmlns:a16="http://schemas.microsoft.com/office/drawing/2014/main" val="2211067796"/>
                  </a:ext>
                </a:extLst>
              </a:tr>
              <a:tr h="1181787">
                <a:tc>
                  <a:txBody>
                    <a:bodyPr/>
                    <a:lstStyle/>
                    <a:p>
                      <a:pPr marL="0" marR="0">
                        <a:spcBef>
                          <a:spcPts val="0"/>
                        </a:spcBef>
                        <a:spcAft>
                          <a:spcPts val="1000"/>
                        </a:spcAft>
                        <a:tabLst>
                          <a:tab pos="270510" algn="l"/>
                          <a:tab pos="540385" algn="l"/>
                        </a:tabLst>
                      </a:pPr>
                      <a:r>
                        <a:rPr lang="en-US" sz="2400">
                          <a:effectLst/>
                          <a:latin typeface="Quicksand Medium" panose="020B0604020202020204" charset="0"/>
                        </a:rPr>
                        <a:t>CNN-LSTM</a:t>
                      </a:r>
                      <a:endParaRPr lang="en-US" sz="2400">
                        <a:effectLst/>
                        <a:latin typeface="Quicksand Medium" panose="020B0604020202020204" charset="0"/>
                        <a:ea typeface="Times New Roman" panose="02020603050405020304" pitchFamily="18" charset="0"/>
                      </a:endParaRPr>
                    </a:p>
                  </a:txBody>
                  <a:tcPr marL="68580" marR="68580" marT="0" marB="0" anchor="ctr"/>
                </a:tc>
                <a:tc>
                  <a:txBody>
                    <a:bodyPr/>
                    <a:lstStyle/>
                    <a:p>
                      <a:pPr marL="0" marR="0">
                        <a:spcBef>
                          <a:spcPts val="0"/>
                        </a:spcBef>
                        <a:spcAft>
                          <a:spcPts val="1000"/>
                        </a:spcAft>
                        <a:tabLst>
                          <a:tab pos="270510" algn="l"/>
                          <a:tab pos="540385" algn="l"/>
                        </a:tabLst>
                      </a:pPr>
                      <a:r>
                        <a:rPr lang="en-US" sz="2400">
                          <a:effectLst/>
                          <a:latin typeface="Quicksand Medium" panose="020B0604020202020204" charset="0"/>
                        </a:rPr>
                        <a:t>0.6020</a:t>
                      </a:r>
                      <a:endParaRPr lang="en-US" sz="2400">
                        <a:effectLst/>
                        <a:latin typeface="Quicksand Medium" panose="020B0604020202020204" charset="0"/>
                        <a:ea typeface="Times New Roman" panose="02020603050405020304" pitchFamily="18" charset="0"/>
                      </a:endParaRPr>
                    </a:p>
                  </a:txBody>
                  <a:tcPr marL="68580" marR="68580" marT="0" marB="0" anchor="ctr"/>
                </a:tc>
                <a:tc>
                  <a:txBody>
                    <a:bodyPr/>
                    <a:lstStyle/>
                    <a:p>
                      <a:pPr marL="0" marR="0">
                        <a:spcBef>
                          <a:spcPts val="0"/>
                        </a:spcBef>
                        <a:spcAft>
                          <a:spcPts val="1000"/>
                        </a:spcAft>
                        <a:tabLst>
                          <a:tab pos="270510" algn="l"/>
                          <a:tab pos="540385" algn="l"/>
                        </a:tabLst>
                      </a:pPr>
                      <a:r>
                        <a:rPr lang="en-US" sz="2400" dirty="0">
                          <a:effectLst/>
                          <a:latin typeface="Quicksand Medium" panose="020B0604020202020204" charset="0"/>
                        </a:rPr>
                        <a:t>0.6333</a:t>
                      </a:r>
                      <a:endParaRPr lang="en-US" sz="2400" dirty="0">
                        <a:effectLst/>
                        <a:latin typeface="Quicksand Medium" panose="020B0604020202020204" charset="0"/>
                        <a:ea typeface="Times New Roman" panose="02020603050405020304" pitchFamily="18" charset="0"/>
                      </a:endParaRPr>
                    </a:p>
                  </a:txBody>
                  <a:tcPr marL="68580" marR="68580" marT="0" marB="0" anchor="ctr"/>
                </a:tc>
                <a:tc>
                  <a:txBody>
                    <a:bodyPr/>
                    <a:lstStyle/>
                    <a:p>
                      <a:pPr marL="0" marR="0">
                        <a:spcBef>
                          <a:spcPts val="0"/>
                        </a:spcBef>
                        <a:spcAft>
                          <a:spcPts val="1000"/>
                        </a:spcAft>
                        <a:tabLst>
                          <a:tab pos="270510" algn="l"/>
                          <a:tab pos="540385" algn="l"/>
                        </a:tabLst>
                      </a:pPr>
                      <a:r>
                        <a:rPr lang="en-US" sz="2400">
                          <a:effectLst/>
                          <a:latin typeface="Quicksand Medium" panose="020B0604020202020204" charset="0"/>
                        </a:rPr>
                        <a:t>0.6226</a:t>
                      </a:r>
                      <a:endParaRPr lang="en-US" sz="2400">
                        <a:effectLst/>
                        <a:latin typeface="Quicksand Medium" panose="020B0604020202020204" charset="0"/>
                        <a:ea typeface="Times New Roman" panose="02020603050405020304" pitchFamily="18" charset="0"/>
                      </a:endParaRPr>
                    </a:p>
                  </a:txBody>
                  <a:tcPr marL="68580" marR="68580" marT="0" marB="0" anchor="ctr"/>
                </a:tc>
                <a:tc>
                  <a:txBody>
                    <a:bodyPr/>
                    <a:lstStyle/>
                    <a:p>
                      <a:pPr marL="0" marR="0">
                        <a:spcBef>
                          <a:spcPts val="0"/>
                        </a:spcBef>
                        <a:spcAft>
                          <a:spcPts val="1000"/>
                        </a:spcAft>
                        <a:tabLst>
                          <a:tab pos="270510" algn="l"/>
                          <a:tab pos="540385" algn="l"/>
                        </a:tabLst>
                      </a:pPr>
                      <a:r>
                        <a:rPr lang="en-US" sz="2400">
                          <a:effectLst/>
                          <a:latin typeface="Quicksand Medium" panose="020B0604020202020204" charset="0"/>
                        </a:rPr>
                        <a:t>0.5987</a:t>
                      </a:r>
                      <a:endParaRPr lang="en-US" sz="2400">
                        <a:effectLst/>
                        <a:latin typeface="Quicksand Medium" panose="020B0604020202020204" charset="0"/>
                        <a:ea typeface="Times New Roman" panose="02020603050405020304" pitchFamily="18" charset="0"/>
                      </a:endParaRPr>
                    </a:p>
                  </a:txBody>
                  <a:tcPr marL="68580" marR="68580" marT="0" marB="0" anchor="ctr"/>
                </a:tc>
                <a:extLst>
                  <a:ext uri="{0D108BD9-81ED-4DB2-BD59-A6C34878D82A}">
                    <a16:rowId xmlns:a16="http://schemas.microsoft.com/office/drawing/2014/main" val="3517805323"/>
                  </a:ext>
                </a:extLst>
              </a:tr>
              <a:tr h="1181787">
                <a:tc>
                  <a:txBody>
                    <a:bodyPr/>
                    <a:lstStyle/>
                    <a:p>
                      <a:pPr marL="0" marR="0">
                        <a:spcBef>
                          <a:spcPts val="0"/>
                        </a:spcBef>
                        <a:spcAft>
                          <a:spcPts val="1000"/>
                        </a:spcAft>
                        <a:tabLst>
                          <a:tab pos="270510" algn="l"/>
                          <a:tab pos="540385" algn="l"/>
                        </a:tabLst>
                      </a:pPr>
                      <a:r>
                        <a:rPr lang="en-US" sz="2400">
                          <a:effectLst/>
                          <a:latin typeface="Quicksand Medium" panose="020B0604020202020204" charset="0"/>
                        </a:rPr>
                        <a:t>CNN-Transformer</a:t>
                      </a:r>
                      <a:endParaRPr lang="en-US" sz="2400">
                        <a:effectLst/>
                        <a:latin typeface="Quicksand Medium" panose="020B0604020202020204" charset="0"/>
                        <a:ea typeface="Times New Roman" panose="02020603050405020304" pitchFamily="18" charset="0"/>
                      </a:endParaRPr>
                    </a:p>
                  </a:txBody>
                  <a:tcPr marL="68580" marR="68580" marT="0" marB="0" anchor="ctr"/>
                </a:tc>
                <a:tc>
                  <a:txBody>
                    <a:bodyPr/>
                    <a:lstStyle/>
                    <a:p>
                      <a:pPr marL="0" marR="0">
                        <a:spcBef>
                          <a:spcPts val="0"/>
                        </a:spcBef>
                        <a:spcAft>
                          <a:spcPts val="1000"/>
                        </a:spcAft>
                        <a:tabLst>
                          <a:tab pos="270510" algn="l"/>
                          <a:tab pos="540385" algn="l"/>
                        </a:tabLst>
                      </a:pPr>
                      <a:r>
                        <a:rPr lang="en-US" sz="2400">
                          <a:effectLst/>
                          <a:latin typeface="Quicksand Medium" panose="020B0604020202020204" charset="0"/>
                        </a:rPr>
                        <a:t>0.5967</a:t>
                      </a:r>
                      <a:endParaRPr lang="en-US" sz="2400">
                        <a:effectLst/>
                        <a:latin typeface="Quicksand Medium" panose="020B0604020202020204" charset="0"/>
                        <a:ea typeface="Times New Roman" panose="02020603050405020304" pitchFamily="18" charset="0"/>
                      </a:endParaRPr>
                    </a:p>
                  </a:txBody>
                  <a:tcPr marL="68580" marR="68580" marT="0" marB="0" anchor="ctr"/>
                </a:tc>
                <a:tc>
                  <a:txBody>
                    <a:bodyPr/>
                    <a:lstStyle/>
                    <a:p>
                      <a:pPr marL="0" marR="0">
                        <a:spcBef>
                          <a:spcPts val="0"/>
                        </a:spcBef>
                        <a:spcAft>
                          <a:spcPts val="1000"/>
                        </a:spcAft>
                        <a:tabLst>
                          <a:tab pos="270510" algn="l"/>
                          <a:tab pos="540385" algn="l"/>
                        </a:tabLst>
                      </a:pPr>
                      <a:r>
                        <a:rPr lang="en-US" sz="2400">
                          <a:effectLst/>
                          <a:latin typeface="Quicksand Medium" panose="020B0604020202020204" charset="0"/>
                        </a:rPr>
                        <a:t>0.6489</a:t>
                      </a:r>
                      <a:endParaRPr lang="en-US" sz="2400">
                        <a:effectLst/>
                        <a:latin typeface="Quicksand Medium" panose="020B0604020202020204" charset="0"/>
                        <a:ea typeface="Times New Roman" panose="02020603050405020304" pitchFamily="18" charset="0"/>
                      </a:endParaRPr>
                    </a:p>
                  </a:txBody>
                  <a:tcPr marL="68580" marR="68580" marT="0" marB="0" anchor="ctr"/>
                </a:tc>
                <a:tc>
                  <a:txBody>
                    <a:bodyPr/>
                    <a:lstStyle/>
                    <a:p>
                      <a:pPr marL="0" marR="0">
                        <a:spcBef>
                          <a:spcPts val="0"/>
                        </a:spcBef>
                        <a:spcAft>
                          <a:spcPts val="1000"/>
                        </a:spcAft>
                        <a:tabLst>
                          <a:tab pos="270510" algn="l"/>
                          <a:tab pos="540385" algn="l"/>
                        </a:tabLst>
                      </a:pPr>
                      <a:r>
                        <a:rPr lang="en-US" sz="2400">
                          <a:effectLst/>
                          <a:latin typeface="Quicksand Medium" panose="020B0604020202020204" charset="0"/>
                        </a:rPr>
                        <a:t>0.6345</a:t>
                      </a:r>
                      <a:endParaRPr lang="en-US" sz="2400">
                        <a:effectLst/>
                        <a:latin typeface="Quicksand Medium" panose="020B0604020202020204" charset="0"/>
                        <a:ea typeface="Times New Roman" panose="02020603050405020304" pitchFamily="18" charset="0"/>
                      </a:endParaRPr>
                    </a:p>
                  </a:txBody>
                  <a:tcPr marL="68580" marR="68580" marT="0" marB="0" anchor="ctr"/>
                </a:tc>
                <a:tc>
                  <a:txBody>
                    <a:bodyPr/>
                    <a:lstStyle/>
                    <a:p>
                      <a:pPr marL="0" marR="0">
                        <a:spcBef>
                          <a:spcPts val="0"/>
                        </a:spcBef>
                        <a:spcAft>
                          <a:spcPts val="1000"/>
                        </a:spcAft>
                        <a:tabLst>
                          <a:tab pos="270510" algn="l"/>
                          <a:tab pos="540385" algn="l"/>
                        </a:tabLst>
                      </a:pPr>
                      <a:r>
                        <a:rPr lang="en-US" sz="2400" dirty="0">
                          <a:effectLst/>
                          <a:latin typeface="Quicksand Medium" panose="020B0604020202020204" charset="0"/>
                        </a:rPr>
                        <a:t>0.6416</a:t>
                      </a:r>
                      <a:endParaRPr lang="en-US" sz="2400" dirty="0">
                        <a:effectLst/>
                        <a:latin typeface="Quicksand Medium" panose="020B0604020202020204" charset="0"/>
                        <a:ea typeface="Times New Roman" panose="02020603050405020304" pitchFamily="18" charset="0"/>
                      </a:endParaRPr>
                    </a:p>
                  </a:txBody>
                  <a:tcPr marL="68580" marR="68580" marT="0" marB="0" anchor="ctr"/>
                </a:tc>
                <a:extLst>
                  <a:ext uri="{0D108BD9-81ED-4DB2-BD59-A6C34878D82A}">
                    <a16:rowId xmlns:a16="http://schemas.microsoft.com/office/drawing/2014/main" val="3044718336"/>
                  </a:ext>
                </a:extLst>
              </a:tr>
            </a:tbl>
          </a:graphicData>
        </a:graphic>
      </p:graphicFrame>
      <p:pic>
        <p:nvPicPr>
          <p:cNvPr id="11" name="Picture 10">
            <a:extLst>
              <a:ext uri="{FF2B5EF4-FFF2-40B4-BE49-F238E27FC236}">
                <a16:creationId xmlns:a16="http://schemas.microsoft.com/office/drawing/2014/main" id="{ED6794E2-2E47-42A5-B0E1-885B7F2AB251}"/>
              </a:ext>
            </a:extLst>
          </p:cNvPr>
          <p:cNvPicPr/>
          <p:nvPr/>
        </p:nvPicPr>
        <p:blipFill>
          <a:blip r:embed="rId6"/>
          <a:stretch>
            <a:fillRect/>
          </a:stretch>
        </p:blipFill>
        <p:spPr>
          <a:xfrm>
            <a:off x="11887200" y="2165548"/>
            <a:ext cx="5927804" cy="6366585"/>
          </a:xfrm>
          <a:prstGeom prst="rect">
            <a:avLst/>
          </a:prstGeom>
        </p:spPr>
      </p:pic>
    </p:spTree>
    <p:extLst>
      <p:ext uri="{BB962C8B-B14F-4D97-AF65-F5344CB8AC3E}">
        <p14:creationId xmlns:p14="http://schemas.microsoft.com/office/powerpoint/2010/main" val="6848735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321771"/>
            <a:ext cx="14058900" cy="1117614"/>
          </a:xfrm>
          <a:prstGeom prst="rect">
            <a:avLst/>
          </a:prstGeom>
        </p:spPr>
        <p:txBody>
          <a:bodyPr wrap="square" lIns="0" tIns="0" rIns="0" bIns="0" rtlCol="0" anchor="t">
            <a:spAutoFit/>
          </a:bodyPr>
          <a:lstStyle/>
          <a:p>
            <a:pPr algn="just">
              <a:lnSpc>
                <a:spcPts val="9675"/>
              </a:lnSpc>
              <a:spcBef>
                <a:spcPct val="0"/>
              </a:spcBef>
            </a:pPr>
            <a:r>
              <a:rPr lang="en-US" sz="5600" b="1" dirty="0">
                <a:latin typeface="Quicksand Semi-Bold"/>
                <a:ea typeface="Quicksand Semi-Bold"/>
                <a:cs typeface="Quicksand Semi-Bold"/>
                <a:sym typeface="Quicksand Semi-Bold"/>
              </a:rPr>
              <a:t>4. </a:t>
            </a:r>
            <a:r>
              <a:rPr lang="en-US" sz="6000" b="1" dirty="0" err="1">
                <a:solidFill>
                  <a:srgbClr val="374F5F"/>
                </a:solidFill>
                <a:latin typeface="Quicksand Medium"/>
                <a:ea typeface="Quicksand Medium"/>
                <a:cs typeface="Quicksand Medium"/>
                <a:sym typeface="Quicksand Medium"/>
              </a:rPr>
              <a:t>Áp</a:t>
            </a:r>
            <a:r>
              <a:rPr lang="en-US" sz="6000" b="1" dirty="0">
                <a:solidFill>
                  <a:srgbClr val="374F5F"/>
                </a:solidFill>
                <a:latin typeface="Quicksand Medium"/>
                <a:ea typeface="Quicksand Medium"/>
                <a:cs typeface="Quicksand Medium"/>
                <a:sym typeface="Quicksand Medium"/>
              </a:rPr>
              <a:t> </a:t>
            </a:r>
            <a:r>
              <a:rPr lang="en-US" sz="6000" b="1" dirty="0" err="1">
                <a:solidFill>
                  <a:srgbClr val="374F5F"/>
                </a:solidFill>
                <a:latin typeface="Quicksand Medium"/>
                <a:ea typeface="Quicksand Medium"/>
                <a:cs typeface="Quicksand Medium"/>
                <a:sym typeface="Quicksand Medium"/>
              </a:rPr>
              <a:t>dụng</a:t>
            </a:r>
            <a:r>
              <a:rPr lang="en-US" sz="6000" b="1" dirty="0">
                <a:solidFill>
                  <a:srgbClr val="374F5F"/>
                </a:solidFill>
                <a:latin typeface="Quicksand Medium"/>
                <a:ea typeface="Quicksand Medium"/>
                <a:cs typeface="Quicksand Medium"/>
                <a:sym typeface="Quicksand Medium"/>
              </a:rPr>
              <a:t> </a:t>
            </a:r>
            <a:r>
              <a:rPr lang="en-US" sz="6000" b="1" dirty="0" err="1">
                <a:solidFill>
                  <a:srgbClr val="374F5F"/>
                </a:solidFill>
                <a:latin typeface="Quicksand Medium"/>
                <a:ea typeface="Quicksand Medium"/>
                <a:cs typeface="Quicksand Medium"/>
                <a:sym typeface="Quicksand Medium"/>
              </a:rPr>
              <a:t>trong</a:t>
            </a:r>
            <a:r>
              <a:rPr lang="en-US" sz="6000" b="1" dirty="0">
                <a:solidFill>
                  <a:srgbClr val="374F5F"/>
                </a:solidFill>
                <a:latin typeface="Quicksand Medium"/>
                <a:ea typeface="Quicksand Medium"/>
                <a:cs typeface="Quicksand Medium"/>
                <a:sym typeface="Quicksand Medium"/>
              </a:rPr>
              <a:t> </a:t>
            </a:r>
            <a:r>
              <a:rPr lang="en-US" sz="6000" b="1" dirty="0" err="1">
                <a:solidFill>
                  <a:srgbClr val="374F5F"/>
                </a:solidFill>
                <a:latin typeface="Quicksand Medium"/>
                <a:ea typeface="Quicksand Medium"/>
                <a:cs typeface="Quicksand Medium"/>
                <a:sym typeface="Quicksand Medium"/>
              </a:rPr>
              <a:t>bài</a:t>
            </a:r>
            <a:r>
              <a:rPr lang="en-US" sz="6000" b="1" dirty="0">
                <a:solidFill>
                  <a:srgbClr val="374F5F"/>
                </a:solidFill>
                <a:latin typeface="Quicksand Medium"/>
                <a:ea typeface="Quicksand Medium"/>
                <a:cs typeface="Quicksand Medium"/>
                <a:sym typeface="Quicksand Medium"/>
              </a:rPr>
              <a:t> </a:t>
            </a:r>
            <a:r>
              <a:rPr lang="en-US" sz="6000" b="1" dirty="0" err="1">
                <a:solidFill>
                  <a:srgbClr val="374F5F"/>
                </a:solidFill>
                <a:latin typeface="Quicksand Medium"/>
                <a:ea typeface="Quicksand Medium"/>
                <a:cs typeface="Quicksand Medium"/>
                <a:sym typeface="Quicksand Medium"/>
              </a:rPr>
              <a:t>toán</a:t>
            </a:r>
            <a:endParaRPr lang="en-US" sz="6000" b="1" dirty="0">
              <a:solidFill>
                <a:srgbClr val="374F5F"/>
              </a:solidFill>
              <a:latin typeface="Quicksand Medium"/>
              <a:ea typeface="Quicksand Medium"/>
              <a:cs typeface="Quicksand Medium"/>
              <a:sym typeface="Quicksand Medium"/>
            </a:endParaRPr>
          </a:p>
        </p:txBody>
      </p:sp>
      <p:sp>
        <p:nvSpPr>
          <p:cNvPr id="3" name="Freeform 3"/>
          <p:cNvSpPr/>
          <p:nvPr/>
        </p:nvSpPr>
        <p:spPr>
          <a:xfrm rot="3520730">
            <a:off x="12716433" y="-2322789"/>
            <a:ext cx="8681652" cy="5215575"/>
          </a:xfrm>
          <a:custGeom>
            <a:avLst/>
            <a:gdLst/>
            <a:ahLst/>
            <a:cxnLst/>
            <a:rect l="l" t="t" r="r" b="b"/>
            <a:pathLst>
              <a:path w="8782363" h="5013931">
                <a:moveTo>
                  <a:pt x="0" y="0"/>
                </a:moveTo>
                <a:lnTo>
                  <a:pt x="8782362" y="0"/>
                </a:lnTo>
                <a:lnTo>
                  <a:pt x="8782362" y="5013931"/>
                </a:lnTo>
                <a:lnTo>
                  <a:pt x="0" y="501393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4" name="Group 4"/>
          <p:cNvGrpSpPr/>
          <p:nvPr/>
        </p:nvGrpSpPr>
        <p:grpSpPr>
          <a:xfrm>
            <a:off x="-608680" y="9258300"/>
            <a:ext cx="19505361" cy="15817074"/>
            <a:chOff x="0" y="0"/>
            <a:chExt cx="26007147" cy="21089432"/>
          </a:xfrm>
        </p:grpSpPr>
        <p:grpSp>
          <p:nvGrpSpPr>
            <p:cNvPr id="5" name="Group 5"/>
            <p:cNvGrpSpPr/>
            <p:nvPr/>
          </p:nvGrpSpPr>
          <p:grpSpPr>
            <a:xfrm rot="-5400000">
              <a:off x="7701470" y="-7701470"/>
              <a:ext cx="10544716" cy="25947656"/>
              <a:chOff x="0" y="0"/>
              <a:chExt cx="1272376" cy="3130969"/>
            </a:xfrm>
          </p:grpSpPr>
          <p:sp>
            <p:nvSpPr>
              <p:cNvPr id="6" name="Freeform 6"/>
              <p:cNvSpPr/>
              <p:nvPr/>
            </p:nvSpPr>
            <p:spPr>
              <a:xfrm>
                <a:off x="0" y="0"/>
                <a:ext cx="1272376" cy="3130969"/>
              </a:xfrm>
              <a:custGeom>
                <a:avLst/>
                <a:gdLst/>
                <a:ahLst/>
                <a:cxnLst/>
                <a:rect l="l" t="t" r="r" b="b"/>
                <a:pathLst>
                  <a:path w="1272376" h="3130969">
                    <a:moveTo>
                      <a:pt x="0" y="0"/>
                    </a:moveTo>
                    <a:lnTo>
                      <a:pt x="1272376" y="0"/>
                    </a:lnTo>
                    <a:lnTo>
                      <a:pt x="1272376" y="3130969"/>
                    </a:lnTo>
                    <a:lnTo>
                      <a:pt x="0" y="3130969"/>
                    </a:lnTo>
                    <a:close/>
                  </a:path>
                </a:pathLst>
              </a:custGeom>
              <a:solidFill>
                <a:srgbClr val="476376"/>
              </a:solidFill>
            </p:spPr>
          </p:sp>
          <p:sp>
            <p:nvSpPr>
              <p:cNvPr id="7" name="TextBox 7"/>
              <p:cNvSpPr txBox="1"/>
              <p:nvPr/>
            </p:nvSpPr>
            <p:spPr>
              <a:xfrm>
                <a:off x="0" y="-114300"/>
                <a:ext cx="1272376" cy="3245269"/>
              </a:xfrm>
              <a:prstGeom prst="rect">
                <a:avLst/>
              </a:prstGeom>
            </p:spPr>
            <p:txBody>
              <a:bodyPr lIns="50800" tIns="50800" rIns="50800" bIns="50800" rtlCol="0" anchor="ctr"/>
              <a:lstStyle/>
              <a:p>
                <a:pPr algn="ctr">
                  <a:lnSpc>
                    <a:spcPts val="3765"/>
                  </a:lnSpc>
                </a:pPr>
                <a:endParaRPr/>
              </a:p>
            </p:txBody>
          </p:sp>
        </p:grpSp>
        <p:sp>
          <p:nvSpPr>
            <p:cNvPr id="8" name="Freeform 8"/>
            <p:cNvSpPr/>
            <p:nvPr/>
          </p:nvSpPr>
          <p:spPr>
            <a:xfrm rot="-5400000">
              <a:off x="2458858" y="-2458858"/>
              <a:ext cx="21089432" cy="26007147"/>
            </a:xfrm>
            <a:custGeom>
              <a:avLst/>
              <a:gdLst/>
              <a:ahLst/>
              <a:cxnLst/>
              <a:rect l="l" t="t" r="r" b="b"/>
              <a:pathLst>
                <a:path w="21089432" h="26007147">
                  <a:moveTo>
                    <a:pt x="0" y="0"/>
                  </a:moveTo>
                  <a:lnTo>
                    <a:pt x="21089432" y="0"/>
                  </a:lnTo>
                  <a:lnTo>
                    <a:pt x="21089432" y="26007148"/>
                  </a:lnTo>
                  <a:lnTo>
                    <a:pt x="0" y="26007148"/>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pSp>
      <p:sp>
        <p:nvSpPr>
          <p:cNvPr id="10" name="TextBox 10"/>
          <p:cNvSpPr txBox="1"/>
          <p:nvPr/>
        </p:nvSpPr>
        <p:spPr>
          <a:xfrm>
            <a:off x="1028700" y="2092911"/>
            <a:ext cx="15636174" cy="720710"/>
          </a:xfrm>
          <a:prstGeom prst="rect">
            <a:avLst/>
          </a:prstGeom>
        </p:spPr>
        <p:txBody>
          <a:bodyPr lIns="0" tIns="0" rIns="0" bIns="0" rtlCol="0" anchor="t">
            <a:spAutoFit/>
          </a:bodyPr>
          <a:lstStyle/>
          <a:p>
            <a:pPr marL="402553" lvl="1" algn="l">
              <a:lnSpc>
                <a:spcPts val="6339"/>
              </a:lnSpc>
            </a:pPr>
            <a:r>
              <a:rPr lang="en-US" sz="3729" dirty="0" err="1">
                <a:solidFill>
                  <a:srgbClr val="203847"/>
                </a:solidFill>
                <a:latin typeface="Quicksand"/>
                <a:ea typeface="Quicksand"/>
                <a:cs typeface="Quicksand"/>
                <a:sym typeface="Quicksand"/>
              </a:rPr>
              <a:t>Dự</a:t>
            </a:r>
            <a:r>
              <a:rPr lang="en-US" sz="3729" dirty="0">
                <a:solidFill>
                  <a:srgbClr val="203847"/>
                </a:solidFill>
                <a:latin typeface="Quicksand"/>
                <a:ea typeface="Quicksand"/>
                <a:cs typeface="Quicksand"/>
                <a:sym typeface="Quicksand"/>
              </a:rPr>
              <a:t> </a:t>
            </a:r>
            <a:r>
              <a:rPr lang="en-US" sz="3729" dirty="0" err="1">
                <a:solidFill>
                  <a:srgbClr val="203847"/>
                </a:solidFill>
                <a:latin typeface="Quicksand"/>
                <a:ea typeface="Quicksand"/>
                <a:cs typeface="Quicksand"/>
                <a:sym typeface="Quicksand"/>
              </a:rPr>
              <a:t>đoán</a:t>
            </a:r>
            <a:r>
              <a:rPr lang="en-US" sz="3729" dirty="0">
                <a:solidFill>
                  <a:srgbClr val="203847"/>
                </a:solidFill>
                <a:latin typeface="Quicksand"/>
                <a:ea typeface="Quicksand"/>
                <a:cs typeface="Quicksand"/>
                <a:sym typeface="Quicksand"/>
              </a:rPr>
              <a:t> </a:t>
            </a:r>
            <a:r>
              <a:rPr lang="en-US" sz="3729" dirty="0" err="1">
                <a:solidFill>
                  <a:srgbClr val="203847"/>
                </a:solidFill>
                <a:latin typeface="Quicksand"/>
                <a:ea typeface="Quicksand"/>
                <a:cs typeface="Quicksand"/>
                <a:sym typeface="Quicksand"/>
              </a:rPr>
              <a:t>đúng</a:t>
            </a:r>
            <a:r>
              <a:rPr lang="en-US" sz="3729" dirty="0">
                <a:solidFill>
                  <a:srgbClr val="203847"/>
                </a:solidFill>
                <a:latin typeface="Quicksand"/>
                <a:ea typeface="Quicksand"/>
                <a:cs typeface="Quicksand"/>
                <a:sym typeface="Quicksand"/>
              </a:rPr>
              <a:t> </a:t>
            </a:r>
            <a:r>
              <a:rPr lang="en-US" sz="3729" dirty="0" err="1">
                <a:solidFill>
                  <a:srgbClr val="203847"/>
                </a:solidFill>
                <a:latin typeface="Quicksand"/>
                <a:ea typeface="Quicksand"/>
                <a:cs typeface="Quicksand"/>
                <a:sym typeface="Quicksand"/>
              </a:rPr>
              <a:t>nhãn</a:t>
            </a:r>
            <a:r>
              <a:rPr lang="en-US" sz="3729" dirty="0">
                <a:solidFill>
                  <a:srgbClr val="203847"/>
                </a:solidFill>
                <a:latin typeface="Quicksand"/>
                <a:ea typeface="Quicksand"/>
                <a:cs typeface="Quicksand"/>
                <a:sym typeface="Quicksand"/>
              </a:rPr>
              <a:t> </a:t>
            </a:r>
            <a:r>
              <a:rPr lang="en-US" sz="3729" dirty="0" err="1">
                <a:solidFill>
                  <a:srgbClr val="203847"/>
                </a:solidFill>
                <a:latin typeface="Quicksand"/>
                <a:ea typeface="Quicksand"/>
                <a:cs typeface="Quicksand"/>
                <a:sym typeface="Quicksand"/>
              </a:rPr>
              <a:t>cho</a:t>
            </a:r>
            <a:r>
              <a:rPr lang="en-US" sz="3729" dirty="0">
                <a:solidFill>
                  <a:srgbClr val="203847"/>
                </a:solidFill>
                <a:latin typeface="Quicksand"/>
                <a:ea typeface="Quicksand"/>
                <a:cs typeface="Quicksand"/>
                <a:sym typeface="Quicksand"/>
              </a:rPr>
              <a:t> </a:t>
            </a:r>
            <a:r>
              <a:rPr lang="en-US" sz="3729" dirty="0" err="1">
                <a:solidFill>
                  <a:srgbClr val="203847"/>
                </a:solidFill>
                <a:latin typeface="Quicksand"/>
                <a:ea typeface="Quicksand"/>
                <a:cs typeface="Quicksand"/>
                <a:sym typeface="Quicksand"/>
              </a:rPr>
              <a:t>hình</a:t>
            </a:r>
            <a:r>
              <a:rPr lang="en-US" sz="3729" dirty="0">
                <a:solidFill>
                  <a:srgbClr val="203847"/>
                </a:solidFill>
                <a:latin typeface="Quicksand"/>
                <a:ea typeface="Quicksand"/>
                <a:cs typeface="Quicksand"/>
                <a:sym typeface="Quicksand"/>
              </a:rPr>
              <a:t> </a:t>
            </a:r>
            <a:r>
              <a:rPr lang="en-US" sz="3729" dirty="0" err="1">
                <a:solidFill>
                  <a:srgbClr val="203847"/>
                </a:solidFill>
                <a:latin typeface="Quicksand"/>
                <a:ea typeface="Quicksand"/>
                <a:cs typeface="Quicksand"/>
                <a:sym typeface="Quicksand"/>
              </a:rPr>
              <a:t>ảnh</a:t>
            </a:r>
            <a:r>
              <a:rPr lang="en-US" sz="3729" dirty="0">
                <a:solidFill>
                  <a:srgbClr val="203847"/>
                </a:solidFill>
                <a:latin typeface="Quicksand"/>
                <a:ea typeface="Quicksand"/>
                <a:cs typeface="Quicksand"/>
                <a:sym typeface="Quicksand"/>
              </a:rPr>
              <a:t> </a:t>
            </a:r>
            <a:r>
              <a:rPr lang="en-US" sz="3729" dirty="0" err="1">
                <a:solidFill>
                  <a:srgbClr val="203847"/>
                </a:solidFill>
                <a:latin typeface="Quicksand"/>
                <a:ea typeface="Quicksand"/>
                <a:cs typeface="Quicksand"/>
                <a:sym typeface="Quicksand"/>
              </a:rPr>
              <a:t>từ</a:t>
            </a:r>
            <a:r>
              <a:rPr lang="en-US" sz="3729" dirty="0">
                <a:solidFill>
                  <a:srgbClr val="203847"/>
                </a:solidFill>
                <a:latin typeface="Quicksand"/>
                <a:ea typeface="Quicksand"/>
                <a:cs typeface="Quicksand"/>
                <a:sym typeface="Quicksand"/>
              </a:rPr>
              <a:t> </a:t>
            </a:r>
            <a:r>
              <a:rPr lang="en-US" sz="3729" dirty="0" err="1">
                <a:solidFill>
                  <a:srgbClr val="203847"/>
                </a:solidFill>
                <a:latin typeface="Quicksand"/>
                <a:ea typeface="Quicksand"/>
                <a:cs typeface="Quicksand"/>
                <a:sym typeface="Quicksand"/>
              </a:rPr>
              <a:t>tập</a:t>
            </a:r>
            <a:r>
              <a:rPr lang="en-US" sz="3729" dirty="0">
                <a:solidFill>
                  <a:srgbClr val="203847"/>
                </a:solidFill>
                <a:latin typeface="Quicksand"/>
                <a:ea typeface="Quicksand"/>
                <a:cs typeface="Quicksand"/>
                <a:sym typeface="Quicksand"/>
              </a:rPr>
              <a:t> video:</a:t>
            </a:r>
          </a:p>
        </p:txBody>
      </p:sp>
      <p:pic>
        <p:nvPicPr>
          <p:cNvPr id="11" name="Picture 10">
            <a:extLst>
              <a:ext uri="{FF2B5EF4-FFF2-40B4-BE49-F238E27FC236}">
                <a16:creationId xmlns:a16="http://schemas.microsoft.com/office/drawing/2014/main" id="{E9439857-94EB-436F-B6C9-E4555A197DC1}"/>
              </a:ext>
            </a:extLst>
          </p:cNvPr>
          <p:cNvPicPr/>
          <p:nvPr/>
        </p:nvPicPr>
        <p:blipFill>
          <a:blip r:embed="rId7">
            <a:extLst>
              <a:ext uri="{28A0092B-C50C-407E-A947-70E740481C1C}">
                <a14:useLocalDpi xmlns:a14="http://schemas.microsoft.com/office/drawing/2010/main" val="0"/>
              </a:ext>
            </a:extLst>
          </a:blip>
          <a:srcRect/>
          <a:stretch>
            <a:fillRect/>
          </a:stretch>
        </p:blipFill>
        <p:spPr bwMode="auto">
          <a:xfrm>
            <a:off x="1905000" y="3070157"/>
            <a:ext cx="6278340" cy="4812429"/>
          </a:xfrm>
          <a:prstGeom prst="rect">
            <a:avLst/>
          </a:prstGeom>
          <a:noFill/>
          <a:ln>
            <a:noFill/>
          </a:ln>
        </p:spPr>
      </p:pic>
      <p:pic>
        <p:nvPicPr>
          <p:cNvPr id="13" name="Picture 12">
            <a:extLst>
              <a:ext uri="{FF2B5EF4-FFF2-40B4-BE49-F238E27FC236}">
                <a16:creationId xmlns:a16="http://schemas.microsoft.com/office/drawing/2014/main" id="{E831C4A5-AF2C-4209-A896-D0169F424584}"/>
              </a:ext>
            </a:extLst>
          </p:cNvPr>
          <p:cNvPicPr>
            <a:picLocks noChangeAspect="1"/>
          </p:cNvPicPr>
          <p:nvPr/>
        </p:nvPicPr>
        <p:blipFill>
          <a:blip r:embed="rId8"/>
          <a:stretch>
            <a:fillRect/>
          </a:stretch>
        </p:blipFill>
        <p:spPr>
          <a:xfrm>
            <a:off x="8861301" y="3221138"/>
            <a:ext cx="8344977" cy="4662925"/>
          </a:xfrm>
          <a:prstGeom prst="rect">
            <a:avLst/>
          </a:prstGeom>
        </p:spPr>
      </p:pic>
    </p:spTree>
    <p:extLst>
      <p:ext uri="{BB962C8B-B14F-4D97-AF65-F5344CB8AC3E}">
        <p14:creationId xmlns:p14="http://schemas.microsoft.com/office/powerpoint/2010/main" val="27904056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321771"/>
            <a:ext cx="14058900" cy="1117614"/>
          </a:xfrm>
          <a:prstGeom prst="rect">
            <a:avLst/>
          </a:prstGeom>
        </p:spPr>
        <p:txBody>
          <a:bodyPr wrap="square" lIns="0" tIns="0" rIns="0" bIns="0" rtlCol="0" anchor="t">
            <a:spAutoFit/>
          </a:bodyPr>
          <a:lstStyle/>
          <a:p>
            <a:pPr algn="just">
              <a:lnSpc>
                <a:spcPts val="9675"/>
              </a:lnSpc>
              <a:spcBef>
                <a:spcPct val="0"/>
              </a:spcBef>
            </a:pPr>
            <a:r>
              <a:rPr lang="en-US" sz="5600" b="1" dirty="0">
                <a:latin typeface="Quicksand Semi-Bold"/>
                <a:ea typeface="Quicksand Semi-Bold"/>
                <a:cs typeface="Quicksand Semi-Bold"/>
                <a:sym typeface="Quicksand Semi-Bold"/>
              </a:rPr>
              <a:t>5. </a:t>
            </a:r>
            <a:r>
              <a:rPr lang="en-US" sz="6000" b="1" dirty="0" err="1">
                <a:solidFill>
                  <a:srgbClr val="374F5F"/>
                </a:solidFill>
                <a:latin typeface="Quicksand Medium"/>
                <a:ea typeface="Quicksand Medium"/>
                <a:cs typeface="Quicksand Medium"/>
                <a:sym typeface="Quicksand Medium"/>
              </a:rPr>
              <a:t>Kết</a:t>
            </a:r>
            <a:r>
              <a:rPr lang="en-US" sz="6000" b="1" dirty="0">
                <a:solidFill>
                  <a:srgbClr val="374F5F"/>
                </a:solidFill>
                <a:latin typeface="Quicksand Medium"/>
                <a:ea typeface="Quicksand Medium"/>
                <a:cs typeface="Quicksand Medium"/>
                <a:sym typeface="Quicksand Medium"/>
              </a:rPr>
              <a:t> </a:t>
            </a:r>
            <a:r>
              <a:rPr lang="en-US" sz="6000" b="1" dirty="0" err="1">
                <a:solidFill>
                  <a:srgbClr val="374F5F"/>
                </a:solidFill>
                <a:latin typeface="Quicksand Medium"/>
                <a:ea typeface="Quicksand Medium"/>
                <a:cs typeface="Quicksand Medium"/>
                <a:sym typeface="Quicksand Medium"/>
              </a:rPr>
              <a:t>luận</a:t>
            </a:r>
            <a:r>
              <a:rPr lang="en-US" sz="6000" b="1" dirty="0">
                <a:solidFill>
                  <a:srgbClr val="374F5F"/>
                </a:solidFill>
                <a:latin typeface="Quicksand Medium"/>
                <a:ea typeface="Quicksand Medium"/>
                <a:cs typeface="Quicksand Medium"/>
                <a:sym typeface="Quicksand Medium"/>
              </a:rPr>
              <a:t> </a:t>
            </a:r>
            <a:r>
              <a:rPr lang="en-US" sz="6000" b="1" dirty="0" err="1">
                <a:solidFill>
                  <a:srgbClr val="374F5F"/>
                </a:solidFill>
                <a:latin typeface="Quicksand Medium"/>
                <a:ea typeface="Quicksand Medium"/>
                <a:cs typeface="Quicksand Medium"/>
                <a:sym typeface="Quicksand Medium"/>
              </a:rPr>
              <a:t>và</a:t>
            </a:r>
            <a:r>
              <a:rPr lang="en-US" sz="6000" b="1" dirty="0">
                <a:solidFill>
                  <a:srgbClr val="374F5F"/>
                </a:solidFill>
                <a:latin typeface="Quicksand Medium"/>
                <a:ea typeface="Quicksand Medium"/>
                <a:cs typeface="Quicksand Medium"/>
                <a:sym typeface="Quicksand Medium"/>
              </a:rPr>
              <a:t> </a:t>
            </a:r>
            <a:r>
              <a:rPr lang="en-US" sz="6000" b="1" dirty="0" err="1">
                <a:solidFill>
                  <a:srgbClr val="374F5F"/>
                </a:solidFill>
                <a:latin typeface="Quicksand Medium"/>
                <a:ea typeface="Quicksand Medium"/>
                <a:cs typeface="Quicksand Medium"/>
                <a:sym typeface="Quicksand Medium"/>
              </a:rPr>
              <a:t>hướng</a:t>
            </a:r>
            <a:r>
              <a:rPr lang="en-US" sz="6000" b="1" dirty="0">
                <a:solidFill>
                  <a:srgbClr val="374F5F"/>
                </a:solidFill>
                <a:latin typeface="Quicksand Medium"/>
                <a:ea typeface="Quicksand Medium"/>
                <a:cs typeface="Quicksand Medium"/>
                <a:sym typeface="Quicksand Medium"/>
              </a:rPr>
              <a:t> </a:t>
            </a:r>
            <a:r>
              <a:rPr lang="en-US" sz="6000" b="1" dirty="0" err="1">
                <a:solidFill>
                  <a:srgbClr val="374F5F"/>
                </a:solidFill>
                <a:latin typeface="Quicksand Medium"/>
                <a:ea typeface="Quicksand Medium"/>
                <a:cs typeface="Quicksand Medium"/>
                <a:sym typeface="Quicksand Medium"/>
              </a:rPr>
              <a:t>phát</a:t>
            </a:r>
            <a:r>
              <a:rPr lang="en-US" sz="6000" b="1" dirty="0">
                <a:solidFill>
                  <a:srgbClr val="374F5F"/>
                </a:solidFill>
                <a:latin typeface="Quicksand Medium"/>
                <a:ea typeface="Quicksand Medium"/>
                <a:cs typeface="Quicksand Medium"/>
                <a:sym typeface="Quicksand Medium"/>
              </a:rPr>
              <a:t> </a:t>
            </a:r>
            <a:r>
              <a:rPr lang="en-US" sz="6000" b="1" dirty="0" err="1">
                <a:solidFill>
                  <a:srgbClr val="374F5F"/>
                </a:solidFill>
                <a:latin typeface="Quicksand Medium"/>
                <a:ea typeface="Quicksand Medium"/>
                <a:cs typeface="Quicksand Medium"/>
                <a:sym typeface="Quicksand Medium"/>
              </a:rPr>
              <a:t>triển</a:t>
            </a:r>
            <a:endParaRPr lang="en-US" sz="6000" b="1" dirty="0">
              <a:solidFill>
                <a:srgbClr val="374F5F"/>
              </a:solidFill>
              <a:latin typeface="Quicksand Medium"/>
              <a:ea typeface="Quicksand Medium"/>
              <a:cs typeface="Quicksand Medium"/>
              <a:sym typeface="Quicksand Medium"/>
            </a:endParaRPr>
          </a:p>
        </p:txBody>
      </p:sp>
      <p:sp>
        <p:nvSpPr>
          <p:cNvPr id="3" name="Freeform 3"/>
          <p:cNvSpPr/>
          <p:nvPr/>
        </p:nvSpPr>
        <p:spPr>
          <a:xfrm rot="3520730">
            <a:off x="12716433" y="-2322789"/>
            <a:ext cx="8681652" cy="5215575"/>
          </a:xfrm>
          <a:custGeom>
            <a:avLst/>
            <a:gdLst/>
            <a:ahLst/>
            <a:cxnLst/>
            <a:rect l="l" t="t" r="r" b="b"/>
            <a:pathLst>
              <a:path w="8782363" h="5013931">
                <a:moveTo>
                  <a:pt x="0" y="0"/>
                </a:moveTo>
                <a:lnTo>
                  <a:pt x="8782362" y="0"/>
                </a:lnTo>
                <a:lnTo>
                  <a:pt x="8782362" y="5013931"/>
                </a:lnTo>
                <a:lnTo>
                  <a:pt x="0" y="501393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4" name="Group 4"/>
          <p:cNvGrpSpPr/>
          <p:nvPr/>
        </p:nvGrpSpPr>
        <p:grpSpPr>
          <a:xfrm>
            <a:off x="-608680" y="9258300"/>
            <a:ext cx="19505361" cy="15817074"/>
            <a:chOff x="0" y="0"/>
            <a:chExt cx="26007147" cy="21089432"/>
          </a:xfrm>
        </p:grpSpPr>
        <p:grpSp>
          <p:nvGrpSpPr>
            <p:cNvPr id="5" name="Group 5"/>
            <p:cNvGrpSpPr/>
            <p:nvPr/>
          </p:nvGrpSpPr>
          <p:grpSpPr>
            <a:xfrm rot="-5400000">
              <a:off x="7701470" y="-7701470"/>
              <a:ext cx="10544716" cy="25947656"/>
              <a:chOff x="0" y="0"/>
              <a:chExt cx="1272376" cy="3130969"/>
            </a:xfrm>
          </p:grpSpPr>
          <p:sp>
            <p:nvSpPr>
              <p:cNvPr id="6" name="Freeform 6"/>
              <p:cNvSpPr/>
              <p:nvPr/>
            </p:nvSpPr>
            <p:spPr>
              <a:xfrm>
                <a:off x="0" y="0"/>
                <a:ext cx="1272376" cy="3130969"/>
              </a:xfrm>
              <a:custGeom>
                <a:avLst/>
                <a:gdLst/>
                <a:ahLst/>
                <a:cxnLst/>
                <a:rect l="l" t="t" r="r" b="b"/>
                <a:pathLst>
                  <a:path w="1272376" h="3130969">
                    <a:moveTo>
                      <a:pt x="0" y="0"/>
                    </a:moveTo>
                    <a:lnTo>
                      <a:pt x="1272376" y="0"/>
                    </a:lnTo>
                    <a:lnTo>
                      <a:pt x="1272376" y="3130969"/>
                    </a:lnTo>
                    <a:lnTo>
                      <a:pt x="0" y="3130969"/>
                    </a:lnTo>
                    <a:close/>
                  </a:path>
                </a:pathLst>
              </a:custGeom>
              <a:solidFill>
                <a:srgbClr val="476376"/>
              </a:solidFill>
            </p:spPr>
          </p:sp>
          <p:sp>
            <p:nvSpPr>
              <p:cNvPr id="7" name="TextBox 7"/>
              <p:cNvSpPr txBox="1"/>
              <p:nvPr/>
            </p:nvSpPr>
            <p:spPr>
              <a:xfrm>
                <a:off x="0" y="-114300"/>
                <a:ext cx="1272376" cy="3245269"/>
              </a:xfrm>
              <a:prstGeom prst="rect">
                <a:avLst/>
              </a:prstGeom>
            </p:spPr>
            <p:txBody>
              <a:bodyPr lIns="50800" tIns="50800" rIns="50800" bIns="50800" rtlCol="0" anchor="ctr"/>
              <a:lstStyle/>
              <a:p>
                <a:pPr algn="ctr">
                  <a:lnSpc>
                    <a:spcPts val="3765"/>
                  </a:lnSpc>
                </a:pPr>
                <a:endParaRPr/>
              </a:p>
            </p:txBody>
          </p:sp>
        </p:grpSp>
        <p:sp>
          <p:nvSpPr>
            <p:cNvPr id="8" name="Freeform 8"/>
            <p:cNvSpPr/>
            <p:nvPr/>
          </p:nvSpPr>
          <p:spPr>
            <a:xfrm rot="-5400000">
              <a:off x="2458858" y="-2458858"/>
              <a:ext cx="21089432" cy="26007147"/>
            </a:xfrm>
            <a:custGeom>
              <a:avLst/>
              <a:gdLst/>
              <a:ahLst/>
              <a:cxnLst/>
              <a:rect l="l" t="t" r="r" b="b"/>
              <a:pathLst>
                <a:path w="21089432" h="26007147">
                  <a:moveTo>
                    <a:pt x="0" y="0"/>
                  </a:moveTo>
                  <a:lnTo>
                    <a:pt x="21089432" y="0"/>
                  </a:lnTo>
                  <a:lnTo>
                    <a:pt x="21089432" y="26007148"/>
                  </a:lnTo>
                  <a:lnTo>
                    <a:pt x="0" y="2600714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sp>
        <p:nvSpPr>
          <p:cNvPr id="10" name="TextBox 10"/>
          <p:cNvSpPr txBox="1"/>
          <p:nvPr/>
        </p:nvSpPr>
        <p:spPr>
          <a:xfrm>
            <a:off x="1028700" y="2092911"/>
            <a:ext cx="15636174" cy="4067267"/>
          </a:xfrm>
          <a:prstGeom prst="rect">
            <a:avLst/>
          </a:prstGeom>
        </p:spPr>
        <p:txBody>
          <a:bodyPr lIns="0" tIns="0" rIns="0" bIns="0" rtlCol="0" anchor="t">
            <a:spAutoFit/>
          </a:bodyPr>
          <a:lstStyle/>
          <a:p>
            <a:pPr marL="402553" lvl="1" algn="l">
              <a:lnSpc>
                <a:spcPts val="6339"/>
              </a:lnSpc>
            </a:pPr>
            <a:r>
              <a:rPr lang="en-US" sz="3729" dirty="0" err="1">
                <a:solidFill>
                  <a:srgbClr val="203847"/>
                </a:solidFill>
                <a:latin typeface="Quicksand"/>
                <a:ea typeface="Quicksand"/>
                <a:cs typeface="Quicksand"/>
                <a:sym typeface="Quicksand"/>
              </a:rPr>
              <a:t>Kết</a:t>
            </a:r>
            <a:r>
              <a:rPr lang="en-US" sz="3729" dirty="0">
                <a:solidFill>
                  <a:srgbClr val="203847"/>
                </a:solidFill>
                <a:latin typeface="Quicksand"/>
                <a:ea typeface="Quicksand"/>
                <a:cs typeface="Quicksand"/>
                <a:sym typeface="Quicksand"/>
              </a:rPr>
              <a:t> </a:t>
            </a:r>
            <a:r>
              <a:rPr lang="en-US" sz="3729" dirty="0" err="1">
                <a:solidFill>
                  <a:srgbClr val="203847"/>
                </a:solidFill>
                <a:latin typeface="Quicksand"/>
                <a:ea typeface="Quicksand"/>
                <a:cs typeface="Quicksand"/>
                <a:sym typeface="Quicksand"/>
              </a:rPr>
              <a:t>luận</a:t>
            </a:r>
            <a:r>
              <a:rPr lang="en-US" sz="3729" dirty="0">
                <a:solidFill>
                  <a:srgbClr val="203847"/>
                </a:solidFill>
                <a:latin typeface="Quicksand"/>
                <a:ea typeface="Quicksand"/>
                <a:cs typeface="Quicksand"/>
                <a:sym typeface="Quicksand"/>
              </a:rPr>
              <a:t>:</a:t>
            </a:r>
          </a:p>
          <a:p>
            <a:pPr marL="805107" lvl="1" indent="-402554" algn="just">
              <a:lnSpc>
                <a:spcPct val="150000"/>
              </a:lnSpc>
              <a:buFont typeface="Arial"/>
              <a:buChar char="•"/>
            </a:pPr>
            <a:r>
              <a:rPr lang="vi-VN" sz="2400" dirty="0">
                <a:latin typeface="Quicksand Medium" panose="020B0604020202020204" charset="0"/>
              </a:rPr>
              <a:t>Trong bối cảnh giao thông đô thị ngày càng phức tạp, đề án tập trung nghiên cứu và triển khai ba mô hình học sâu — CNN, CNN-LSTM và CNN-Transformer — nhằm phát hiện tai nạn giao thông từ ảnh và video thực tế. Dữ liệu được xử lý, gắn nhãn và chia thành các tập huấn luyện, xác thực, kiểm tra. Kết quả cho thấy mô hình kết hợp (CNN-LSTM, CNN-Transformer) có hiệu quả cao trong việc phân tích đặc trưng không gian–thời gian, góp phần xây dựng hệ thống giám sát và cảnh báo giao thông thông minh với tính khả thi và giá trị ứng dụng thực tiễn cao.</a:t>
            </a:r>
          </a:p>
        </p:txBody>
      </p:sp>
    </p:spTree>
    <p:extLst>
      <p:ext uri="{BB962C8B-B14F-4D97-AF65-F5344CB8AC3E}">
        <p14:creationId xmlns:p14="http://schemas.microsoft.com/office/powerpoint/2010/main" val="199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321771"/>
            <a:ext cx="14058900" cy="1117614"/>
          </a:xfrm>
          <a:prstGeom prst="rect">
            <a:avLst/>
          </a:prstGeom>
        </p:spPr>
        <p:txBody>
          <a:bodyPr wrap="square" lIns="0" tIns="0" rIns="0" bIns="0" rtlCol="0" anchor="t">
            <a:spAutoFit/>
          </a:bodyPr>
          <a:lstStyle/>
          <a:p>
            <a:pPr algn="just">
              <a:lnSpc>
                <a:spcPts val="9675"/>
              </a:lnSpc>
              <a:spcBef>
                <a:spcPct val="0"/>
              </a:spcBef>
            </a:pPr>
            <a:r>
              <a:rPr lang="en-US" sz="5600" b="1" dirty="0">
                <a:latin typeface="Quicksand Semi-Bold"/>
                <a:ea typeface="Quicksand Semi-Bold"/>
                <a:cs typeface="Quicksand Semi-Bold"/>
                <a:sym typeface="Quicksand Semi-Bold"/>
              </a:rPr>
              <a:t>5. </a:t>
            </a:r>
            <a:r>
              <a:rPr lang="en-US" sz="6000" b="1" dirty="0" err="1">
                <a:solidFill>
                  <a:srgbClr val="374F5F"/>
                </a:solidFill>
                <a:latin typeface="Quicksand Medium"/>
                <a:ea typeface="Quicksand Medium"/>
                <a:cs typeface="Quicksand Medium"/>
                <a:sym typeface="Quicksand Medium"/>
              </a:rPr>
              <a:t>Kết</a:t>
            </a:r>
            <a:r>
              <a:rPr lang="en-US" sz="6000" b="1" dirty="0">
                <a:solidFill>
                  <a:srgbClr val="374F5F"/>
                </a:solidFill>
                <a:latin typeface="Quicksand Medium"/>
                <a:ea typeface="Quicksand Medium"/>
                <a:cs typeface="Quicksand Medium"/>
                <a:sym typeface="Quicksand Medium"/>
              </a:rPr>
              <a:t> </a:t>
            </a:r>
            <a:r>
              <a:rPr lang="en-US" sz="6000" b="1" dirty="0" err="1">
                <a:solidFill>
                  <a:srgbClr val="374F5F"/>
                </a:solidFill>
                <a:latin typeface="Quicksand Medium"/>
                <a:ea typeface="Quicksand Medium"/>
                <a:cs typeface="Quicksand Medium"/>
                <a:sym typeface="Quicksand Medium"/>
              </a:rPr>
              <a:t>luận</a:t>
            </a:r>
            <a:r>
              <a:rPr lang="en-US" sz="6000" b="1" dirty="0">
                <a:solidFill>
                  <a:srgbClr val="374F5F"/>
                </a:solidFill>
                <a:latin typeface="Quicksand Medium"/>
                <a:ea typeface="Quicksand Medium"/>
                <a:cs typeface="Quicksand Medium"/>
                <a:sym typeface="Quicksand Medium"/>
              </a:rPr>
              <a:t> </a:t>
            </a:r>
            <a:r>
              <a:rPr lang="en-US" sz="6000" b="1" dirty="0" err="1">
                <a:solidFill>
                  <a:srgbClr val="374F5F"/>
                </a:solidFill>
                <a:latin typeface="Quicksand Medium"/>
                <a:ea typeface="Quicksand Medium"/>
                <a:cs typeface="Quicksand Medium"/>
                <a:sym typeface="Quicksand Medium"/>
              </a:rPr>
              <a:t>và</a:t>
            </a:r>
            <a:r>
              <a:rPr lang="en-US" sz="6000" b="1" dirty="0">
                <a:solidFill>
                  <a:srgbClr val="374F5F"/>
                </a:solidFill>
                <a:latin typeface="Quicksand Medium"/>
                <a:ea typeface="Quicksand Medium"/>
                <a:cs typeface="Quicksand Medium"/>
                <a:sym typeface="Quicksand Medium"/>
              </a:rPr>
              <a:t> </a:t>
            </a:r>
            <a:r>
              <a:rPr lang="en-US" sz="6000" b="1" dirty="0" err="1">
                <a:solidFill>
                  <a:srgbClr val="374F5F"/>
                </a:solidFill>
                <a:latin typeface="Quicksand Medium"/>
                <a:ea typeface="Quicksand Medium"/>
                <a:cs typeface="Quicksand Medium"/>
                <a:sym typeface="Quicksand Medium"/>
              </a:rPr>
              <a:t>hướng</a:t>
            </a:r>
            <a:r>
              <a:rPr lang="en-US" sz="6000" b="1" dirty="0">
                <a:solidFill>
                  <a:srgbClr val="374F5F"/>
                </a:solidFill>
                <a:latin typeface="Quicksand Medium"/>
                <a:ea typeface="Quicksand Medium"/>
                <a:cs typeface="Quicksand Medium"/>
                <a:sym typeface="Quicksand Medium"/>
              </a:rPr>
              <a:t> </a:t>
            </a:r>
            <a:r>
              <a:rPr lang="en-US" sz="6000" b="1" dirty="0" err="1">
                <a:solidFill>
                  <a:srgbClr val="374F5F"/>
                </a:solidFill>
                <a:latin typeface="Quicksand Medium"/>
                <a:ea typeface="Quicksand Medium"/>
                <a:cs typeface="Quicksand Medium"/>
                <a:sym typeface="Quicksand Medium"/>
              </a:rPr>
              <a:t>phát</a:t>
            </a:r>
            <a:r>
              <a:rPr lang="en-US" sz="6000" b="1" dirty="0">
                <a:solidFill>
                  <a:srgbClr val="374F5F"/>
                </a:solidFill>
                <a:latin typeface="Quicksand Medium"/>
                <a:ea typeface="Quicksand Medium"/>
                <a:cs typeface="Quicksand Medium"/>
                <a:sym typeface="Quicksand Medium"/>
              </a:rPr>
              <a:t> </a:t>
            </a:r>
            <a:r>
              <a:rPr lang="en-US" sz="6000" b="1" dirty="0" err="1">
                <a:solidFill>
                  <a:srgbClr val="374F5F"/>
                </a:solidFill>
                <a:latin typeface="Quicksand Medium"/>
                <a:ea typeface="Quicksand Medium"/>
                <a:cs typeface="Quicksand Medium"/>
                <a:sym typeface="Quicksand Medium"/>
              </a:rPr>
              <a:t>triển</a:t>
            </a:r>
            <a:endParaRPr lang="en-US" sz="6000" b="1" dirty="0">
              <a:solidFill>
                <a:srgbClr val="374F5F"/>
              </a:solidFill>
              <a:latin typeface="Quicksand Medium"/>
              <a:ea typeface="Quicksand Medium"/>
              <a:cs typeface="Quicksand Medium"/>
              <a:sym typeface="Quicksand Medium"/>
            </a:endParaRPr>
          </a:p>
        </p:txBody>
      </p:sp>
      <p:sp>
        <p:nvSpPr>
          <p:cNvPr id="3" name="Freeform 3"/>
          <p:cNvSpPr/>
          <p:nvPr/>
        </p:nvSpPr>
        <p:spPr>
          <a:xfrm rot="3520730">
            <a:off x="12716433" y="-2322789"/>
            <a:ext cx="8681652" cy="5215575"/>
          </a:xfrm>
          <a:custGeom>
            <a:avLst/>
            <a:gdLst/>
            <a:ahLst/>
            <a:cxnLst/>
            <a:rect l="l" t="t" r="r" b="b"/>
            <a:pathLst>
              <a:path w="8782363" h="5013931">
                <a:moveTo>
                  <a:pt x="0" y="0"/>
                </a:moveTo>
                <a:lnTo>
                  <a:pt x="8782362" y="0"/>
                </a:lnTo>
                <a:lnTo>
                  <a:pt x="8782362" y="5013931"/>
                </a:lnTo>
                <a:lnTo>
                  <a:pt x="0" y="501393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4" name="Group 4"/>
          <p:cNvGrpSpPr/>
          <p:nvPr/>
        </p:nvGrpSpPr>
        <p:grpSpPr>
          <a:xfrm>
            <a:off x="-608680" y="9258300"/>
            <a:ext cx="19505361" cy="15817074"/>
            <a:chOff x="0" y="0"/>
            <a:chExt cx="26007147" cy="21089432"/>
          </a:xfrm>
        </p:grpSpPr>
        <p:grpSp>
          <p:nvGrpSpPr>
            <p:cNvPr id="5" name="Group 5"/>
            <p:cNvGrpSpPr/>
            <p:nvPr/>
          </p:nvGrpSpPr>
          <p:grpSpPr>
            <a:xfrm rot="-5400000">
              <a:off x="7701470" y="-7701470"/>
              <a:ext cx="10544716" cy="25947656"/>
              <a:chOff x="0" y="0"/>
              <a:chExt cx="1272376" cy="3130969"/>
            </a:xfrm>
          </p:grpSpPr>
          <p:sp>
            <p:nvSpPr>
              <p:cNvPr id="6" name="Freeform 6"/>
              <p:cNvSpPr/>
              <p:nvPr/>
            </p:nvSpPr>
            <p:spPr>
              <a:xfrm>
                <a:off x="0" y="0"/>
                <a:ext cx="1272376" cy="3130969"/>
              </a:xfrm>
              <a:custGeom>
                <a:avLst/>
                <a:gdLst/>
                <a:ahLst/>
                <a:cxnLst/>
                <a:rect l="l" t="t" r="r" b="b"/>
                <a:pathLst>
                  <a:path w="1272376" h="3130969">
                    <a:moveTo>
                      <a:pt x="0" y="0"/>
                    </a:moveTo>
                    <a:lnTo>
                      <a:pt x="1272376" y="0"/>
                    </a:lnTo>
                    <a:lnTo>
                      <a:pt x="1272376" y="3130969"/>
                    </a:lnTo>
                    <a:lnTo>
                      <a:pt x="0" y="3130969"/>
                    </a:lnTo>
                    <a:close/>
                  </a:path>
                </a:pathLst>
              </a:custGeom>
              <a:solidFill>
                <a:srgbClr val="476376"/>
              </a:solidFill>
            </p:spPr>
          </p:sp>
          <p:sp>
            <p:nvSpPr>
              <p:cNvPr id="7" name="TextBox 7"/>
              <p:cNvSpPr txBox="1"/>
              <p:nvPr/>
            </p:nvSpPr>
            <p:spPr>
              <a:xfrm>
                <a:off x="0" y="-114300"/>
                <a:ext cx="1272376" cy="3245269"/>
              </a:xfrm>
              <a:prstGeom prst="rect">
                <a:avLst/>
              </a:prstGeom>
            </p:spPr>
            <p:txBody>
              <a:bodyPr lIns="50800" tIns="50800" rIns="50800" bIns="50800" rtlCol="0" anchor="ctr"/>
              <a:lstStyle/>
              <a:p>
                <a:pPr algn="ctr">
                  <a:lnSpc>
                    <a:spcPts val="3765"/>
                  </a:lnSpc>
                </a:pPr>
                <a:endParaRPr/>
              </a:p>
            </p:txBody>
          </p:sp>
        </p:grpSp>
        <p:sp>
          <p:nvSpPr>
            <p:cNvPr id="8" name="Freeform 8"/>
            <p:cNvSpPr/>
            <p:nvPr/>
          </p:nvSpPr>
          <p:spPr>
            <a:xfrm rot="-5400000">
              <a:off x="2458858" y="-2458858"/>
              <a:ext cx="21089432" cy="26007147"/>
            </a:xfrm>
            <a:custGeom>
              <a:avLst/>
              <a:gdLst/>
              <a:ahLst/>
              <a:cxnLst/>
              <a:rect l="l" t="t" r="r" b="b"/>
              <a:pathLst>
                <a:path w="21089432" h="26007147">
                  <a:moveTo>
                    <a:pt x="0" y="0"/>
                  </a:moveTo>
                  <a:lnTo>
                    <a:pt x="21089432" y="0"/>
                  </a:lnTo>
                  <a:lnTo>
                    <a:pt x="21089432" y="26007148"/>
                  </a:lnTo>
                  <a:lnTo>
                    <a:pt x="0" y="2600714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sp>
        <p:nvSpPr>
          <p:cNvPr id="10" name="TextBox 10"/>
          <p:cNvSpPr txBox="1"/>
          <p:nvPr/>
        </p:nvSpPr>
        <p:spPr>
          <a:xfrm>
            <a:off x="1028700" y="2092911"/>
            <a:ext cx="15636174" cy="2405274"/>
          </a:xfrm>
          <a:prstGeom prst="rect">
            <a:avLst/>
          </a:prstGeom>
        </p:spPr>
        <p:txBody>
          <a:bodyPr lIns="0" tIns="0" rIns="0" bIns="0" rtlCol="0" anchor="t">
            <a:spAutoFit/>
          </a:bodyPr>
          <a:lstStyle/>
          <a:p>
            <a:pPr marL="402553" lvl="1" algn="l">
              <a:lnSpc>
                <a:spcPts val="6339"/>
              </a:lnSpc>
            </a:pPr>
            <a:r>
              <a:rPr lang="en-US" sz="3729" dirty="0" err="1">
                <a:solidFill>
                  <a:srgbClr val="203847"/>
                </a:solidFill>
                <a:latin typeface="Quicksand"/>
                <a:ea typeface="Quicksand"/>
                <a:cs typeface="Quicksand"/>
                <a:sym typeface="Quicksand"/>
              </a:rPr>
              <a:t>Hướng</a:t>
            </a:r>
            <a:r>
              <a:rPr lang="en-US" sz="3729" dirty="0">
                <a:solidFill>
                  <a:srgbClr val="203847"/>
                </a:solidFill>
                <a:latin typeface="Quicksand"/>
                <a:ea typeface="Quicksand"/>
                <a:cs typeface="Quicksand"/>
                <a:sym typeface="Quicksand"/>
              </a:rPr>
              <a:t> </a:t>
            </a:r>
            <a:r>
              <a:rPr lang="en-US" sz="3729" dirty="0" err="1">
                <a:solidFill>
                  <a:srgbClr val="203847"/>
                </a:solidFill>
                <a:latin typeface="Quicksand"/>
                <a:ea typeface="Quicksand"/>
                <a:cs typeface="Quicksand"/>
                <a:sym typeface="Quicksand"/>
              </a:rPr>
              <a:t>phát</a:t>
            </a:r>
            <a:r>
              <a:rPr lang="en-US" sz="3729" dirty="0">
                <a:solidFill>
                  <a:srgbClr val="203847"/>
                </a:solidFill>
                <a:latin typeface="Quicksand"/>
                <a:ea typeface="Quicksand"/>
                <a:cs typeface="Quicksand"/>
                <a:sym typeface="Quicksand"/>
              </a:rPr>
              <a:t> </a:t>
            </a:r>
            <a:r>
              <a:rPr lang="en-US" sz="3729" dirty="0" err="1">
                <a:solidFill>
                  <a:srgbClr val="203847"/>
                </a:solidFill>
                <a:latin typeface="Quicksand"/>
                <a:ea typeface="Quicksand"/>
                <a:cs typeface="Quicksand"/>
                <a:sym typeface="Quicksand"/>
              </a:rPr>
              <a:t>triển</a:t>
            </a:r>
            <a:r>
              <a:rPr lang="en-US" sz="3729" dirty="0">
                <a:solidFill>
                  <a:srgbClr val="203847"/>
                </a:solidFill>
                <a:latin typeface="Quicksand"/>
                <a:ea typeface="Quicksand"/>
                <a:cs typeface="Quicksand"/>
                <a:sym typeface="Quicksand"/>
              </a:rPr>
              <a:t>:</a:t>
            </a:r>
          </a:p>
          <a:p>
            <a:pPr marL="805107" lvl="1" indent="-402554" algn="just">
              <a:lnSpc>
                <a:spcPct val="150000"/>
              </a:lnSpc>
              <a:buFont typeface="Arial"/>
              <a:buChar char="•"/>
            </a:pPr>
            <a:r>
              <a:rPr lang="vi-VN" sz="2400" dirty="0">
                <a:latin typeface="Quicksand Medium" panose="020B0604020202020204" charset="0"/>
              </a:rPr>
              <a:t>Sử dụng mô hình huấn luyện trước từ Vision Transformers (ViT).</a:t>
            </a:r>
          </a:p>
          <a:p>
            <a:pPr marL="805107" lvl="1" indent="-402554" algn="just">
              <a:lnSpc>
                <a:spcPct val="150000"/>
              </a:lnSpc>
              <a:buFont typeface="Arial"/>
              <a:buChar char="•"/>
            </a:pPr>
            <a:r>
              <a:rPr lang="vi-VN" sz="2400" dirty="0">
                <a:latin typeface="Quicksand Medium" panose="020B0604020202020204" charset="0"/>
              </a:rPr>
              <a:t>Áp dụng kỹ thuật tăng cường dữ liệu (data augmentation) nâng cao.</a:t>
            </a:r>
          </a:p>
          <a:p>
            <a:pPr marL="805107" lvl="1" indent="-402554" algn="just">
              <a:lnSpc>
                <a:spcPct val="150000"/>
              </a:lnSpc>
              <a:buFont typeface="Arial"/>
              <a:buChar char="•"/>
            </a:pPr>
            <a:r>
              <a:rPr lang="vi-VN" sz="2400" dirty="0">
                <a:latin typeface="Quicksand Medium" panose="020B0604020202020204" charset="0"/>
              </a:rPr>
              <a:t>Tích hợp phát hiện đối tượng (object detection) để kết hợp vị trí và hành động</a:t>
            </a:r>
          </a:p>
        </p:txBody>
      </p:sp>
    </p:spTree>
    <p:extLst>
      <p:ext uri="{BB962C8B-B14F-4D97-AF65-F5344CB8AC3E}">
        <p14:creationId xmlns:p14="http://schemas.microsoft.com/office/powerpoint/2010/main" val="110869401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TextBox 2"/>
          <p:cNvSpPr txBox="1"/>
          <p:nvPr/>
        </p:nvSpPr>
        <p:spPr>
          <a:xfrm>
            <a:off x="2064975" y="3748809"/>
            <a:ext cx="14158051" cy="1790704"/>
          </a:xfrm>
          <a:prstGeom prst="rect">
            <a:avLst/>
          </a:prstGeom>
        </p:spPr>
        <p:txBody>
          <a:bodyPr lIns="0" tIns="0" rIns="0" bIns="0" rtlCol="0" anchor="t">
            <a:spAutoFit/>
          </a:bodyPr>
          <a:lstStyle/>
          <a:p>
            <a:pPr marL="0" lvl="0" indent="0" algn="ctr">
              <a:lnSpc>
                <a:spcPts val="14699"/>
              </a:lnSpc>
              <a:spcBef>
                <a:spcPct val="0"/>
              </a:spcBef>
            </a:pPr>
            <a:r>
              <a:rPr lang="en-US" sz="10499" b="1">
                <a:solidFill>
                  <a:srgbClr val="0F4662"/>
                </a:solidFill>
                <a:latin typeface="Quicksand Semi-Bold"/>
                <a:ea typeface="Quicksand Semi-Bold"/>
                <a:cs typeface="Quicksand Semi-Bold"/>
                <a:sym typeface="Quicksand Semi-Bold"/>
              </a:rPr>
              <a:t>Xin trân trọng cảm ơn</a:t>
            </a:r>
          </a:p>
        </p:txBody>
      </p:sp>
      <p:sp>
        <p:nvSpPr>
          <p:cNvPr id="3" name="AutoShape 3"/>
          <p:cNvSpPr/>
          <p:nvPr/>
        </p:nvSpPr>
        <p:spPr>
          <a:xfrm>
            <a:off x="5897880" y="2215083"/>
            <a:ext cx="6492240" cy="0"/>
          </a:xfrm>
          <a:prstGeom prst="line">
            <a:avLst/>
          </a:prstGeom>
          <a:ln w="76200" cap="flat">
            <a:solidFill>
              <a:srgbClr val="0F4662"/>
            </a:solidFill>
            <a:prstDash val="solid"/>
            <a:headEnd type="none" w="sm" len="sm"/>
            <a:tailEnd type="none" w="sm" len="sm"/>
          </a:ln>
        </p:spPr>
      </p:sp>
      <p:sp>
        <p:nvSpPr>
          <p:cNvPr id="4" name="Freeform 4"/>
          <p:cNvSpPr/>
          <p:nvPr/>
        </p:nvSpPr>
        <p:spPr>
          <a:xfrm>
            <a:off x="8304001" y="1116666"/>
            <a:ext cx="1679997" cy="249900"/>
          </a:xfrm>
          <a:custGeom>
            <a:avLst/>
            <a:gdLst/>
            <a:ahLst/>
            <a:cxnLst/>
            <a:rect l="l" t="t" r="r" b="b"/>
            <a:pathLst>
              <a:path w="1679997" h="249900">
                <a:moveTo>
                  <a:pt x="0" y="0"/>
                </a:moveTo>
                <a:lnTo>
                  <a:pt x="1679998" y="0"/>
                </a:lnTo>
                <a:lnTo>
                  <a:pt x="1679998" y="249899"/>
                </a:lnTo>
                <a:lnTo>
                  <a:pt x="0" y="24989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AutoShape 5"/>
          <p:cNvSpPr/>
          <p:nvPr/>
        </p:nvSpPr>
        <p:spPr>
          <a:xfrm>
            <a:off x="5897880" y="8159883"/>
            <a:ext cx="6492240" cy="0"/>
          </a:xfrm>
          <a:prstGeom prst="line">
            <a:avLst/>
          </a:prstGeom>
          <a:ln w="76200" cap="flat">
            <a:solidFill>
              <a:srgbClr val="0F4662"/>
            </a:solidFill>
            <a:prstDash val="solid"/>
            <a:headEnd type="none" w="sm" len="sm"/>
            <a:tailEnd type="none" w="sm" len="sm"/>
          </a:ln>
        </p:spPr>
      </p:sp>
      <p:sp>
        <p:nvSpPr>
          <p:cNvPr id="6" name="Freeform 6"/>
          <p:cNvSpPr/>
          <p:nvPr/>
        </p:nvSpPr>
        <p:spPr>
          <a:xfrm>
            <a:off x="8304001" y="9008400"/>
            <a:ext cx="1679997" cy="249900"/>
          </a:xfrm>
          <a:custGeom>
            <a:avLst/>
            <a:gdLst/>
            <a:ahLst/>
            <a:cxnLst/>
            <a:rect l="l" t="t" r="r" b="b"/>
            <a:pathLst>
              <a:path w="1679997" h="249900">
                <a:moveTo>
                  <a:pt x="0" y="0"/>
                </a:moveTo>
                <a:lnTo>
                  <a:pt x="1679998" y="0"/>
                </a:lnTo>
                <a:lnTo>
                  <a:pt x="1679998" y="249900"/>
                </a:lnTo>
                <a:lnTo>
                  <a:pt x="0" y="2499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1145</TotalTime>
  <Words>2372</Words>
  <Application>Microsoft Office PowerPoint</Application>
  <PresentationFormat>Custom</PresentationFormat>
  <Paragraphs>199</Paragraphs>
  <Slides>23</Slides>
  <Notes>10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23</vt:i4>
      </vt:variant>
    </vt:vector>
  </HeadingPairs>
  <TitlesOfParts>
    <vt:vector size="32" baseType="lpstr">
      <vt:lpstr>TT Backwards Bold</vt:lpstr>
      <vt:lpstr>Quicksand</vt:lpstr>
      <vt:lpstr>Quicksand Bold</vt:lpstr>
      <vt:lpstr>Calibri</vt:lpstr>
      <vt:lpstr>Arial</vt:lpstr>
      <vt:lpstr>Quicksand Medium</vt:lpstr>
      <vt:lpstr>Times New Roman</vt:lpstr>
      <vt:lpstr>Quicksand Semi-Bold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Prepared by group 1</dc:title>
  <cp:lastModifiedBy>Vũ Minh</cp:lastModifiedBy>
  <cp:revision>7</cp:revision>
  <dcterms:created xsi:type="dcterms:W3CDTF">2006-08-16T00:00:00Z</dcterms:created>
  <dcterms:modified xsi:type="dcterms:W3CDTF">2025-06-25T17:59:12Z</dcterms:modified>
  <dc:identifier>DAGgkjarJz0</dc:identifier>
</cp:coreProperties>
</file>