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92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1" r:id="rId26"/>
    <p:sldId id="290" r:id="rId27"/>
    <p:sldId id="269" r:id="rId28"/>
  </p:sldIdLst>
  <p:sldSz cx="18288000" cy="10287000"/>
  <p:notesSz cx="6858000" cy="9144000"/>
  <p:embeddedFontLst>
    <p:embeddedFont>
      <p:font typeface="Quicksand Medium" panose="020B0604020202020204" charset="0"/>
      <p:regular r:id="rId30"/>
    </p:embeddedFont>
    <p:embeddedFont>
      <p:font typeface="Quicksand Semi-Bold" panose="020B0604020202020204" charset="0"/>
      <p:regular r:id="rId31"/>
    </p:embeddedFont>
    <p:embeddedFont>
      <p:font typeface="Quicksand" panose="020B0604020202020204" charset="0"/>
      <p:regular r:id="rId32"/>
    </p:embeddedFont>
    <p:embeddedFont>
      <p:font typeface="Quicksand Bold" panose="020B0604020202020204" charset="0"/>
      <p:regular r:id="rId33"/>
    </p:embeddedFont>
    <p:embeddedFont>
      <p:font typeface="TT Backwards Bold" panose="020B0604020202020204" charset="0"/>
      <p:regular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3200" autoAdjust="0"/>
  </p:normalViewPr>
  <p:slideViewPr>
    <p:cSldViewPr>
      <p:cViewPr varScale="1">
        <p:scale>
          <a:sx n="51" d="100"/>
          <a:sy n="51" d="100"/>
        </p:scale>
        <p:origin x="14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264AD-37A6-4DDF-B938-94B0D0661C0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F8197-EED4-4EBE-92EA-36C7EB54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2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F8197-EED4-4EBE-92EA-36C7EB54B1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99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BF8197-EED4-4EBE-92EA-36C7EB54B1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08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BF8197-EED4-4EBE-92EA-36C7EB54B1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82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BF8197-EED4-4EBE-92EA-36C7EB54B1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08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1371600" y="4139596"/>
            <a:ext cx="0" cy="321275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6681127" flipV="1">
            <a:off x="7494842" y="-4070123"/>
            <a:ext cx="3450717" cy="18693946"/>
          </a:xfrm>
          <a:custGeom>
            <a:avLst/>
            <a:gdLst/>
            <a:ahLst/>
            <a:cxnLst/>
            <a:rect l="l" t="t" r="r" b="b"/>
            <a:pathLst>
              <a:path w="16773519" h="10003117">
                <a:moveTo>
                  <a:pt x="0" y="10003117"/>
                </a:moveTo>
                <a:lnTo>
                  <a:pt x="16773519" y="10003117"/>
                </a:lnTo>
                <a:lnTo>
                  <a:pt x="16773519" y="0"/>
                </a:lnTo>
                <a:lnTo>
                  <a:pt x="0" y="0"/>
                </a:lnTo>
                <a:lnTo>
                  <a:pt x="0" y="1000311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02783" y="3848100"/>
            <a:ext cx="16067364" cy="4885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734"/>
              </a:lnSpc>
            </a:pPr>
            <a:r>
              <a:rPr lang="en-US" sz="6000" b="1">
                <a:solidFill>
                  <a:srgbClr val="25343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ỨNG DỤNG MÔ HÌNH CLIP TRONG TÌM KIẾM VIDEO </a:t>
            </a:r>
            <a:r>
              <a:rPr lang="en-US" sz="6000" b="1" smtClean="0">
                <a:solidFill>
                  <a:srgbClr val="25343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DỰA </a:t>
            </a:r>
            <a:r>
              <a:rPr lang="en-US" sz="6000" b="1">
                <a:solidFill>
                  <a:srgbClr val="25343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TRÊN NỘI DUNG</a:t>
            </a:r>
          </a:p>
          <a:p>
            <a:pPr algn="just">
              <a:lnSpc>
                <a:spcPts val="12734"/>
              </a:lnSpc>
            </a:pPr>
            <a:endParaRPr lang="en-US" sz="6000" b="1" dirty="0">
              <a:solidFill>
                <a:srgbClr val="253439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6" name="AutoShape 6"/>
          <p:cNvSpPr/>
          <p:nvPr/>
        </p:nvSpPr>
        <p:spPr>
          <a:xfrm flipV="1">
            <a:off x="6519400" y="9982811"/>
            <a:ext cx="4055161" cy="14287"/>
          </a:xfrm>
          <a:prstGeom prst="line">
            <a:avLst/>
          </a:prstGeom>
          <a:ln w="9525" cap="flat">
            <a:solidFill>
              <a:srgbClr val="2534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627809" y="1060401"/>
            <a:ext cx="11582828" cy="20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99"/>
              </a:lnSpc>
              <a:spcBef>
                <a:spcPct val="0"/>
              </a:spcBef>
            </a:pPr>
            <a:r>
              <a:rPr lang="en-US" sz="3927" b="1" dirty="0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BỘ NÔNG NGHIỆP VÀ MÔI TRƯỜNG</a:t>
            </a:r>
          </a:p>
          <a:p>
            <a:pPr marL="0" lvl="0" indent="0" algn="ctr">
              <a:lnSpc>
                <a:spcPts val="5499"/>
              </a:lnSpc>
              <a:spcBef>
                <a:spcPct val="0"/>
              </a:spcBef>
            </a:pPr>
            <a:r>
              <a:rPr lang="vi-VN" sz="3927" b="1" dirty="0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TRƯỜNG ĐẠI HỌC THỦY LỢI</a:t>
            </a:r>
            <a:endParaRPr lang="en-US" sz="3927" b="1" dirty="0">
              <a:solidFill>
                <a:srgbClr val="0F4662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ctr">
              <a:lnSpc>
                <a:spcPts val="5499"/>
              </a:lnSpc>
              <a:spcBef>
                <a:spcPct val="0"/>
              </a:spcBef>
            </a:pPr>
            <a:r>
              <a:rPr lang="en-US" sz="3927" b="1" dirty="0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KHOA CÔNG NGHỆ THÔNG TIN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52733" y="9450759"/>
            <a:ext cx="6988496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b="1" err="1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Tháng</a:t>
            </a:r>
            <a:r>
              <a:rPr lang="en-US" sz="3141" b="1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141" b="1" smtClean="0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9, </a:t>
            </a:r>
            <a:r>
              <a:rPr lang="en-US" sz="3141" b="1" dirty="0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2025</a:t>
            </a:r>
          </a:p>
        </p:txBody>
      </p:sp>
      <p:pic>
        <p:nvPicPr>
          <p:cNvPr id="16" name="Picture 2" descr="Download logo trường Đại học Thủy Lợi (TLU) file vector AI, EPS, SVG, CDR,  PS, PNG không nền – Logo Trường Học">
            <a:extLst>
              <a:ext uri="{FF2B5EF4-FFF2-40B4-BE49-F238E27FC236}">
                <a16:creationId xmlns:a16="http://schemas.microsoft.com/office/drawing/2014/main" id="{1BEE0869-6722-4BB0-948B-F00EEF440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63657"/>
            <a:ext cx="3047999" cy="254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29">
            <a:extLst>
              <a:ext uri="{FF2B5EF4-FFF2-40B4-BE49-F238E27FC236}">
                <a16:creationId xmlns:a16="http://schemas.microsoft.com/office/drawing/2014/main" id="{99446D15-3C41-3EE6-A7E7-E14A7C01BC83}"/>
              </a:ext>
            </a:extLst>
          </p:cNvPr>
          <p:cNvSpPr txBox="1"/>
          <p:nvPr/>
        </p:nvSpPr>
        <p:spPr>
          <a:xfrm>
            <a:off x="9980571" y="6743700"/>
            <a:ext cx="68596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Người</a:t>
            </a:r>
            <a:r>
              <a:rPr lang="en-US" sz="28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hướng</a:t>
            </a:r>
            <a:r>
              <a:rPr lang="en-US" sz="28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dẫn</a:t>
            </a:r>
            <a:r>
              <a:rPr lang="en-US" sz="2800" dirty="0">
                <a:latin typeface="Quicksand Medium" panose="020B0604020202020204" charset="0"/>
                <a:ea typeface="Roboto" panose="02000000000000000000" pitchFamily="2" charset="0"/>
              </a:rPr>
              <a:t>: TS. </a:t>
            </a: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Trần</a:t>
            </a:r>
            <a:r>
              <a:rPr lang="en-US" sz="28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2800" err="1">
                <a:latin typeface="Quicksand Medium" panose="020B0604020202020204" charset="0"/>
                <a:ea typeface="Roboto" panose="02000000000000000000" pitchFamily="2" charset="0"/>
              </a:rPr>
              <a:t>Mạnh</a:t>
            </a:r>
            <a:r>
              <a:rPr lang="en-US" sz="280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2800" smtClean="0">
                <a:latin typeface="Quicksand Medium" panose="020B0604020202020204" charset="0"/>
                <a:ea typeface="Roboto" panose="02000000000000000000" pitchFamily="2" charset="0"/>
              </a:rPr>
              <a:t>Tuấn</a:t>
            </a:r>
          </a:p>
          <a:p>
            <a:pPr>
              <a:lnSpc>
                <a:spcPct val="150000"/>
              </a:lnSpc>
            </a:pPr>
            <a:r>
              <a:rPr lang="en-US" sz="2800">
                <a:latin typeface="Quicksand Medium" panose="020B0604020202020204" charset="0"/>
                <a:ea typeface="Roboto" panose="02000000000000000000" pitchFamily="2" charset="0"/>
              </a:rPr>
              <a:t>	</a:t>
            </a:r>
            <a:r>
              <a:rPr lang="en-US" sz="2800" smtClean="0">
                <a:latin typeface="Quicksand Medium" panose="020B0604020202020204" charset="0"/>
                <a:ea typeface="Roboto" panose="02000000000000000000" pitchFamily="2" charset="0"/>
              </a:rPr>
              <a:t>		    TS. Lê Minh Tuấn</a:t>
            </a:r>
            <a:endParaRPr lang="en-US" sz="2800" dirty="0">
              <a:latin typeface="Quicksand Medium" panose="020B0604020202020204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Học</a:t>
            </a:r>
            <a:r>
              <a:rPr lang="en-US" sz="28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viên</a:t>
            </a:r>
            <a:r>
              <a:rPr lang="en-US" sz="2800">
                <a:latin typeface="Quicksand Medium" panose="020B0604020202020204" charset="0"/>
                <a:ea typeface="Roboto" panose="02000000000000000000" pitchFamily="2" charset="0"/>
              </a:rPr>
              <a:t>: </a:t>
            </a:r>
            <a:r>
              <a:rPr lang="en-US" sz="2800" smtClean="0">
                <a:latin typeface="Quicksand Medium" panose="020B0604020202020204" charset="0"/>
                <a:ea typeface="Roboto" panose="02000000000000000000" pitchFamily="2" charset="0"/>
              </a:rPr>
              <a:t>Nguyễn Đức Dân </a:t>
            </a:r>
            <a:endParaRPr lang="en-US" sz="2800" dirty="0">
              <a:latin typeface="Quicksand Medium" panose="020B0604020202020204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800" smtClean="0">
                <a:latin typeface="Quicksand Medium" panose="020B0604020202020204" charset="0"/>
                <a:ea typeface="Roboto" panose="02000000000000000000" pitchFamily="2" charset="0"/>
              </a:rPr>
              <a:t>Lớp: 31CNT21 </a:t>
            </a:r>
            <a:endParaRPr lang="en-US" sz="2800" dirty="0">
              <a:latin typeface="Quicksand Medium" panose="020B0604020202020204" charset="0"/>
              <a:ea typeface="Roboto" panose="02000000000000000000" pitchFamily="2" charset="0"/>
            </a:endParaRPr>
          </a:p>
        </p:txBody>
      </p:sp>
      <p:sp>
        <p:nvSpPr>
          <p:cNvPr id="18" name="TextBox 29">
            <a:extLst>
              <a:ext uri="{FF2B5EF4-FFF2-40B4-BE49-F238E27FC236}">
                <a16:creationId xmlns:a16="http://schemas.microsoft.com/office/drawing/2014/main" id="{1758A088-F754-40E1-BB62-4D95BFBD6E94}"/>
              </a:ext>
            </a:extLst>
          </p:cNvPr>
          <p:cNvSpPr txBox="1"/>
          <p:nvPr/>
        </p:nvSpPr>
        <p:spPr>
          <a:xfrm>
            <a:off x="6073714" y="3436832"/>
            <a:ext cx="5810847" cy="74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3200" dirty="0" err="1">
                <a:latin typeface="Quicksand Medium" panose="020B0604020202020204" charset="0"/>
                <a:ea typeface="Roboto" panose="02000000000000000000" pitchFamily="2" charset="0"/>
              </a:rPr>
              <a:t>Đề</a:t>
            </a:r>
            <a:r>
              <a:rPr lang="en-US" sz="32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3200" dirty="0" err="1">
                <a:latin typeface="Quicksand Medium" panose="020B0604020202020204" charset="0"/>
                <a:ea typeface="Roboto" panose="02000000000000000000" pitchFamily="2" charset="0"/>
              </a:rPr>
              <a:t>án</a:t>
            </a:r>
            <a:r>
              <a:rPr lang="en-US" sz="32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3200" dirty="0" err="1">
                <a:latin typeface="Quicksand Medium" panose="020B0604020202020204" charset="0"/>
                <a:ea typeface="Roboto" panose="02000000000000000000" pitchFamily="2" charset="0"/>
              </a:rPr>
              <a:t>thạc</a:t>
            </a:r>
            <a:r>
              <a:rPr lang="en-US" sz="32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3200" dirty="0" err="1">
                <a:latin typeface="Quicksand Medium" panose="020B0604020202020204" charset="0"/>
                <a:ea typeface="Roboto" panose="02000000000000000000" pitchFamily="2" charset="0"/>
              </a:rPr>
              <a:t>sĩ</a:t>
            </a:r>
            <a:endParaRPr lang="en-US" sz="3200" dirty="0">
              <a:latin typeface="Quicksand Medium" panose="020B0604020202020204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77844" y="5133206"/>
            <a:ext cx="1049339" cy="1053168"/>
            <a:chOff x="0" y="0"/>
            <a:chExt cx="1399118" cy="14042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9118" cy="1404225"/>
            </a:xfrm>
            <a:custGeom>
              <a:avLst/>
              <a:gdLst/>
              <a:ahLst/>
              <a:cxnLst/>
              <a:rect l="l" t="t" r="r" b="b"/>
              <a:pathLst>
                <a:path w="1399118" h="1404225">
                  <a:moveTo>
                    <a:pt x="0" y="0"/>
                  </a:moveTo>
                  <a:lnTo>
                    <a:pt x="1399118" y="0"/>
                  </a:lnTo>
                  <a:lnTo>
                    <a:pt x="1399118" y="1404225"/>
                  </a:lnTo>
                  <a:lnTo>
                    <a:pt x="0" y="140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82517" y="256072"/>
              <a:ext cx="1234084" cy="1088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43"/>
                </a:lnSpc>
              </a:pPr>
              <a:r>
                <a:rPr lang="en-US" sz="5421" b="1" dirty="0">
                  <a:solidFill>
                    <a:srgbClr val="FFFFFF"/>
                  </a:solidFill>
                  <a:latin typeface="Roboto"/>
                  <a:ea typeface="TT Backwards Bold"/>
                  <a:cs typeface="TT Backwards Bold"/>
                  <a:sym typeface="TT Backwards Bold"/>
                </a:rPr>
                <a:t>3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4271940">
            <a:off x="11243209" y="-4382419"/>
            <a:ext cx="8624289" cy="10447927"/>
          </a:xfrm>
          <a:custGeom>
            <a:avLst/>
            <a:gdLst/>
            <a:ahLst/>
            <a:cxnLst/>
            <a:rect l="l" t="t" r="r" b="b"/>
            <a:pathLst>
              <a:path w="8624289" h="10447927">
                <a:moveTo>
                  <a:pt x="0" y="0"/>
                </a:moveTo>
                <a:lnTo>
                  <a:pt x="8624288" y="0"/>
                </a:lnTo>
                <a:lnTo>
                  <a:pt x="8624288" y="10447927"/>
                </a:lnTo>
                <a:lnTo>
                  <a:pt x="0" y="10447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44075" y="1843123"/>
            <a:ext cx="15816257" cy="1290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04"/>
              </a:lnSpc>
            </a:pPr>
            <a:r>
              <a:rPr lang="en-US" sz="9802" b="1">
                <a:solidFill>
                  <a:srgbClr val="203847"/>
                </a:solidFill>
                <a:latin typeface="Roboto"/>
                <a:ea typeface="Quicksand Semi-Bold"/>
                <a:cs typeface="Quicksand Semi-Bold"/>
                <a:sym typeface="Quicksand Semi-Bold"/>
              </a:rPr>
              <a:t>Nội dung trình bày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93202" y="3800143"/>
            <a:ext cx="3665304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Giới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thiệu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chung</a:t>
            </a:r>
            <a:endParaRPr lang="en-US" sz="3000" b="1" dirty="0">
              <a:solidFill>
                <a:srgbClr val="374F5F"/>
              </a:solidFill>
              <a:latin typeface="Roboto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574145" y="3780483"/>
            <a:ext cx="3779117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Tổng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quan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đề</a:t>
            </a:r>
            <a:r>
              <a:rPr lang="en-US" sz="3000" b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smtClean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tài</a:t>
            </a:r>
            <a:endParaRPr lang="en-US" sz="3000" b="1" dirty="0">
              <a:solidFill>
                <a:srgbClr val="374F5F"/>
              </a:solidFill>
              <a:latin typeface="Roboto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493202" y="5221849"/>
            <a:ext cx="349878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3000" b="1" smtClean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Cơ sở lý thuyết</a:t>
            </a:r>
            <a:endParaRPr lang="en-US" sz="3000" b="1" dirty="0">
              <a:solidFill>
                <a:srgbClr val="374F5F"/>
              </a:solidFill>
              <a:latin typeface="Roboto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87958" y="5249365"/>
            <a:ext cx="4174744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3000" b="1" smtClean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Triển khai mô hình</a:t>
            </a:r>
            <a:endParaRPr lang="en-US" sz="3000" b="1" dirty="0">
              <a:solidFill>
                <a:srgbClr val="374F5F"/>
              </a:solidFill>
              <a:latin typeface="Roboto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" name="Freeform 11"/>
          <p:cNvSpPr/>
          <p:nvPr/>
        </p:nvSpPr>
        <p:spPr>
          <a:xfrm rot="-7020582">
            <a:off x="-3178768" y="7548377"/>
            <a:ext cx="8797390" cy="5022510"/>
          </a:xfrm>
          <a:custGeom>
            <a:avLst/>
            <a:gdLst/>
            <a:ahLst/>
            <a:cxnLst/>
            <a:rect l="l" t="t" r="r" b="b"/>
            <a:pathLst>
              <a:path w="8797390" h="5022510">
                <a:moveTo>
                  <a:pt x="0" y="0"/>
                </a:moveTo>
                <a:lnTo>
                  <a:pt x="8797390" y="0"/>
                </a:lnTo>
                <a:lnTo>
                  <a:pt x="8797390" y="5022509"/>
                </a:lnTo>
                <a:lnTo>
                  <a:pt x="0" y="5022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372600" y="3691839"/>
            <a:ext cx="1049339" cy="1053168"/>
            <a:chOff x="0" y="0"/>
            <a:chExt cx="1399118" cy="14042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99118" cy="1404225"/>
            </a:xfrm>
            <a:custGeom>
              <a:avLst/>
              <a:gdLst/>
              <a:ahLst/>
              <a:cxnLst/>
              <a:rect l="l" t="t" r="r" b="b"/>
              <a:pathLst>
                <a:path w="1399118" h="1404225">
                  <a:moveTo>
                    <a:pt x="0" y="0"/>
                  </a:moveTo>
                  <a:lnTo>
                    <a:pt x="1399118" y="0"/>
                  </a:lnTo>
                  <a:lnTo>
                    <a:pt x="1399118" y="1404225"/>
                  </a:lnTo>
                  <a:lnTo>
                    <a:pt x="0" y="140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82517" y="256072"/>
              <a:ext cx="1234084" cy="1088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43"/>
                </a:lnSpc>
              </a:pPr>
              <a:r>
                <a:rPr lang="en-US" sz="5421" b="1">
                  <a:solidFill>
                    <a:srgbClr val="FFFFFF"/>
                  </a:solidFill>
                  <a:latin typeface="Roboto"/>
                  <a:ea typeface="TT Backwards Bold"/>
                  <a:cs typeface="TT Backwards Bold"/>
                  <a:sym typeface="TT Backwards Bold"/>
                </a:rPr>
                <a:t>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77844" y="3739014"/>
            <a:ext cx="1049339" cy="1053168"/>
            <a:chOff x="0" y="0"/>
            <a:chExt cx="1399118" cy="14042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9118" cy="1404225"/>
            </a:xfrm>
            <a:custGeom>
              <a:avLst/>
              <a:gdLst/>
              <a:ahLst/>
              <a:cxnLst/>
              <a:rect l="l" t="t" r="r" b="b"/>
              <a:pathLst>
                <a:path w="1399118" h="1404225">
                  <a:moveTo>
                    <a:pt x="0" y="0"/>
                  </a:moveTo>
                  <a:lnTo>
                    <a:pt x="1399118" y="0"/>
                  </a:lnTo>
                  <a:lnTo>
                    <a:pt x="1399118" y="1404225"/>
                  </a:lnTo>
                  <a:lnTo>
                    <a:pt x="0" y="140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82517" y="256072"/>
              <a:ext cx="1234084" cy="1088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43"/>
                </a:lnSpc>
              </a:pPr>
              <a:r>
                <a:rPr lang="en-US" sz="5421" b="1">
                  <a:solidFill>
                    <a:srgbClr val="FFFFFF"/>
                  </a:solidFill>
                  <a:latin typeface="Roboto"/>
                  <a:ea typeface="TT Backwards Bold"/>
                  <a:cs typeface="TT Backwards Bold"/>
                  <a:sym typeface="TT Backwards Bold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72600" y="5133206"/>
            <a:ext cx="1049339" cy="1053168"/>
            <a:chOff x="0" y="0"/>
            <a:chExt cx="1399118" cy="14042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99118" cy="1404225"/>
            </a:xfrm>
            <a:custGeom>
              <a:avLst/>
              <a:gdLst/>
              <a:ahLst/>
              <a:cxnLst/>
              <a:rect l="l" t="t" r="r" b="b"/>
              <a:pathLst>
                <a:path w="1399118" h="1404225">
                  <a:moveTo>
                    <a:pt x="0" y="0"/>
                  </a:moveTo>
                  <a:lnTo>
                    <a:pt x="1399118" y="0"/>
                  </a:lnTo>
                  <a:lnTo>
                    <a:pt x="1399118" y="1404225"/>
                  </a:lnTo>
                  <a:lnTo>
                    <a:pt x="0" y="140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82517" y="256072"/>
              <a:ext cx="1234084" cy="1088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43"/>
                </a:lnSpc>
              </a:pPr>
              <a:r>
                <a:rPr lang="en-US" sz="5421" b="1">
                  <a:solidFill>
                    <a:srgbClr val="FFFFFF"/>
                  </a:solidFill>
                  <a:latin typeface="Roboto"/>
                  <a:ea typeface="TT Backwards Bold"/>
                  <a:cs typeface="TT Backwards Bold"/>
                  <a:sym typeface="TT Backwards Bold"/>
                </a:rPr>
                <a:t>4</a:t>
              </a:r>
            </a:p>
          </p:txBody>
        </p:sp>
      </p:grpSp>
      <p:sp>
        <p:nvSpPr>
          <p:cNvPr id="21" name="Freeform 21"/>
          <p:cNvSpPr/>
          <p:nvPr/>
        </p:nvSpPr>
        <p:spPr>
          <a:xfrm rot="-8730445">
            <a:off x="14504410" y="7547920"/>
            <a:ext cx="5509779" cy="4938766"/>
          </a:xfrm>
          <a:custGeom>
            <a:avLst/>
            <a:gdLst/>
            <a:ahLst/>
            <a:cxnLst/>
            <a:rect l="l" t="t" r="r" b="b"/>
            <a:pathLst>
              <a:path w="5509779" h="4938766">
                <a:moveTo>
                  <a:pt x="0" y="0"/>
                </a:moveTo>
                <a:lnTo>
                  <a:pt x="5509780" y="0"/>
                </a:lnTo>
                <a:lnTo>
                  <a:pt x="5509780" y="4938766"/>
                </a:lnTo>
                <a:lnTo>
                  <a:pt x="0" y="4938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-1537940" y="-2523087"/>
            <a:ext cx="4887620" cy="4381085"/>
          </a:xfrm>
          <a:custGeom>
            <a:avLst/>
            <a:gdLst/>
            <a:ahLst/>
            <a:cxnLst/>
            <a:rect l="l" t="t" r="r" b="b"/>
            <a:pathLst>
              <a:path w="4887620" h="4381085">
                <a:moveTo>
                  <a:pt x="0" y="0"/>
                </a:moveTo>
                <a:lnTo>
                  <a:pt x="4887620" y="0"/>
                </a:lnTo>
                <a:lnTo>
                  <a:pt x="4887620" y="4381085"/>
                </a:lnTo>
                <a:lnTo>
                  <a:pt x="0" y="43810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">
            <a:extLst>
              <a:ext uri="{FF2B5EF4-FFF2-40B4-BE49-F238E27FC236}">
                <a16:creationId xmlns:a16="http://schemas.microsoft.com/office/drawing/2014/main" id="{21544403-298D-455D-8203-AAECCA806D9B}"/>
              </a:ext>
            </a:extLst>
          </p:cNvPr>
          <p:cNvGrpSpPr/>
          <p:nvPr/>
        </p:nvGrpSpPr>
        <p:grpSpPr>
          <a:xfrm>
            <a:off x="4181736" y="6546401"/>
            <a:ext cx="1049339" cy="1053168"/>
            <a:chOff x="0" y="0"/>
            <a:chExt cx="1399118" cy="1404225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B225E98B-C5EB-460D-8712-261E00DE64A4}"/>
                </a:ext>
              </a:extLst>
            </p:cNvPr>
            <p:cNvSpPr/>
            <p:nvPr/>
          </p:nvSpPr>
          <p:spPr>
            <a:xfrm>
              <a:off x="0" y="0"/>
              <a:ext cx="1399118" cy="1404225"/>
            </a:xfrm>
            <a:custGeom>
              <a:avLst/>
              <a:gdLst/>
              <a:ahLst/>
              <a:cxnLst/>
              <a:rect l="l" t="t" r="r" b="b"/>
              <a:pathLst>
                <a:path w="1399118" h="1404225">
                  <a:moveTo>
                    <a:pt x="0" y="0"/>
                  </a:moveTo>
                  <a:lnTo>
                    <a:pt x="1399118" y="0"/>
                  </a:lnTo>
                  <a:lnTo>
                    <a:pt x="1399118" y="1404225"/>
                  </a:lnTo>
                  <a:lnTo>
                    <a:pt x="0" y="140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9396D80F-9774-42A2-AA54-E2BF382B1E06}"/>
                </a:ext>
              </a:extLst>
            </p:cNvPr>
            <p:cNvSpPr txBox="1"/>
            <p:nvPr/>
          </p:nvSpPr>
          <p:spPr>
            <a:xfrm>
              <a:off x="82517" y="256072"/>
              <a:ext cx="1234084" cy="1088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43"/>
                </a:lnSpc>
              </a:pPr>
              <a:r>
                <a:rPr lang="en-US" sz="5421" b="1" dirty="0">
                  <a:solidFill>
                    <a:srgbClr val="FFFFFF"/>
                  </a:solidFill>
                  <a:latin typeface="Roboto"/>
                  <a:ea typeface="TT Backwards Bold"/>
                  <a:cs typeface="TT Backwards Bold"/>
                  <a:sym typeface="TT Backwards Bold"/>
                </a:rPr>
                <a:t>5</a:t>
              </a:r>
            </a:p>
          </p:txBody>
        </p:sp>
      </p:grpSp>
      <p:sp>
        <p:nvSpPr>
          <p:cNvPr id="26" name="TextBox 9">
            <a:extLst>
              <a:ext uri="{FF2B5EF4-FFF2-40B4-BE49-F238E27FC236}">
                <a16:creationId xmlns:a16="http://schemas.microsoft.com/office/drawing/2014/main" id="{1F4B7E14-5F56-45EB-B1C7-952A30DFB99F}"/>
              </a:ext>
            </a:extLst>
          </p:cNvPr>
          <p:cNvSpPr txBox="1"/>
          <p:nvPr/>
        </p:nvSpPr>
        <p:spPr>
          <a:xfrm>
            <a:off x="5497093" y="6635044"/>
            <a:ext cx="6930771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Kết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luận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và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hướng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phát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triển</a:t>
            </a:r>
            <a:endParaRPr lang="en-US" sz="3000" b="1" dirty="0">
              <a:solidFill>
                <a:srgbClr val="374F5F"/>
              </a:solidFill>
              <a:latin typeface="Roboto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7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dirty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1. </a:t>
            </a:r>
            <a:r>
              <a:rPr lang="en-US" sz="6911" b="1" dirty="0" err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Giới</a:t>
            </a:r>
            <a:r>
              <a:rPr lang="en-US" sz="6911" b="1" dirty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 </a:t>
            </a:r>
            <a:r>
              <a:rPr lang="en-US" sz="6911" b="1" dirty="0" err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thiệu</a:t>
            </a:r>
            <a:r>
              <a:rPr lang="en-US" sz="6911" b="1" dirty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 </a:t>
            </a:r>
            <a:r>
              <a:rPr lang="en-US" sz="6911" b="1" dirty="0" err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chung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1681014" y="-2835641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0491" y="1413536"/>
            <a:ext cx="10591800" cy="7040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2553" lvl="1" algn="l">
              <a:lnSpc>
                <a:spcPts val="6339"/>
              </a:lnSpc>
            </a:pPr>
            <a:r>
              <a:rPr lang="en-US" sz="3000" b="1" dirty="0" err="1">
                <a:solidFill>
                  <a:srgbClr val="203847"/>
                </a:solidFill>
                <a:latin typeface="Roboto"/>
                <a:ea typeface="Quicksand"/>
                <a:cs typeface="Quicksand"/>
                <a:sym typeface="Quicksand"/>
              </a:rPr>
              <a:t>Vấn</a:t>
            </a:r>
            <a:r>
              <a:rPr lang="en-US" sz="3000" b="1" dirty="0">
                <a:solidFill>
                  <a:srgbClr val="203847"/>
                </a:solidFill>
                <a:latin typeface="Roboto"/>
                <a:ea typeface="Quicksand"/>
                <a:cs typeface="Quicksand"/>
                <a:sym typeface="Quicksand"/>
              </a:rPr>
              <a:t> </a:t>
            </a:r>
            <a:r>
              <a:rPr lang="en-US" sz="3000" b="1" dirty="0" err="1">
                <a:solidFill>
                  <a:srgbClr val="203847"/>
                </a:solidFill>
                <a:latin typeface="Roboto"/>
                <a:ea typeface="Quicksand"/>
                <a:cs typeface="Quicksand"/>
                <a:sym typeface="Quicksand"/>
              </a:rPr>
              <a:t>đề</a:t>
            </a:r>
            <a:r>
              <a:rPr lang="en-US" sz="3000" b="1" dirty="0">
                <a:solidFill>
                  <a:srgbClr val="203847"/>
                </a:solidFill>
                <a:latin typeface="Roboto"/>
                <a:ea typeface="Quicksand"/>
                <a:cs typeface="Quicksand"/>
                <a:sym typeface="Quicksand"/>
              </a:rPr>
              <a:t>:</a:t>
            </a:r>
          </a:p>
          <a:p>
            <a:pPr marL="805107" lvl="1" indent="-402554" algn="just">
              <a:lnSpc>
                <a:spcPct val="150000"/>
              </a:lnSpc>
              <a:buFont typeface="Arial"/>
              <a:buChar char="•"/>
            </a:pPr>
            <a:r>
              <a:rPr lang="vi-VN" sz="3000">
                <a:latin typeface="Roboto"/>
                <a:ea typeface="Times New Roman" panose="02020603050405020304" pitchFamily="18" charset="0"/>
              </a:rPr>
              <a:t>Khối lượng video </a:t>
            </a:r>
            <a:r>
              <a:rPr lang="vi-VN" sz="3000" smtClean="0">
                <a:latin typeface="Roboto"/>
                <a:ea typeface="Times New Roman" panose="02020603050405020304" pitchFamily="18" charset="0"/>
              </a:rPr>
              <a:t>lớn </a:t>
            </a:r>
            <a:r>
              <a:rPr lang="vi-VN" sz="3000">
                <a:latin typeface="Roboto"/>
                <a:ea typeface="Times New Roman" panose="02020603050405020304" pitchFamily="18" charset="0"/>
              </a:rPr>
              <a:t>→ nhu cầu tìm kiếm hiệu quả</a:t>
            </a:r>
            <a:r>
              <a:rPr lang="vi-VN" sz="3000" smtClean="0">
                <a:latin typeface="Roboto"/>
                <a:ea typeface="Times New Roman" panose="02020603050405020304" pitchFamily="18" charset="0"/>
              </a:rPr>
              <a:t>.</a:t>
            </a:r>
            <a:endParaRPr lang="en-US" sz="3000" smtClean="0">
              <a:latin typeface="Roboto"/>
              <a:ea typeface="Times New Roman" panose="02020603050405020304" pitchFamily="18" charset="0"/>
            </a:endParaRPr>
          </a:p>
          <a:p>
            <a:pPr marL="805107" lvl="1" indent="-402554" algn="just">
              <a:lnSpc>
                <a:spcPct val="150000"/>
              </a:lnSpc>
              <a:buFont typeface="Arial"/>
              <a:buChar char="•"/>
            </a:pPr>
            <a:r>
              <a:rPr lang="en-US" sz="3000" smtClean="0">
                <a:latin typeface="Roboto"/>
                <a:ea typeface="Times New Roman" panose="02020603050405020304" pitchFamily="18" charset="0"/>
              </a:rPr>
              <a:t>P</a:t>
            </a:r>
            <a:r>
              <a:rPr lang="vi-VN" sz="3000" smtClean="0">
                <a:latin typeface="Roboto"/>
                <a:ea typeface="Times New Roman" panose="02020603050405020304" pitchFamily="18" charset="0"/>
              </a:rPr>
              <a:t>hương </a:t>
            </a:r>
            <a:r>
              <a:rPr lang="vi-VN" sz="3000">
                <a:latin typeface="Roboto"/>
                <a:ea typeface="Times New Roman" panose="02020603050405020304" pitchFamily="18" charset="0"/>
              </a:rPr>
              <a:t>pháp truyền thống (dựa trên metadata, từ khóa</a:t>
            </a:r>
            <a:r>
              <a:rPr lang="vi-VN" sz="3000" smtClean="0">
                <a:latin typeface="Roboto"/>
                <a:ea typeface="Times New Roman" panose="02020603050405020304" pitchFamily="18" charset="0"/>
              </a:rPr>
              <a:t>).</a:t>
            </a:r>
            <a:endParaRPr lang="en-US" sz="3000" smtClean="0">
              <a:latin typeface="Roboto"/>
              <a:ea typeface="Times New Roman" panose="02020603050405020304" pitchFamily="18" charset="0"/>
            </a:endParaRPr>
          </a:p>
          <a:p>
            <a:pPr marL="805107" lvl="1" indent="-402554" algn="just">
              <a:lnSpc>
                <a:spcPct val="150000"/>
              </a:lnSpc>
              <a:buFont typeface="Arial"/>
              <a:buChar char="•"/>
            </a:pPr>
            <a:r>
              <a:rPr lang="vi-VN" sz="3000" smtClean="0">
                <a:latin typeface="Roboto"/>
                <a:ea typeface="Times New Roman" panose="02020603050405020304" pitchFamily="18" charset="0"/>
              </a:rPr>
              <a:t>Sự </a:t>
            </a:r>
            <a:r>
              <a:rPr lang="vi-VN" sz="3000">
                <a:latin typeface="Roboto"/>
                <a:ea typeface="Times New Roman" panose="02020603050405020304" pitchFamily="18" charset="0"/>
              </a:rPr>
              <a:t>phát triển của AI và mô hình ngôn ngữ - thị giác mở ra cơ hội mới</a:t>
            </a:r>
            <a:r>
              <a:rPr lang="vi-VN" sz="3000" smtClean="0">
                <a:latin typeface="Roboto"/>
                <a:ea typeface="Times New Roman" panose="02020603050405020304" pitchFamily="18" charset="0"/>
              </a:rPr>
              <a:t>.</a:t>
            </a:r>
            <a:endParaRPr lang="en-US" sz="3000" smtClean="0">
              <a:latin typeface="Roboto"/>
              <a:ea typeface="Times New Roman" panose="02020603050405020304" pitchFamily="18" charset="0"/>
            </a:endParaRPr>
          </a:p>
          <a:p>
            <a:pPr marL="805107" lvl="1" indent="-402554" algn="just">
              <a:lnSpc>
                <a:spcPct val="150000"/>
              </a:lnSpc>
              <a:buFont typeface="Arial"/>
              <a:buChar char="•"/>
            </a:pPr>
            <a:r>
              <a:rPr lang="vi-VN" sz="3000" smtClean="0">
                <a:latin typeface="Roboto"/>
                <a:ea typeface="Times New Roman" panose="02020603050405020304" pitchFamily="18" charset="0"/>
              </a:rPr>
              <a:t>CLIP </a:t>
            </a:r>
            <a:r>
              <a:rPr lang="vi-VN" sz="3000">
                <a:latin typeface="Roboto"/>
                <a:ea typeface="Times New Roman" panose="02020603050405020304" pitchFamily="18" charset="0"/>
              </a:rPr>
              <a:t>(Contrastive Language–Image Pretraining) cho phép ánh xạ văn bản – hình ảnh → có thể mở rộng sang video.</a:t>
            </a:r>
            <a:endParaRPr lang="en-US" sz="3000" dirty="0">
              <a:latin typeface="Roboto"/>
              <a:ea typeface="Times New Roman" panose="02020603050405020304" pitchFamily="18" charset="0"/>
            </a:endParaRPr>
          </a:p>
        </p:txBody>
      </p:sp>
      <p:pic>
        <p:nvPicPr>
          <p:cNvPr id="11" name="Picture 2" descr="https://sdmntprwestus2.oaiusercontent.com/files/00000000-5144-61f8-b655-3d16173660a4/raw?se=2025-06-03T04%3A19%3A04Z&amp;sp=r&amp;sv=2024-08-04&amp;sr=b&amp;scid=ea1abb44-5b65-5c69-afd6-cbe889e018d8&amp;skoid=b64a43d9-3512-45c2-98b4-dea55d094240&amp;sktid=a48cca56-e6da-484e-a814-9c849652bcb3&amp;skt=2025-06-02T22%3A58%3A48Z&amp;ske=2025-06-03T22%3A58%3A48Z&amp;sks=b&amp;skv=2024-08-04&amp;sig=GTNpuyPIU0CH6zON1glJEJZN6kfwQSUAOHKIPQo1KPU%3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63" y="4305300"/>
            <a:ext cx="6222937" cy="414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7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1. Giới thiệu chung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2534574" y="308333"/>
            <a:ext cx="8782363" cy="2447560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381000" y="9253054"/>
            <a:ext cx="19505361" cy="15817074"/>
            <a:chOff x="0" y="0"/>
            <a:chExt cx="26007147" cy="21089432"/>
          </a:xfrm>
        </p:grpSpPr>
        <p:grpSp>
          <p:nvGrpSpPr>
            <p:cNvPr id="5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943600" y="2476500"/>
            <a:ext cx="11635674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en-US" sz="3000" b="1" smtClean="0">
                <a:latin typeface="Roboto"/>
              </a:rPr>
              <a:t>Mục tiêu của nghiên cứu: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smtClean="0">
                <a:latin typeface="Roboto"/>
              </a:rPr>
              <a:t>Xây </a:t>
            </a:r>
            <a:r>
              <a:rPr lang="vi-VN" sz="3000">
                <a:latin typeface="Roboto"/>
              </a:rPr>
              <a:t>dựng hệ thống tìm kiếm video dựa trên nội dung</a:t>
            </a:r>
            <a:r>
              <a:rPr lang="vi-VN" sz="3000" smtClean="0">
                <a:latin typeface="Roboto"/>
              </a:rPr>
              <a:t>.</a:t>
            </a:r>
            <a:endParaRPr lang="vi-VN" sz="30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>
                <a:latin typeface="Roboto"/>
              </a:rPr>
              <a:t>Ứng dụng mô hình CLIP để ánh xạ truy vấn văn bản và nội dung video</a:t>
            </a:r>
            <a:r>
              <a:rPr lang="vi-VN" sz="3000" smtClean="0">
                <a:latin typeface="Roboto"/>
              </a:rPr>
              <a:t>.</a:t>
            </a:r>
            <a:endParaRPr lang="vi-VN" sz="30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>
                <a:latin typeface="Roboto"/>
              </a:rPr>
              <a:t>Thử nghiệm trên tập dữ liệu UCF-101</a:t>
            </a:r>
            <a:r>
              <a:rPr lang="vi-VN" sz="3000" smtClean="0">
                <a:latin typeface="Roboto"/>
              </a:rPr>
              <a:t>.</a:t>
            </a:r>
            <a:endParaRPr lang="vi-VN" sz="30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>
                <a:latin typeface="Roboto"/>
              </a:rPr>
              <a:t>Đánh giá hiệu quả qua các chỉ số định lượng (Recall@K, MAP@K, …) và phân tích định tính.</a:t>
            </a:r>
            <a:endParaRPr lang="en-US" sz="3000" dirty="0">
              <a:latin typeface="Roboto"/>
            </a:endParaRPr>
          </a:p>
        </p:txBody>
      </p:sp>
      <p:pic>
        <p:nvPicPr>
          <p:cNvPr id="13" name="Picture 2" descr="https://sdmntprwestus2.oaiusercontent.com/files/00000000-0140-61f8-8812-d59637e1925b/raw?se=2025-06-03T08%3A12%3A25Z&amp;sp=r&amp;sv=2024-08-04&amp;sr=b&amp;scid=15886584-7563-572d-a5bf-41f4f8a03e2a&amp;skoid=789f404f-91a9-4b2f-932c-c44965c11d82&amp;sktid=a48cca56-e6da-484e-a814-9c849652bcb3&amp;skt=2025-06-03T00%3A05%3A11Z&amp;ske=2025-06-04T00%3A05%3A11Z&amp;sks=b&amp;skv=2024-08-04&amp;sig=YKQrHCMnRUIVTL68PKje4PjsIxHi69P23PGIWClBl00%3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9746"/>
            <a:ext cx="6269788" cy="441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41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7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1. Giới thiệu chung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304800" y="7581900"/>
            <a:ext cx="19505361" cy="15817074"/>
            <a:chOff x="0" y="0"/>
            <a:chExt cx="26007147" cy="21089432"/>
          </a:xfrm>
        </p:grpSpPr>
        <p:grpSp>
          <p:nvGrpSpPr>
            <p:cNvPr id="5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2092911"/>
            <a:ext cx="15636174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en-US" sz="3000" b="1">
                <a:latin typeface="Roboto"/>
              </a:rPr>
              <a:t>Ý nghĩa khoa học và thực </a:t>
            </a:r>
            <a:r>
              <a:rPr lang="en-US" sz="3000" b="1" smtClean="0">
                <a:latin typeface="Roboto"/>
              </a:rPr>
              <a:t>tiễn:</a:t>
            </a:r>
            <a:endParaRPr lang="en-US" sz="3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>
                <a:latin typeface="Roboto"/>
              </a:rPr>
              <a:t>Góp phần minh chứng khả năng ứng dụng CLIP cho bài toán CBVR</a:t>
            </a:r>
            <a:r>
              <a:rPr lang="vi-VN" sz="3000" smtClean="0">
                <a:latin typeface="Roboto"/>
              </a:rPr>
              <a:t>.</a:t>
            </a:r>
            <a:endParaRPr lang="vi-VN" sz="30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>
                <a:latin typeface="Roboto"/>
              </a:rPr>
              <a:t>Cung cấp cơ sở cho các nghiên cứu tiếp theo về tìm kiếm đa phương thức</a:t>
            </a:r>
            <a:r>
              <a:rPr lang="vi-VN" sz="3000" smtClean="0">
                <a:latin typeface="Roboto"/>
              </a:rPr>
              <a:t>.</a:t>
            </a:r>
            <a:endParaRPr lang="vi-VN" sz="30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>
                <a:latin typeface="Roboto"/>
              </a:rPr>
              <a:t>Tiềm năng ứng dụng trong giáo dục, giám sát, lưu trữ video.</a:t>
            </a:r>
            <a:endParaRPr lang="en-US" sz="3000" dirty="0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43459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Tổng quan đề tài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Tổng quan bài toán </a:t>
            </a:r>
            <a:r>
              <a:rPr lang="vi-VN" sz="4000" b="1" smtClean="0">
                <a:latin typeface="Roboto"/>
              </a:rPr>
              <a:t>CBVR</a:t>
            </a:r>
            <a:endParaRPr lang="vi-VN" sz="4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>
                <a:latin typeface="Roboto"/>
              </a:rPr>
              <a:t>CBVR (Content-Based Video Retrieval): tìm kiếm video dựa trên nội dung thay vì chỉ dựa vào metadata</a:t>
            </a:r>
            <a:r>
              <a:rPr lang="vi-VN" sz="3000" b="1" smtClean="0">
                <a:latin typeface="Roboto"/>
              </a:rPr>
              <a:t>.</a:t>
            </a:r>
            <a:endParaRPr lang="vi-VN" sz="3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>
                <a:latin typeface="Roboto"/>
              </a:rPr>
              <a:t>Yêu cầu: ánh xạ được nội dung video ↔ truy vấn văn bản</a:t>
            </a:r>
            <a:r>
              <a:rPr lang="vi-VN" sz="3000" b="1" smtClean="0">
                <a:latin typeface="Roboto"/>
              </a:rPr>
              <a:t>.</a:t>
            </a:r>
            <a:endParaRPr lang="vi-VN" sz="3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>
                <a:latin typeface="Roboto"/>
              </a:rPr>
              <a:t>Thách thức</a:t>
            </a:r>
            <a:r>
              <a:rPr lang="vi-VN" sz="3000" b="1" smtClean="0">
                <a:latin typeface="Roboto"/>
              </a:rPr>
              <a:t>:</a:t>
            </a:r>
            <a:endParaRPr lang="vi-VN" sz="30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>
                <a:latin typeface="Roboto"/>
              </a:rPr>
              <a:t>Video có tính đa phương thức (hình ảnh, âm thanh, ngữ cảnh</a:t>
            </a:r>
            <a:r>
              <a:rPr lang="vi-VN" sz="3000" b="1" smtClean="0">
                <a:latin typeface="Roboto"/>
              </a:rPr>
              <a:t>).</a:t>
            </a:r>
            <a:endParaRPr lang="vi-VN" sz="30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>
                <a:latin typeface="Roboto"/>
              </a:rPr>
              <a:t>Kích thước dữ liệu lớn, khó xử lý</a:t>
            </a:r>
            <a:r>
              <a:rPr lang="vi-VN" sz="3000" b="1" smtClean="0">
                <a:latin typeface="Roboto"/>
              </a:rPr>
              <a:t>.</a:t>
            </a:r>
            <a:endParaRPr lang="vi-VN" sz="30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>
                <a:latin typeface="Roboto"/>
              </a:rPr>
              <a:t>Độ mơ hồ của ngôn ngữ tự nhiên khi mô tả nội dung.</a:t>
            </a:r>
            <a:endParaRPr lang="en-US" sz="30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8724900"/>
            <a:ext cx="19505361" cy="147502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027565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Tổng quan đề tài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Các hướng tiếp cận truyền thống</a:t>
            </a:r>
          </a:p>
          <a:p>
            <a:pPr marL="402553" lvl="1">
              <a:lnSpc>
                <a:spcPts val="6339"/>
              </a:lnSpc>
            </a:pPr>
            <a:endParaRPr lang="vi-VN" sz="4000" b="1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Dựa vào đặc trưng thị giác thủ công (color histogram, texture, SIFT, HOG</a:t>
            </a:r>
            <a:r>
              <a:rPr lang="vi-VN" sz="3200" b="1" smtClean="0">
                <a:latin typeface="Roboto"/>
              </a:rPr>
              <a:t>…).</a:t>
            </a:r>
            <a:endParaRPr lang="vi-VN" sz="3200" b="1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Kết hợp với mô tả thủ công (tag, caption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Hạn </a:t>
            </a:r>
            <a:r>
              <a:rPr lang="vi-VN" sz="3200" b="1" smtClean="0">
                <a:latin typeface="Roboto"/>
              </a:rPr>
              <a:t>chế:Khó </a:t>
            </a:r>
            <a:r>
              <a:rPr lang="vi-VN" sz="3200" b="1">
                <a:latin typeface="Roboto"/>
              </a:rPr>
              <a:t>mở rộng trên tập dữ liệu </a:t>
            </a:r>
            <a:r>
              <a:rPr lang="vi-VN" sz="3200" b="1" smtClean="0">
                <a:latin typeface="Roboto"/>
              </a:rPr>
              <a:t>lớn.</a:t>
            </a:r>
            <a:endParaRPr lang="en-US" sz="3200" b="1" smtClean="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 smtClean="0">
                <a:latin typeface="Roboto"/>
              </a:rPr>
              <a:t>Chưa </a:t>
            </a:r>
            <a:r>
              <a:rPr lang="vi-VN" sz="3200" b="1">
                <a:latin typeface="Roboto"/>
              </a:rPr>
              <a:t>tận dụng tốt mối quan hệ ngữ nghĩa giữa văn bản và video.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8877300"/>
            <a:ext cx="19505361" cy="147502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059229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Tổng quan đề tài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Các nghiên cứu gần đây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 smtClean="0">
                <a:latin typeface="Roboto"/>
              </a:rPr>
              <a:t>Deep </a:t>
            </a:r>
            <a:r>
              <a:rPr lang="vi-VN" sz="3200" b="1">
                <a:latin typeface="Roboto"/>
              </a:rPr>
              <a:t>Learning thay thế đặc trưng thủ công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Mô hình CNN, RNN, Transformer cho video representation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Mô hình liên kết đa phương thức (video – text</a:t>
            </a:r>
            <a:r>
              <a:rPr lang="vi-VN" sz="3200" b="1" smtClean="0">
                <a:latin typeface="Roboto"/>
              </a:rPr>
              <a:t>).</a:t>
            </a:r>
            <a:endParaRPr lang="vi-VN" sz="4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Xu hướng: pretrained models (BERT, CLIP, ViT) giúp tăng hiệu quả tìm kiếm.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496300"/>
            <a:ext cx="19505361" cy="147502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267851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Tổng quan đề tài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5655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Nghiên cứu về CLIP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smtClean="0">
                <a:latin typeface="Roboto"/>
              </a:rPr>
              <a:t>CLIP </a:t>
            </a:r>
            <a:r>
              <a:rPr lang="vi-VN" sz="3200">
                <a:latin typeface="Roboto"/>
              </a:rPr>
              <a:t>(OpenAI, 2021): học ngôn ngữ – hình ảnh trên tập dữ liệu khổng lồ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Ánh xạ văn bản và hình ảnh vào cùng không gian vector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Ưu điểm: zero-shot, linh hoạt cho nhiều nhiệm vụ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Luận văn: mở rộng CLIP cho tìm kiếm video bằng cách trích xuất đặc trưng khung hình.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191500"/>
            <a:ext cx="19505361" cy="147502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073364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Tổng quan đề tài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5655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Khoảng trống nghiên </a:t>
            </a:r>
            <a:r>
              <a:rPr lang="vi-VN" sz="4000" b="1" smtClean="0">
                <a:latin typeface="Roboto"/>
              </a:rPr>
              <a:t>cứu</a:t>
            </a:r>
            <a:endParaRPr lang="vi-VN" sz="4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Chưa có nhiều nghiên cứu áp dụng CLIP trực tiếp cho CBVR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Vấn đề</a:t>
            </a:r>
            <a:r>
              <a:rPr lang="vi-VN" sz="3200" smtClean="0">
                <a:latin typeface="Roboto"/>
              </a:rPr>
              <a:t>: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Xử lý chuỗi khung hình thay vì ảnh đơn lẻ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Tối ưu hiệu năng khi dữ liệu lớn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Đề tài tập trung: thử nghiệm CLIP trên UCF-101, đánh giá định lượng &amp; định tính.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8372015"/>
            <a:ext cx="19505361" cy="147502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76721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Tổng quan bài toán </a:t>
            </a:r>
            <a:r>
              <a:rPr lang="vi-VN" sz="4000" b="1" smtClean="0">
                <a:latin typeface="Roboto"/>
              </a:rPr>
              <a:t>CBVR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CBVR (Content-Based Video Retrieval): tìm kiếm video dựa trên nội dung thay vì chỉ dựa vào metadata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Yêu cầu: ánh xạ được nội dung video ↔ truy vấn văn bản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Thách thức</a:t>
            </a:r>
            <a:r>
              <a:rPr lang="vi-VN" sz="3200" smtClean="0">
                <a:latin typeface="Roboto"/>
              </a:rPr>
              <a:t>: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Video có tính đa phương thức (hình ảnh, âm thanh, ngữ cảnh</a:t>
            </a:r>
            <a:r>
              <a:rPr lang="vi-VN" sz="3200" smtClean="0">
                <a:latin typeface="Roboto"/>
              </a:rPr>
              <a:t>).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Kích thước dữ liệu lớn, khó xử lý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Độ mơ hồ của ngôn ngữ tự nhiên khi mô tả nội dung.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877300"/>
            <a:ext cx="19505361" cy="141406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29961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5655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Khái niệm cơ </a:t>
            </a:r>
            <a:r>
              <a:rPr lang="vi-VN" sz="4000" b="1" smtClean="0">
                <a:latin typeface="Roboto"/>
              </a:rPr>
              <a:t>bản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Truy xuất thông tin đa phương thức (Multimodal Retrieval</a:t>
            </a:r>
            <a:r>
              <a:rPr lang="vi-VN" sz="3200" b="1" smtClean="0">
                <a:latin typeface="Roboto"/>
              </a:rPr>
              <a:t>)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Kết hợp nhiều nguồn dữ liệu: văn bản, hình ảnh, video, âm thanh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Không gian biểu diễn chung (Shared Embedding Space</a:t>
            </a:r>
            <a:r>
              <a:rPr lang="vi-VN" sz="3200" b="1" smtClean="0">
                <a:latin typeface="Roboto"/>
              </a:rPr>
              <a:t>)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Ánh xạ dữ liệu khác loại vào cùng một không gian vector để so sánh.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365446"/>
            <a:ext cx="19505361" cy="141406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541141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807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Mô hình CLIP (Contrastive Language–Image Pretraining</a:t>
            </a:r>
            <a:r>
              <a:rPr lang="vi-VN" sz="4000" b="1" smtClean="0">
                <a:latin typeface="Roboto"/>
              </a:rPr>
              <a:t>)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Do OpenAI phát triển (2021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Huấn luyện trên 400M cặp (hình ảnh – mô tả văn bản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Ý tưởng: so khớp (matching) văn bản ↔ hình ảnh qua học tương phản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Thành phần</a:t>
            </a:r>
            <a:r>
              <a:rPr lang="vi-VN" sz="3200" b="1" smtClean="0">
                <a:latin typeface="Roboto"/>
              </a:rPr>
              <a:t>: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Text Encoder (Transformer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Image Encoder (ResNet/ViT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Hàm Cosine Similarity để đo độ gần nhau.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100203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88963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4"/>
          <p:cNvGrpSpPr/>
          <p:nvPr/>
        </p:nvGrpSpPr>
        <p:grpSpPr>
          <a:xfrm>
            <a:off x="-457200" y="8877300"/>
            <a:ext cx="19505361" cy="141406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6" name="Picture 15"/>
          <p:cNvPicPr/>
          <p:nvPr/>
        </p:nvPicPr>
        <p:blipFill>
          <a:blip r:embed="rId7"/>
          <a:stretch>
            <a:fillRect/>
          </a:stretch>
        </p:blipFill>
        <p:spPr>
          <a:xfrm>
            <a:off x="2362200" y="1943099"/>
            <a:ext cx="12502768" cy="693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06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Cơ chế học tương phản (Contrastive Learning)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 smtClean="0">
                <a:latin typeface="Roboto"/>
              </a:rPr>
              <a:t>Mục </a:t>
            </a:r>
            <a:r>
              <a:rPr lang="vi-VN" sz="3200" b="1">
                <a:latin typeface="Roboto"/>
              </a:rPr>
              <a:t>tiêu: tối đa hóa độ tương đồng cho cặp đúng (ảnh, mô tả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Đồng thời tối thiểu hóa cho cặp sai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Hàm loss: InfoNCE Loss / Cross-Entropy trên ma trận tương đồng.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228600" y="727929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506551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Biểu diễn video từ CLIP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 smtClean="0">
                <a:latin typeface="Roboto"/>
              </a:rPr>
              <a:t>Video </a:t>
            </a:r>
            <a:r>
              <a:rPr lang="vi-VN" sz="3200" b="1">
                <a:latin typeface="Roboto"/>
              </a:rPr>
              <a:t>= chuỗi khung hình (frames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Cách tiếp cận</a:t>
            </a:r>
            <a:r>
              <a:rPr lang="vi-VN" sz="3200" b="1" smtClean="0">
                <a:latin typeface="Roboto"/>
              </a:rPr>
              <a:t>: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Trích xuất đặc trưng từng frame bằng Image Encoder của CLIP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Tổng hợp đặc trưng (average pooling, attention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Sau đó: so sánh với embedding của văn bản truy vấn.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2677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617856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Tập dữ liệu UCF-101</a:t>
            </a: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smtClean="0">
                <a:latin typeface="Roboto"/>
              </a:rPr>
              <a:t>Bộ </a:t>
            </a:r>
            <a:r>
              <a:rPr lang="vi-VN" sz="3200">
                <a:latin typeface="Roboto"/>
              </a:rPr>
              <a:t>dữ liệu video hành động phổ biến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101 lớp hành động, hơn 13.000 video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Luận văn sử dụng tập con 230 video (46 lớp) để thử nghiệm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Thuận lợi: có nhãn rõ ràng, đa dạng hoạt động.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90297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28973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807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Các chỉ số đánh giá trong CBVR</a:t>
            </a:r>
          </a:p>
          <a:p>
            <a:pPr marL="745453" lvl="1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 smtClean="0">
                <a:latin typeface="Roboto"/>
              </a:rPr>
              <a:t>Recall@K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Tỷ lệ số truy vấn mà trong Top-K kết quả có ít nhất 1 video đúng</a:t>
            </a:r>
            <a:r>
              <a:rPr lang="vi-VN" sz="2400" b="1" smtClean="0">
                <a:latin typeface="Roboto"/>
              </a:rPr>
              <a:t>.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Đo khả năng bao phủ (coverage</a:t>
            </a:r>
            <a:r>
              <a:rPr lang="vi-VN" sz="2400" b="1" smtClean="0">
                <a:latin typeface="Roboto"/>
              </a:rPr>
              <a:t>).</a:t>
            </a:r>
            <a:endParaRPr lang="vi-VN" sz="2400" b="1">
              <a:latin typeface="Roboto"/>
            </a:endParaRPr>
          </a:p>
          <a:p>
            <a:pPr marL="745453" lvl="1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Mean Average Precision (MAP@K</a:t>
            </a:r>
            <a:r>
              <a:rPr lang="vi-VN" sz="2400" b="1" smtClean="0">
                <a:latin typeface="Roboto"/>
              </a:rPr>
              <a:t>)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Trung bình độ chính xác (precision) ở các vị trí đúng trong Top-K</a:t>
            </a:r>
            <a:r>
              <a:rPr lang="vi-VN" sz="2400" b="1" smtClean="0">
                <a:latin typeface="Roboto"/>
              </a:rPr>
              <a:t>.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Cho biết mức độ sắp xếp đúng của kết quả</a:t>
            </a:r>
            <a:r>
              <a:rPr lang="vi-VN" sz="2400" b="1" smtClean="0">
                <a:latin typeface="Roboto"/>
              </a:rPr>
              <a:t>.</a:t>
            </a:r>
            <a:endParaRPr lang="vi-VN" sz="2400" b="1">
              <a:latin typeface="Roboto"/>
            </a:endParaRPr>
          </a:p>
          <a:p>
            <a:pPr marL="745453" lvl="1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MRR (Mean Reciprocal Rank</a:t>
            </a:r>
            <a:r>
              <a:rPr lang="vi-VN" sz="2400" b="1" smtClean="0">
                <a:latin typeface="Roboto"/>
              </a:rPr>
              <a:t>)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Giá trị trung bình của nghịch đảo vị trí kết quả đúng đầu tiên</a:t>
            </a:r>
            <a:r>
              <a:rPr lang="vi-VN" sz="2400" b="1" smtClean="0">
                <a:latin typeface="Roboto"/>
              </a:rPr>
              <a:t>.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Nhấn mạnh việc trả kết quả đúng sớm.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10172046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192649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3. 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807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/>
              <a:t>Quy trình triển </a:t>
            </a:r>
            <a:r>
              <a:rPr lang="vi-VN" sz="4000" b="1" smtClean="0"/>
              <a:t>khai</a:t>
            </a:r>
            <a:endParaRPr lang="vi-VN" sz="4000" b="1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Tiền xử lý dữ liệu: chọn tập con UCF-101, trích xuất frame từ video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Biểu diễn video: dùng CLIP Image Encoder cho từng frame → vector đặc trưng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Tổng hợp đặc trưng video: average pooling (hoặc attention</a:t>
            </a:r>
            <a:r>
              <a:rPr lang="vi-VN" sz="4000" smtClean="0"/>
              <a:t>).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Biểu diễn truy vấn văn bản: Text Encoder của CLIP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So khớp truy vấn – video: cosine similarity trong không gian chung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Đánh giá kết quả: Recall@K, MAP@K, MRR.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10202263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94241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3. 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Input</a:t>
            </a:r>
            <a:r>
              <a:rPr lang="vi-VN" sz="4000" b="1" smtClean="0"/>
              <a:t>:</a:t>
            </a:r>
            <a:endParaRPr lang="vi-VN" sz="4000" b="1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Video (tập dữ liệu UCF-101</a:t>
            </a:r>
            <a:r>
              <a:rPr lang="vi-VN" sz="4000" b="1" smtClean="0"/>
              <a:t>).</a:t>
            </a:r>
            <a:endParaRPr lang="vi-VN" sz="4000" b="1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Truy vấn văn bản</a:t>
            </a:r>
            <a:r>
              <a:rPr lang="vi-VN" sz="4000" b="1" smtClean="0"/>
              <a:t>.</a:t>
            </a:r>
            <a:endParaRPr lang="vi-VN" sz="4000" b="1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Xử lý</a:t>
            </a:r>
            <a:r>
              <a:rPr lang="vi-VN" sz="4000" b="1" smtClean="0"/>
              <a:t>:</a:t>
            </a:r>
            <a:endParaRPr lang="vi-VN" sz="4000" b="1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CLIP Image Encoder cho video</a:t>
            </a:r>
            <a:r>
              <a:rPr lang="vi-VN" sz="4000" b="1" smtClean="0"/>
              <a:t>.</a:t>
            </a:r>
            <a:endParaRPr lang="vi-VN" sz="4000" b="1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CLIP Text Encoder cho truy vấn</a:t>
            </a:r>
            <a:r>
              <a:rPr lang="vi-VN" sz="4000" b="1" smtClean="0"/>
              <a:t>.</a:t>
            </a:r>
            <a:endParaRPr lang="vi-VN" sz="4000" b="1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Module so khớp</a:t>
            </a:r>
            <a:r>
              <a:rPr lang="vi-VN" sz="4000" b="1" smtClean="0"/>
              <a:t>.</a:t>
            </a:r>
            <a:endParaRPr lang="vi-VN" sz="4000" b="1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Output: Danh sách video xếp hạng theo độ tương đồng.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0" y="9083429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017963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3. 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/>
              <a:t>Cài đặt môi </a:t>
            </a:r>
            <a:r>
              <a:rPr lang="vi-VN" sz="4000" b="1" smtClean="0"/>
              <a:t>trường</a:t>
            </a:r>
            <a:endParaRPr lang="vi-VN" sz="4000" b="1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Ngôn ngữ: Python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Thư viện: PyTorch, OpenAI CLIP, NumPy, Matplotlib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Hạn chế: huấn luyện chỉ trên CPU, tập dữ liệu thu gọn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Pipeline demo</a:t>
            </a:r>
            <a:r>
              <a:rPr lang="vi-VN" sz="4000" smtClean="0"/>
              <a:t>:</a:t>
            </a:r>
            <a:endParaRPr lang="vi-VN" sz="40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Load model CLIP (ViT-B/32</a:t>
            </a:r>
            <a:r>
              <a:rPr lang="vi-VN" sz="4000" smtClean="0"/>
              <a:t>).</a:t>
            </a:r>
            <a:endParaRPr lang="vi-VN" sz="40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Trích xuất vector cho frame &amp; text</a:t>
            </a:r>
            <a:r>
              <a:rPr lang="vi-VN" sz="4000" smtClean="0"/>
              <a:t>.</a:t>
            </a:r>
            <a:endParaRPr lang="vi-VN" sz="40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Tính toán similarity matrix.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87249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86647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3. 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73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4000" b="1" smtClean="0"/>
              <a:t>Kết quả định lượng: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9453153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2492588"/>
            <a:ext cx="9601200" cy="696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57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3. 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699" y="2092911"/>
            <a:ext cx="7066621" cy="8079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4000" b="1" smtClean="0"/>
              <a:t>Kết quả định tính:</a:t>
            </a: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>
                <a:latin typeface="Roboto"/>
              </a:rPr>
              <a:t>Truy vấn “playing </a:t>
            </a:r>
            <a:r>
              <a:rPr lang="en-US" sz="2400">
                <a:latin typeface="Roboto"/>
              </a:rPr>
              <a:t>violin</a:t>
            </a:r>
            <a:r>
              <a:rPr lang="vi-VN" sz="2400" smtClean="0">
                <a:latin typeface="Roboto"/>
              </a:rPr>
              <a:t>” </a:t>
            </a:r>
            <a:r>
              <a:rPr lang="vi-VN" sz="2400">
                <a:latin typeface="Roboto"/>
              </a:rPr>
              <a:t>→ trả về video đúng hành động</a:t>
            </a:r>
            <a:r>
              <a:rPr lang="vi-VN" sz="2400" smtClean="0">
                <a:latin typeface="Roboto"/>
              </a:rPr>
              <a:t>.</a:t>
            </a:r>
            <a:endParaRPr lang="vi-VN" sz="24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>
                <a:latin typeface="Roboto"/>
              </a:rPr>
              <a:t>Truy vấn “archery” → kết quả chính xác</a:t>
            </a:r>
            <a:r>
              <a:rPr lang="vi-VN" sz="2400" smtClean="0">
                <a:latin typeface="Roboto"/>
              </a:rPr>
              <a:t>.</a:t>
            </a:r>
            <a:endParaRPr lang="vi-VN" sz="24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>
                <a:latin typeface="Roboto"/>
              </a:rPr>
              <a:t>Một số truy vấn mơ hồ (ví dụ “playing music”) → trả về </a:t>
            </a:r>
            <a:r>
              <a:rPr lang="en-US" sz="2400" smtClean="0">
                <a:latin typeface="Roboto"/>
              </a:rPr>
              <a:t>không đoán nhận được</a:t>
            </a:r>
            <a:r>
              <a:rPr lang="vi-VN" sz="2400" smtClean="0">
                <a:latin typeface="Roboto"/>
              </a:rPr>
              <a:t>.</a:t>
            </a:r>
            <a:endParaRPr lang="vi-VN" sz="24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>
                <a:latin typeface="Roboto"/>
              </a:rPr>
              <a:t>→ Minh họa ưu điểm và hạn chế của mô hình.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533400" y="10133946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7" name="Picture 16"/>
          <p:cNvPicPr/>
          <p:nvPr/>
        </p:nvPicPr>
        <p:blipFill>
          <a:blip r:embed="rId6"/>
          <a:stretch>
            <a:fillRect/>
          </a:stretch>
        </p:blipFill>
        <p:spPr>
          <a:xfrm>
            <a:off x="8382000" y="2274218"/>
            <a:ext cx="9753600" cy="756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60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Kết luận và định hướng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761614" y="-797061"/>
            <a:ext cx="7809664" cy="395632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4400" y="1525065"/>
            <a:ext cx="15125701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Đã xây dựng hệ thống tìm kiếm video dựa trên nội dung ứng dụng mô hình CLIP</a:t>
            </a:r>
            <a:r>
              <a:rPr lang="en-US" sz="3200" smtClean="0"/>
              <a:t>.</a:t>
            </a:r>
            <a:endParaRPr lang="en-US" sz="32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Hoàn thành các mục tiêu dự kiến</a:t>
            </a:r>
            <a:r>
              <a:rPr lang="en-US" sz="3200" smtClean="0"/>
              <a:t>: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Giới thiệu và phân tích bài toán CBVR</a:t>
            </a:r>
            <a:r>
              <a:rPr lang="en-US" sz="3200" smtClean="0"/>
              <a:t>.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Triển khai pipeline biểu diễn video từ frame</a:t>
            </a:r>
            <a:r>
              <a:rPr lang="en-US" sz="3200" smtClean="0"/>
              <a:t>.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Thử nghiệm trên tập dữ liệu UCF-101 (tập con</a:t>
            </a:r>
            <a:r>
              <a:rPr lang="en-US" sz="3200" smtClean="0"/>
              <a:t>).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Đánh giá bằng Recall@K, MAP@K, MRR và phân tích định tính</a:t>
            </a:r>
            <a:r>
              <a:rPr lang="en-US" sz="3200" smtClean="0"/>
              <a:t>.</a:t>
            </a:r>
            <a:endParaRPr lang="en-US" sz="32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Kết quả: CLIP thể hiện khả năng ánh xạ hiệu quả giữa truy vấn văn bản – nội dung video.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7249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451835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Kết luận và định hướng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761614" y="-797061"/>
            <a:ext cx="7809664" cy="395632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4400" y="1525065"/>
            <a:ext cx="15125701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Đã xây dựng hệ thống tìm kiếm video dựa trên nội dung ứng dụng mô hình CLIP</a:t>
            </a:r>
            <a:r>
              <a:rPr lang="en-US" sz="3200" smtClean="0"/>
              <a:t>.</a:t>
            </a:r>
            <a:endParaRPr lang="en-US" sz="32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Hoàn thành các mục tiêu dự kiến</a:t>
            </a:r>
            <a:r>
              <a:rPr lang="en-US" sz="3200" smtClean="0"/>
              <a:t>: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Giới thiệu và phân tích bài toán CBVR</a:t>
            </a:r>
            <a:r>
              <a:rPr lang="en-US" sz="3200" smtClean="0"/>
              <a:t>.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Triển khai pipeline biểu diễn video từ frame</a:t>
            </a:r>
            <a:r>
              <a:rPr lang="en-US" sz="3200" smtClean="0"/>
              <a:t>.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Thử nghiệm trên tập dữ liệu UCF-101 (tập con</a:t>
            </a:r>
            <a:r>
              <a:rPr lang="en-US" sz="3200" smtClean="0"/>
              <a:t>).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Đánh giá bằng Recall@K, MAP@K, MRR và phân tích định tính</a:t>
            </a:r>
            <a:r>
              <a:rPr lang="en-US" sz="3200" smtClean="0"/>
              <a:t>.</a:t>
            </a:r>
            <a:endParaRPr lang="en-US" sz="32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Kết quả: CLIP thể hiện khả năng ánh xạ hiệu quả giữa truy vấn văn bản – nội dung video.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533400" y="87249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868356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Kết luận và định hướng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761614" y="-797061"/>
            <a:ext cx="7809664" cy="395632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4400" y="1525065"/>
            <a:ext cx="15125701" cy="4847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3200" b="1"/>
              <a:t>Hướng phát triển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smtClean="0"/>
              <a:t>Mở </a:t>
            </a:r>
            <a:r>
              <a:rPr lang="vi-VN" sz="3200"/>
              <a:t>rộng dữ liệu: toàn bộ UCF-101, </a:t>
            </a:r>
            <a:r>
              <a:rPr lang="vi-VN" sz="3200" smtClean="0"/>
              <a:t>YouTube-8M.</a:t>
            </a:r>
            <a:endParaRPr lang="vi-VN" sz="3200"/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Đa phương thức: kết hợp thêm audio, caption, subtitle</a:t>
            </a:r>
            <a:r>
              <a:rPr lang="vi-VN" sz="3200" smtClean="0"/>
              <a:t>.</a:t>
            </a:r>
            <a:endParaRPr lang="vi-VN" sz="3200"/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Đa ngôn ngữ: hỗ trợ tiếng Việt và các ngôn ngữ khác</a:t>
            </a:r>
            <a:r>
              <a:rPr lang="vi-VN" sz="3200" smtClean="0"/>
              <a:t>.</a:t>
            </a:r>
            <a:endParaRPr lang="vi-VN" sz="3200"/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Tối ưu hệ thống: dùng FAISS/HNSW cho tìm kiếm nhanh</a:t>
            </a:r>
            <a:r>
              <a:rPr lang="vi-VN" sz="3200" smtClean="0"/>
              <a:t>.</a:t>
            </a:r>
            <a:endParaRPr lang="vi-VN" sz="3200"/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Ứng dụng thực tế: giáo dục, giám sát an ninh, lưu trữ video.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533400" y="89535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997332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64975" y="3748809"/>
            <a:ext cx="14158051" cy="1790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699"/>
              </a:lnSpc>
              <a:spcBef>
                <a:spcPct val="0"/>
              </a:spcBef>
            </a:pPr>
            <a:r>
              <a:rPr lang="en-US" sz="10499" b="1">
                <a:solidFill>
                  <a:srgbClr val="0F4662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Xin trân trọng cảm ơn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1712</Words>
  <Application>Microsoft Office PowerPoint</Application>
  <PresentationFormat>Custom</PresentationFormat>
  <Paragraphs>187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Quicksand Medium</vt:lpstr>
      <vt:lpstr>Quicksand Semi-Bold</vt:lpstr>
      <vt:lpstr>Quicksand</vt:lpstr>
      <vt:lpstr>Arial</vt:lpstr>
      <vt:lpstr>Times New Roman</vt:lpstr>
      <vt:lpstr>Quicksand Bold</vt:lpstr>
      <vt:lpstr>Roboto</vt:lpstr>
      <vt:lpstr>TT Backwards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đề án tốt nghiệp</dc:title>
  <cp:lastModifiedBy>Nguyen Duc Dan</cp:lastModifiedBy>
  <cp:revision>18</cp:revision>
  <dcterms:created xsi:type="dcterms:W3CDTF">2006-08-16T00:00:00Z</dcterms:created>
  <dcterms:modified xsi:type="dcterms:W3CDTF">2025-09-16T13:43:10Z</dcterms:modified>
  <dc:identifier>DAGgkjarJz0</dc:identifier>
</cp:coreProperties>
</file>