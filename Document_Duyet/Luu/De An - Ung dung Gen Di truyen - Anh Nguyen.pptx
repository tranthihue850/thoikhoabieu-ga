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heme/themeOverride1.xml" ContentType="application/vnd.openxmlformats-officedocument.themeOverr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5" r:id="rId1"/>
  </p:sldMasterIdLst>
  <p:notesMasterIdLst>
    <p:notesMasterId r:id="rId24"/>
  </p:notesMasterIdLst>
  <p:sldIdLst>
    <p:sldId id="256" r:id="rId2"/>
    <p:sldId id="257" r:id="rId3"/>
    <p:sldId id="259" r:id="rId4"/>
    <p:sldId id="261" r:id="rId5"/>
    <p:sldId id="263" r:id="rId6"/>
    <p:sldId id="264" r:id="rId7"/>
    <p:sldId id="270" r:id="rId8"/>
    <p:sldId id="271" r:id="rId9"/>
    <p:sldId id="272" r:id="rId10"/>
    <p:sldId id="273" r:id="rId11"/>
    <p:sldId id="274" r:id="rId12"/>
    <p:sldId id="266" r:id="rId13"/>
    <p:sldId id="275" r:id="rId14"/>
    <p:sldId id="276" r:id="rId15"/>
    <p:sldId id="278" r:id="rId16"/>
    <p:sldId id="285" r:id="rId17"/>
    <p:sldId id="279" r:id="rId18"/>
    <p:sldId id="281" r:id="rId19"/>
    <p:sldId id="282" r:id="rId20"/>
    <p:sldId id="283" r:id="rId21"/>
    <p:sldId id="284" r:id="rId22"/>
    <p:sldId id="269"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8889" autoAdjust="0"/>
  </p:normalViewPr>
  <p:slideViewPr>
    <p:cSldViewPr>
      <p:cViewPr varScale="1">
        <p:scale>
          <a:sx n="42" d="100"/>
          <a:sy n="42" d="100"/>
        </p:scale>
        <p:origin x="72" y="79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D1DA81-F246-4D51-9509-71E495A2F56F}" type="doc">
      <dgm:prSet loTypeId="urn:microsoft.com/office/officeart/2005/8/layout/process4" loCatId="process" qsTypeId="urn:microsoft.com/office/officeart/2005/8/quickstyle/simple1" qsCatId="simple" csTypeId="urn:microsoft.com/office/officeart/2005/8/colors/accent1_2" csCatId="accent1" phldr="1"/>
      <dgm:spPr/>
      <dgm:t>
        <a:bodyPr/>
        <a:lstStyle/>
        <a:p>
          <a:endParaRPr lang="en-US"/>
        </a:p>
      </dgm:t>
    </dgm:pt>
    <dgm:pt modelId="{55D9E213-4C6A-4492-AEF9-07A1352A1CEE}">
      <dgm:prSet custT="1"/>
      <dgm:spPr>
        <a:solidFill>
          <a:schemeClr val="accent2">
            <a:lumMod val="75000"/>
          </a:schemeClr>
        </a:solidFill>
      </dgm:spPr>
      <dgm:t>
        <a:bodyPr/>
        <a:lstStyle/>
        <a:p>
          <a:pPr algn="ctr"/>
          <a:r>
            <a:rPr lang="nl-NL" sz="2400">
              <a:latin typeface="Times New Roman (Headings)"/>
            </a:rPr>
            <a:t>Khời tạo quần thể</a:t>
          </a:r>
          <a:endParaRPr lang="en-US" sz="2400" dirty="0">
            <a:latin typeface="Times New Roman (Headings)"/>
          </a:endParaRPr>
        </a:p>
      </dgm:t>
    </dgm:pt>
    <dgm:pt modelId="{F6415BE5-DF80-42AA-91F1-91954C0FD17A}" type="parTrans" cxnId="{EDECE349-8214-40F0-BACC-392666D318A0}">
      <dgm:prSet/>
      <dgm:spPr/>
      <dgm:t>
        <a:bodyPr/>
        <a:lstStyle/>
        <a:p>
          <a:endParaRPr lang="en-US"/>
        </a:p>
      </dgm:t>
    </dgm:pt>
    <dgm:pt modelId="{18E6160D-0B21-4D9D-B7D8-A10B01047202}" type="sibTrans" cxnId="{EDECE349-8214-40F0-BACC-392666D318A0}">
      <dgm:prSet phldrT="01" phldr="0"/>
      <dgm:spPr/>
    </dgm:pt>
    <dgm:pt modelId="{12D2EE1D-EAF4-4D73-AFBA-157BD3CBC403}">
      <dgm:prSet custT="1"/>
      <dgm:spPr>
        <a:solidFill>
          <a:schemeClr val="accent2">
            <a:lumMod val="75000"/>
          </a:schemeClr>
        </a:solidFill>
      </dgm:spPr>
      <dgm:t>
        <a:bodyPr/>
        <a:lstStyle/>
        <a:p>
          <a:pPr algn="ctr"/>
          <a:r>
            <a:rPr lang="nl-NL" sz="2400">
              <a:latin typeface="Times New Roman (Headings)"/>
            </a:rPr>
            <a:t>Hàm thích nghi</a:t>
          </a:r>
          <a:endParaRPr lang="en-US" sz="2400" dirty="0">
            <a:latin typeface="Times New Roman (Headings)"/>
          </a:endParaRPr>
        </a:p>
      </dgm:t>
    </dgm:pt>
    <dgm:pt modelId="{F7B008DD-FDFB-4F9A-9472-D92F715BE745}" type="parTrans" cxnId="{EF5EF5DD-46BB-4315-B4F4-C270CA0E7926}">
      <dgm:prSet/>
      <dgm:spPr/>
      <dgm:t>
        <a:bodyPr/>
        <a:lstStyle/>
        <a:p>
          <a:endParaRPr lang="en-US"/>
        </a:p>
      </dgm:t>
    </dgm:pt>
    <dgm:pt modelId="{02E471CD-EEA5-4A54-8219-BEA92BC6850C}" type="sibTrans" cxnId="{EF5EF5DD-46BB-4315-B4F4-C270CA0E7926}">
      <dgm:prSet phldrT="02" phldr="0"/>
      <dgm:spPr/>
    </dgm:pt>
    <dgm:pt modelId="{C603565D-A6BA-4DBE-AABC-FDE8D586C384}">
      <dgm:prSet custT="1"/>
      <dgm:spPr>
        <a:solidFill>
          <a:schemeClr val="accent2">
            <a:lumMod val="75000"/>
          </a:schemeClr>
        </a:solidFill>
      </dgm:spPr>
      <dgm:t>
        <a:bodyPr/>
        <a:lstStyle/>
        <a:p>
          <a:pPr algn="ctr"/>
          <a:r>
            <a:rPr lang="en-US" sz="2400">
              <a:latin typeface="Times New Roman (Headings)"/>
            </a:rPr>
            <a:t>Chọn lọc</a:t>
          </a:r>
          <a:endParaRPr lang="en-US" sz="2400" dirty="0">
            <a:latin typeface="Times New Roman (Headings)"/>
          </a:endParaRPr>
        </a:p>
      </dgm:t>
    </dgm:pt>
    <dgm:pt modelId="{D8B01E2B-6B60-4E82-A312-EB05B49ED0E9}" type="parTrans" cxnId="{191025DC-C7B2-4AEF-BA6C-668C9AF12656}">
      <dgm:prSet/>
      <dgm:spPr/>
      <dgm:t>
        <a:bodyPr/>
        <a:lstStyle/>
        <a:p>
          <a:endParaRPr lang="en-US"/>
        </a:p>
      </dgm:t>
    </dgm:pt>
    <dgm:pt modelId="{3458DB39-1882-4629-9FEA-0D04C6965EEF}" type="sibTrans" cxnId="{191025DC-C7B2-4AEF-BA6C-668C9AF12656}">
      <dgm:prSet phldrT="03" phldr="0"/>
      <dgm:spPr/>
    </dgm:pt>
    <dgm:pt modelId="{8AA673A7-555B-4A6D-B345-7DBD06BCE391}">
      <dgm:prSet custT="1"/>
      <dgm:spPr>
        <a:solidFill>
          <a:schemeClr val="accent2">
            <a:lumMod val="75000"/>
          </a:schemeClr>
        </a:solidFill>
      </dgm:spPr>
      <dgm:t>
        <a:bodyPr/>
        <a:lstStyle/>
        <a:p>
          <a:pPr algn="ctr"/>
          <a:r>
            <a:rPr lang="nl-NL" sz="2400">
              <a:latin typeface="Times New Roman (Headings)"/>
            </a:rPr>
            <a:t>Lai ghép</a:t>
          </a:r>
          <a:endParaRPr lang="en-US" sz="2400" dirty="0">
            <a:latin typeface="Times New Roman (Headings)"/>
          </a:endParaRPr>
        </a:p>
      </dgm:t>
    </dgm:pt>
    <dgm:pt modelId="{BFC60B7D-8157-4662-BF16-0651532A939B}" type="parTrans" cxnId="{3B622CC6-ECA9-4FF6-95E9-A4917FB8A083}">
      <dgm:prSet/>
      <dgm:spPr/>
      <dgm:t>
        <a:bodyPr/>
        <a:lstStyle/>
        <a:p>
          <a:endParaRPr lang="en-US"/>
        </a:p>
      </dgm:t>
    </dgm:pt>
    <dgm:pt modelId="{DBC72EBC-1745-4D98-A04C-154C6438FDE4}" type="sibTrans" cxnId="{3B622CC6-ECA9-4FF6-95E9-A4917FB8A083}">
      <dgm:prSet phldrT="04" phldr="0"/>
      <dgm:spPr/>
    </dgm:pt>
    <dgm:pt modelId="{FEF2C35D-34F6-43A0-97B8-2367F2F789FF}">
      <dgm:prSet custT="1"/>
      <dgm:spPr>
        <a:solidFill>
          <a:schemeClr val="accent2">
            <a:lumMod val="75000"/>
          </a:schemeClr>
        </a:solidFill>
      </dgm:spPr>
      <dgm:t>
        <a:bodyPr/>
        <a:lstStyle/>
        <a:p>
          <a:pPr algn="ctr"/>
          <a:r>
            <a:rPr lang="en-US" sz="2400">
              <a:latin typeface="Times New Roman (Headings)"/>
            </a:rPr>
            <a:t>Đột biến</a:t>
          </a:r>
          <a:endParaRPr lang="en-US" sz="2400" dirty="0">
            <a:latin typeface="Times New Roman (Headings)"/>
          </a:endParaRPr>
        </a:p>
      </dgm:t>
    </dgm:pt>
    <dgm:pt modelId="{AD95ECFD-B491-4A63-9198-E20DD6C48E44}" type="parTrans" cxnId="{F991A6B7-51A9-4473-AF23-771CCAF0B22F}">
      <dgm:prSet/>
      <dgm:spPr/>
      <dgm:t>
        <a:bodyPr/>
        <a:lstStyle/>
        <a:p>
          <a:endParaRPr lang="en-US"/>
        </a:p>
      </dgm:t>
    </dgm:pt>
    <dgm:pt modelId="{F2A2AA1F-84CE-47AF-8F33-3124DC1CAD44}" type="sibTrans" cxnId="{F991A6B7-51A9-4473-AF23-771CCAF0B22F}">
      <dgm:prSet phldrT="05" phldr="0"/>
      <dgm:spPr/>
      <dgm:t>
        <a:bodyPr/>
        <a:lstStyle/>
        <a:p>
          <a:endParaRPr lang="en-US" dirty="0"/>
        </a:p>
      </dgm:t>
    </dgm:pt>
    <dgm:pt modelId="{283BED72-74B6-4361-B3D2-A64419B33CCA}">
      <dgm:prSet custT="1"/>
      <dgm:spPr>
        <a:solidFill>
          <a:schemeClr val="accent2">
            <a:lumMod val="75000"/>
          </a:schemeClr>
        </a:solidFill>
      </dgm:spPr>
      <dgm:t>
        <a:bodyPr/>
        <a:lstStyle/>
        <a:p>
          <a:pPr algn="ctr"/>
          <a:r>
            <a:rPr lang="en-US" sz="2400">
              <a:latin typeface="Times New Roman (Headings)"/>
            </a:rPr>
            <a:t>Bảo tồn cá thể ưu tú</a:t>
          </a:r>
          <a:endParaRPr lang="en-US" sz="2400" dirty="0">
            <a:latin typeface="Times New Roman (Headings)"/>
          </a:endParaRPr>
        </a:p>
      </dgm:t>
    </dgm:pt>
    <dgm:pt modelId="{69B182C0-5078-47AF-9BE4-B63C459ED355}" type="parTrans" cxnId="{1EB6A63B-5784-4C34-8BFD-0035E26C1940}">
      <dgm:prSet/>
      <dgm:spPr/>
      <dgm:t>
        <a:bodyPr/>
        <a:lstStyle/>
        <a:p>
          <a:endParaRPr lang="en-US"/>
        </a:p>
      </dgm:t>
    </dgm:pt>
    <dgm:pt modelId="{517CD7C0-0637-4072-8B4A-8BE9D9F94758}" type="sibTrans" cxnId="{1EB6A63B-5784-4C34-8BFD-0035E26C1940}">
      <dgm:prSet/>
      <dgm:spPr/>
      <dgm:t>
        <a:bodyPr/>
        <a:lstStyle/>
        <a:p>
          <a:endParaRPr lang="en-US"/>
        </a:p>
      </dgm:t>
    </dgm:pt>
    <dgm:pt modelId="{F63C9F7E-8914-4139-857A-C05A969C8675}">
      <dgm:prSet custT="1"/>
      <dgm:spPr>
        <a:solidFill>
          <a:schemeClr val="accent2">
            <a:lumMod val="75000"/>
          </a:schemeClr>
        </a:solidFill>
      </dgm:spPr>
      <dgm:t>
        <a:bodyPr/>
        <a:lstStyle/>
        <a:p>
          <a:pPr algn="ctr"/>
          <a:r>
            <a:rPr lang="en-US" sz="2400">
              <a:latin typeface="Times New Roman (Headings)"/>
            </a:rPr>
            <a:t>Điều kiện dừng</a:t>
          </a:r>
          <a:endParaRPr lang="en-US" sz="2400" dirty="0">
            <a:latin typeface="Times New Roman (Headings)"/>
          </a:endParaRPr>
        </a:p>
      </dgm:t>
    </dgm:pt>
    <dgm:pt modelId="{7C3AC628-2AA5-4AB6-BFCE-5EEBE825D734}" type="parTrans" cxnId="{4D6E17B5-B90A-4330-87A3-F5BB66644764}">
      <dgm:prSet/>
      <dgm:spPr/>
      <dgm:t>
        <a:bodyPr/>
        <a:lstStyle/>
        <a:p>
          <a:endParaRPr lang="en-US"/>
        </a:p>
      </dgm:t>
    </dgm:pt>
    <dgm:pt modelId="{C339473D-679F-4756-9D22-98B73351D9D1}" type="sibTrans" cxnId="{4D6E17B5-B90A-4330-87A3-F5BB66644764}">
      <dgm:prSet/>
      <dgm:spPr/>
      <dgm:t>
        <a:bodyPr/>
        <a:lstStyle/>
        <a:p>
          <a:endParaRPr lang="en-US"/>
        </a:p>
      </dgm:t>
    </dgm:pt>
    <dgm:pt modelId="{F102F9C0-C862-4CD1-B56D-F5B939BEAB9A}" type="pres">
      <dgm:prSet presAssocID="{7AD1DA81-F246-4D51-9509-71E495A2F56F}" presName="Name0" presStyleCnt="0">
        <dgm:presLayoutVars>
          <dgm:dir/>
          <dgm:animLvl val="lvl"/>
          <dgm:resizeHandles val="exact"/>
        </dgm:presLayoutVars>
      </dgm:prSet>
      <dgm:spPr/>
    </dgm:pt>
    <dgm:pt modelId="{FB8A7C44-AC53-483B-B2B4-E9797DA51A47}" type="pres">
      <dgm:prSet presAssocID="{F63C9F7E-8914-4139-857A-C05A969C8675}" presName="boxAndChildren" presStyleCnt="0"/>
      <dgm:spPr/>
    </dgm:pt>
    <dgm:pt modelId="{7BCC1FC0-551A-4BD6-A5F3-45041DE73A15}" type="pres">
      <dgm:prSet presAssocID="{F63C9F7E-8914-4139-857A-C05A969C8675}" presName="parentTextBox" presStyleLbl="node1" presStyleIdx="0" presStyleCnt="7"/>
      <dgm:spPr/>
    </dgm:pt>
    <dgm:pt modelId="{EC475ED3-2F3B-488E-8FA5-35D0F846D5B5}" type="pres">
      <dgm:prSet presAssocID="{517CD7C0-0637-4072-8B4A-8BE9D9F94758}" presName="sp" presStyleCnt="0"/>
      <dgm:spPr/>
    </dgm:pt>
    <dgm:pt modelId="{A5BCE1EF-3FEF-4FC5-B831-633E7AE8D061}" type="pres">
      <dgm:prSet presAssocID="{283BED72-74B6-4361-B3D2-A64419B33CCA}" presName="arrowAndChildren" presStyleCnt="0"/>
      <dgm:spPr/>
    </dgm:pt>
    <dgm:pt modelId="{355DAA45-7562-4233-BD25-B2CC9C6C123C}" type="pres">
      <dgm:prSet presAssocID="{283BED72-74B6-4361-B3D2-A64419B33CCA}" presName="parentTextArrow" presStyleLbl="node1" presStyleIdx="1" presStyleCnt="7"/>
      <dgm:spPr/>
    </dgm:pt>
    <dgm:pt modelId="{94982EEC-1369-4FFD-B7D6-3DE7C40C54F0}" type="pres">
      <dgm:prSet presAssocID="{F2A2AA1F-84CE-47AF-8F33-3124DC1CAD44}" presName="sp" presStyleCnt="0"/>
      <dgm:spPr/>
    </dgm:pt>
    <dgm:pt modelId="{619B014F-EA08-4781-A9F1-418C3B7AED3D}" type="pres">
      <dgm:prSet presAssocID="{FEF2C35D-34F6-43A0-97B8-2367F2F789FF}" presName="arrowAndChildren" presStyleCnt="0"/>
      <dgm:spPr/>
    </dgm:pt>
    <dgm:pt modelId="{FDA9CDA8-ED50-4FA5-9A57-3FBD50C8B779}" type="pres">
      <dgm:prSet presAssocID="{FEF2C35D-34F6-43A0-97B8-2367F2F789FF}" presName="parentTextArrow" presStyleLbl="node1" presStyleIdx="2" presStyleCnt="7"/>
      <dgm:spPr/>
    </dgm:pt>
    <dgm:pt modelId="{3C13630C-D8DB-4355-9EB1-B3334F2EAA64}" type="pres">
      <dgm:prSet presAssocID="{DBC72EBC-1745-4D98-A04C-154C6438FDE4}" presName="sp" presStyleCnt="0"/>
      <dgm:spPr/>
    </dgm:pt>
    <dgm:pt modelId="{E45322F8-DEEB-4DF1-901A-C437400511B8}" type="pres">
      <dgm:prSet presAssocID="{8AA673A7-555B-4A6D-B345-7DBD06BCE391}" presName="arrowAndChildren" presStyleCnt="0"/>
      <dgm:spPr/>
    </dgm:pt>
    <dgm:pt modelId="{A0956B5A-37E6-42FE-8957-0B73365EDE6D}" type="pres">
      <dgm:prSet presAssocID="{8AA673A7-555B-4A6D-B345-7DBD06BCE391}" presName="parentTextArrow" presStyleLbl="node1" presStyleIdx="3" presStyleCnt="7"/>
      <dgm:spPr/>
    </dgm:pt>
    <dgm:pt modelId="{414DB314-6C97-4BF3-B37C-71C1D2920FFC}" type="pres">
      <dgm:prSet presAssocID="{3458DB39-1882-4629-9FEA-0D04C6965EEF}" presName="sp" presStyleCnt="0"/>
      <dgm:spPr/>
    </dgm:pt>
    <dgm:pt modelId="{50CDFD02-971B-4D99-A1D2-DE067DB21B0B}" type="pres">
      <dgm:prSet presAssocID="{C603565D-A6BA-4DBE-AABC-FDE8D586C384}" presName="arrowAndChildren" presStyleCnt="0"/>
      <dgm:spPr/>
    </dgm:pt>
    <dgm:pt modelId="{1BA2F17C-995C-4133-9DC9-F2AD2845DF10}" type="pres">
      <dgm:prSet presAssocID="{C603565D-A6BA-4DBE-AABC-FDE8D586C384}" presName="parentTextArrow" presStyleLbl="node1" presStyleIdx="4" presStyleCnt="7"/>
      <dgm:spPr/>
    </dgm:pt>
    <dgm:pt modelId="{86CA1DFC-400A-4C0A-AC2D-C06A122B1B16}" type="pres">
      <dgm:prSet presAssocID="{02E471CD-EEA5-4A54-8219-BEA92BC6850C}" presName="sp" presStyleCnt="0"/>
      <dgm:spPr/>
    </dgm:pt>
    <dgm:pt modelId="{3E398B99-FD65-4626-A7C8-5F0A71BB55EF}" type="pres">
      <dgm:prSet presAssocID="{12D2EE1D-EAF4-4D73-AFBA-157BD3CBC403}" presName="arrowAndChildren" presStyleCnt="0"/>
      <dgm:spPr/>
    </dgm:pt>
    <dgm:pt modelId="{4335876C-B26A-4C0B-AC9B-5F64FC5D4883}" type="pres">
      <dgm:prSet presAssocID="{12D2EE1D-EAF4-4D73-AFBA-157BD3CBC403}" presName="parentTextArrow" presStyleLbl="node1" presStyleIdx="5" presStyleCnt="7"/>
      <dgm:spPr/>
    </dgm:pt>
    <dgm:pt modelId="{0A9CD0C5-6908-48DE-8411-FF12E57FD517}" type="pres">
      <dgm:prSet presAssocID="{18E6160D-0B21-4D9D-B7D8-A10B01047202}" presName="sp" presStyleCnt="0"/>
      <dgm:spPr/>
    </dgm:pt>
    <dgm:pt modelId="{A6F7D4A1-2C57-4261-B7DE-D716B375FA0A}" type="pres">
      <dgm:prSet presAssocID="{55D9E213-4C6A-4492-AEF9-07A1352A1CEE}" presName="arrowAndChildren" presStyleCnt="0"/>
      <dgm:spPr/>
    </dgm:pt>
    <dgm:pt modelId="{0CFAD88A-2AC5-437A-BF17-AF1CEEA4755C}" type="pres">
      <dgm:prSet presAssocID="{55D9E213-4C6A-4492-AEF9-07A1352A1CEE}" presName="parentTextArrow" presStyleLbl="node1" presStyleIdx="6" presStyleCnt="7"/>
      <dgm:spPr/>
    </dgm:pt>
  </dgm:ptLst>
  <dgm:cxnLst>
    <dgm:cxn modelId="{DBDAFB25-D7CC-45AE-BE50-B9F8CBFFA397}" type="presOf" srcId="{7AD1DA81-F246-4D51-9509-71E495A2F56F}" destId="{F102F9C0-C862-4CD1-B56D-F5B939BEAB9A}" srcOrd="0" destOrd="0" presId="urn:microsoft.com/office/officeart/2005/8/layout/process4"/>
    <dgm:cxn modelId="{66EF183A-C290-41A3-B345-BF2F770A02D1}" type="presOf" srcId="{283BED72-74B6-4361-B3D2-A64419B33CCA}" destId="{355DAA45-7562-4233-BD25-B2CC9C6C123C}" srcOrd="0" destOrd="0" presId="urn:microsoft.com/office/officeart/2005/8/layout/process4"/>
    <dgm:cxn modelId="{1EB6A63B-5784-4C34-8BFD-0035E26C1940}" srcId="{7AD1DA81-F246-4D51-9509-71E495A2F56F}" destId="{283BED72-74B6-4361-B3D2-A64419B33CCA}" srcOrd="5" destOrd="0" parTransId="{69B182C0-5078-47AF-9BE4-B63C459ED355}" sibTransId="{517CD7C0-0637-4072-8B4A-8BE9D9F94758}"/>
    <dgm:cxn modelId="{D413C845-EEF2-442E-9973-3B109F6868D7}" type="presOf" srcId="{12D2EE1D-EAF4-4D73-AFBA-157BD3CBC403}" destId="{4335876C-B26A-4C0B-AC9B-5F64FC5D4883}" srcOrd="0" destOrd="0" presId="urn:microsoft.com/office/officeart/2005/8/layout/process4"/>
    <dgm:cxn modelId="{EDECE349-8214-40F0-BACC-392666D318A0}" srcId="{7AD1DA81-F246-4D51-9509-71E495A2F56F}" destId="{55D9E213-4C6A-4492-AEF9-07A1352A1CEE}" srcOrd="0" destOrd="0" parTransId="{F6415BE5-DF80-42AA-91F1-91954C0FD17A}" sibTransId="{18E6160D-0B21-4D9D-B7D8-A10B01047202}"/>
    <dgm:cxn modelId="{176F1B7E-9B92-41BB-91FE-9D8A9BE2950E}" type="presOf" srcId="{55D9E213-4C6A-4492-AEF9-07A1352A1CEE}" destId="{0CFAD88A-2AC5-437A-BF17-AF1CEEA4755C}" srcOrd="0" destOrd="0" presId="urn:microsoft.com/office/officeart/2005/8/layout/process4"/>
    <dgm:cxn modelId="{02EDFA89-B392-4595-AD48-B40FDC91799D}" type="presOf" srcId="{F63C9F7E-8914-4139-857A-C05A969C8675}" destId="{7BCC1FC0-551A-4BD6-A5F3-45041DE73A15}" srcOrd="0" destOrd="0" presId="urn:microsoft.com/office/officeart/2005/8/layout/process4"/>
    <dgm:cxn modelId="{4D6E17B5-B90A-4330-87A3-F5BB66644764}" srcId="{7AD1DA81-F246-4D51-9509-71E495A2F56F}" destId="{F63C9F7E-8914-4139-857A-C05A969C8675}" srcOrd="6" destOrd="0" parTransId="{7C3AC628-2AA5-4AB6-BFCE-5EEBE825D734}" sibTransId="{C339473D-679F-4756-9D22-98B73351D9D1}"/>
    <dgm:cxn modelId="{F991A6B7-51A9-4473-AF23-771CCAF0B22F}" srcId="{7AD1DA81-F246-4D51-9509-71E495A2F56F}" destId="{FEF2C35D-34F6-43A0-97B8-2367F2F789FF}" srcOrd="4" destOrd="0" parTransId="{AD95ECFD-B491-4A63-9198-E20DD6C48E44}" sibTransId="{F2A2AA1F-84CE-47AF-8F33-3124DC1CAD44}"/>
    <dgm:cxn modelId="{3B622CC6-ECA9-4FF6-95E9-A4917FB8A083}" srcId="{7AD1DA81-F246-4D51-9509-71E495A2F56F}" destId="{8AA673A7-555B-4A6D-B345-7DBD06BCE391}" srcOrd="3" destOrd="0" parTransId="{BFC60B7D-8157-4662-BF16-0651532A939B}" sibTransId="{DBC72EBC-1745-4D98-A04C-154C6438FDE4}"/>
    <dgm:cxn modelId="{0D4C56CA-63A1-490A-B4D2-79E7A4928C89}" type="presOf" srcId="{C603565D-A6BA-4DBE-AABC-FDE8D586C384}" destId="{1BA2F17C-995C-4133-9DC9-F2AD2845DF10}" srcOrd="0" destOrd="0" presId="urn:microsoft.com/office/officeart/2005/8/layout/process4"/>
    <dgm:cxn modelId="{191025DC-C7B2-4AEF-BA6C-668C9AF12656}" srcId="{7AD1DA81-F246-4D51-9509-71E495A2F56F}" destId="{C603565D-A6BA-4DBE-AABC-FDE8D586C384}" srcOrd="2" destOrd="0" parTransId="{D8B01E2B-6B60-4E82-A312-EB05B49ED0E9}" sibTransId="{3458DB39-1882-4629-9FEA-0D04C6965EEF}"/>
    <dgm:cxn modelId="{EF5EF5DD-46BB-4315-B4F4-C270CA0E7926}" srcId="{7AD1DA81-F246-4D51-9509-71E495A2F56F}" destId="{12D2EE1D-EAF4-4D73-AFBA-157BD3CBC403}" srcOrd="1" destOrd="0" parTransId="{F7B008DD-FDFB-4F9A-9472-D92F715BE745}" sibTransId="{02E471CD-EEA5-4A54-8219-BEA92BC6850C}"/>
    <dgm:cxn modelId="{05D894E6-26EC-437D-BED2-9C1F2BF10A4C}" type="presOf" srcId="{FEF2C35D-34F6-43A0-97B8-2367F2F789FF}" destId="{FDA9CDA8-ED50-4FA5-9A57-3FBD50C8B779}" srcOrd="0" destOrd="0" presId="urn:microsoft.com/office/officeart/2005/8/layout/process4"/>
    <dgm:cxn modelId="{780CE7E8-9C29-4B5D-9B11-956961FC4138}" type="presOf" srcId="{8AA673A7-555B-4A6D-B345-7DBD06BCE391}" destId="{A0956B5A-37E6-42FE-8957-0B73365EDE6D}" srcOrd="0" destOrd="0" presId="urn:microsoft.com/office/officeart/2005/8/layout/process4"/>
    <dgm:cxn modelId="{CEB199B6-761A-42F9-94F8-C0E8531C8D02}" type="presParOf" srcId="{F102F9C0-C862-4CD1-B56D-F5B939BEAB9A}" destId="{FB8A7C44-AC53-483B-B2B4-E9797DA51A47}" srcOrd="0" destOrd="0" presId="urn:microsoft.com/office/officeart/2005/8/layout/process4"/>
    <dgm:cxn modelId="{9F6ADB1B-7B6F-4D16-8BB2-5F41830AD76E}" type="presParOf" srcId="{FB8A7C44-AC53-483B-B2B4-E9797DA51A47}" destId="{7BCC1FC0-551A-4BD6-A5F3-45041DE73A15}" srcOrd="0" destOrd="0" presId="urn:microsoft.com/office/officeart/2005/8/layout/process4"/>
    <dgm:cxn modelId="{53FEBA56-CD3A-47F3-AE99-BC792F272670}" type="presParOf" srcId="{F102F9C0-C862-4CD1-B56D-F5B939BEAB9A}" destId="{EC475ED3-2F3B-488E-8FA5-35D0F846D5B5}" srcOrd="1" destOrd="0" presId="urn:microsoft.com/office/officeart/2005/8/layout/process4"/>
    <dgm:cxn modelId="{3E52E8C9-6BAC-4382-8866-1D937519D49F}" type="presParOf" srcId="{F102F9C0-C862-4CD1-B56D-F5B939BEAB9A}" destId="{A5BCE1EF-3FEF-4FC5-B831-633E7AE8D061}" srcOrd="2" destOrd="0" presId="urn:microsoft.com/office/officeart/2005/8/layout/process4"/>
    <dgm:cxn modelId="{7D309A7C-207D-46E1-B1D1-14751BB9AE2C}" type="presParOf" srcId="{A5BCE1EF-3FEF-4FC5-B831-633E7AE8D061}" destId="{355DAA45-7562-4233-BD25-B2CC9C6C123C}" srcOrd="0" destOrd="0" presId="urn:microsoft.com/office/officeart/2005/8/layout/process4"/>
    <dgm:cxn modelId="{26788633-6420-4DDE-BBEF-EC6A10023D24}" type="presParOf" srcId="{F102F9C0-C862-4CD1-B56D-F5B939BEAB9A}" destId="{94982EEC-1369-4FFD-B7D6-3DE7C40C54F0}" srcOrd="3" destOrd="0" presId="urn:microsoft.com/office/officeart/2005/8/layout/process4"/>
    <dgm:cxn modelId="{4D847F49-741A-4EC5-9887-B7ACFEF09D38}" type="presParOf" srcId="{F102F9C0-C862-4CD1-B56D-F5B939BEAB9A}" destId="{619B014F-EA08-4781-A9F1-418C3B7AED3D}" srcOrd="4" destOrd="0" presId="urn:microsoft.com/office/officeart/2005/8/layout/process4"/>
    <dgm:cxn modelId="{A1EC2014-8DF7-46E3-A9F8-5819BF31E764}" type="presParOf" srcId="{619B014F-EA08-4781-A9F1-418C3B7AED3D}" destId="{FDA9CDA8-ED50-4FA5-9A57-3FBD50C8B779}" srcOrd="0" destOrd="0" presId="urn:microsoft.com/office/officeart/2005/8/layout/process4"/>
    <dgm:cxn modelId="{51B5AC60-43E7-4925-B9FB-BC4135D9DDB4}" type="presParOf" srcId="{F102F9C0-C862-4CD1-B56D-F5B939BEAB9A}" destId="{3C13630C-D8DB-4355-9EB1-B3334F2EAA64}" srcOrd="5" destOrd="0" presId="urn:microsoft.com/office/officeart/2005/8/layout/process4"/>
    <dgm:cxn modelId="{4B3FDCC9-9F15-48A5-8C98-A19AFADAA4B5}" type="presParOf" srcId="{F102F9C0-C862-4CD1-B56D-F5B939BEAB9A}" destId="{E45322F8-DEEB-4DF1-901A-C437400511B8}" srcOrd="6" destOrd="0" presId="urn:microsoft.com/office/officeart/2005/8/layout/process4"/>
    <dgm:cxn modelId="{2670C08D-5468-4E14-A3BB-D43A0AEB6364}" type="presParOf" srcId="{E45322F8-DEEB-4DF1-901A-C437400511B8}" destId="{A0956B5A-37E6-42FE-8957-0B73365EDE6D}" srcOrd="0" destOrd="0" presId="urn:microsoft.com/office/officeart/2005/8/layout/process4"/>
    <dgm:cxn modelId="{D50ADD5A-0E63-4138-8F06-367B831DA50A}" type="presParOf" srcId="{F102F9C0-C862-4CD1-B56D-F5B939BEAB9A}" destId="{414DB314-6C97-4BF3-B37C-71C1D2920FFC}" srcOrd="7" destOrd="0" presId="urn:microsoft.com/office/officeart/2005/8/layout/process4"/>
    <dgm:cxn modelId="{8F95394C-0A67-4938-84DC-876D26DFA2D9}" type="presParOf" srcId="{F102F9C0-C862-4CD1-B56D-F5B939BEAB9A}" destId="{50CDFD02-971B-4D99-A1D2-DE067DB21B0B}" srcOrd="8" destOrd="0" presId="urn:microsoft.com/office/officeart/2005/8/layout/process4"/>
    <dgm:cxn modelId="{53452835-ED03-406C-9A81-4856A48A8D0A}" type="presParOf" srcId="{50CDFD02-971B-4D99-A1D2-DE067DB21B0B}" destId="{1BA2F17C-995C-4133-9DC9-F2AD2845DF10}" srcOrd="0" destOrd="0" presId="urn:microsoft.com/office/officeart/2005/8/layout/process4"/>
    <dgm:cxn modelId="{8A335AAA-E0D3-491E-AB70-3A54B051819E}" type="presParOf" srcId="{F102F9C0-C862-4CD1-B56D-F5B939BEAB9A}" destId="{86CA1DFC-400A-4C0A-AC2D-C06A122B1B16}" srcOrd="9" destOrd="0" presId="urn:microsoft.com/office/officeart/2005/8/layout/process4"/>
    <dgm:cxn modelId="{3436F811-ACF0-4FC3-AEF9-FA08E2CB7841}" type="presParOf" srcId="{F102F9C0-C862-4CD1-B56D-F5B939BEAB9A}" destId="{3E398B99-FD65-4626-A7C8-5F0A71BB55EF}" srcOrd="10" destOrd="0" presId="urn:microsoft.com/office/officeart/2005/8/layout/process4"/>
    <dgm:cxn modelId="{C08912DB-3254-423C-AC48-D64379E2CBF3}" type="presParOf" srcId="{3E398B99-FD65-4626-A7C8-5F0A71BB55EF}" destId="{4335876C-B26A-4C0B-AC9B-5F64FC5D4883}" srcOrd="0" destOrd="0" presId="urn:microsoft.com/office/officeart/2005/8/layout/process4"/>
    <dgm:cxn modelId="{3A600AD4-3157-4E4E-BC2B-5503A86E9F1E}" type="presParOf" srcId="{F102F9C0-C862-4CD1-B56D-F5B939BEAB9A}" destId="{0A9CD0C5-6908-48DE-8411-FF12E57FD517}" srcOrd="11" destOrd="0" presId="urn:microsoft.com/office/officeart/2005/8/layout/process4"/>
    <dgm:cxn modelId="{F12B7B0A-3283-448D-B9AB-9578665AE9AB}" type="presParOf" srcId="{F102F9C0-C862-4CD1-B56D-F5B939BEAB9A}" destId="{A6F7D4A1-2C57-4261-B7DE-D716B375FA0A}" srcOrd="12" destOrd="0" presId="urn:microsoft.com/office/officeart/2005/8/layout/process4"/>
    <dgm:cxn modelId="{2970434F-E04E-4F24-B6F5-03CE913A889F}" type="presParOf" srcId="{A6F7D4A1-2C57-4261-B7DE-D716B375FA0A}" destId="{0CFAD88A-2AC5-437A-BF17-AF1CEEA4755C}"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AD1DA81-F246-4D51-9509-71E495A2F56F}" type="doc">
      <dgm:prSet loTypeId="urn:microsoft.com/office/officeart/2005/8/layout/process4" loCatId="process" qsTypeId="urn:microsoft.com/office/officeart/2005/8/quickstyle/simple1" qsCatId="simple" csTypeId="urn:microsoft.com/office/officeart/2005/8/colors/accent0_3" csCatId="mainScheme" phldr="1"/>
      <dgm:spPr/>
      <dgm:t>
        <a:bodyPr/>
        <a:lstStyle/>
        <a:p>
          <a:endParaRPr lang="en-US"/>
        </a:p>
      </dgm:t>
    </dgm:pt>
    <dgm:pt modelId="{55D9E213-4C6A-4492-AEF9-07A1352A1CEE}">
      <dgm:prSet custT="1"/>
      <dgm:spPr/>
      <dgm:t>
        <a:bodyPr/>
        <a:lstStyle/>
        <a:p>
          <a:pPr algn="ctr"/>
          <a:r>
            <a:rPr lang="nl-NL" sz="2400">
              <a:latin typeface="Times New Roman (Headings)"/>
            </a:rPr>
            <a:t>Toán tử lai ghép</a:t>
          </a:r>
          <a:endParaRPr lang="en-US" sz="2400" dirty="0">
            <a:latin typeface="Times New Roman (Headings)"/>
          </a:endParaRPr>
        </a:p>
      </dgm:t>
    </dgm:pt>
    <dgm:pt modelId="{F6415BE5-DF80-42AA-91F1-91954C0FD17A}" type="parTrans" cxnId="{EDECE349-8214-40F0-BACC-392666D318A0}">
      <dgm:prSet/>
      <dgm:spPr/>
      <dgm:t>
        <a:bodyPr/>
        <a:lstStyle/>
        <a:p>
          <a:endParaRPr lang="en-US"/>
        </a:p>
      </dgm:t>
    </dgm:pt>
    <dgm:pt modelId="{18E6160D-0B21-4D9D-B7D8-A10B01047202}" type="sibTrans" cxnId="{EDECE349-8214-40F0-BACC-392666D318A0}">
      <dgm:prSet phldrT="01" phldr="0"/>
      <dgm:spPr/>
    </dgm:pt>
    <dgm:pt modelId="{12D2EE1D-EAF4-4D73-AFBA-157BD3CBC403}">
      <dgm:prSet custT="1"/>
      <dgm:spPr/>
      <dgm:t>
        <a:bodyPr/>
        <a:lstStyle/>
        <a:p>
          <a:pPr algn="ctr"/>
          <a:r>
            <a:rPr lang="nl-NL" sz="2400">
              <a:latin typeface="Times New Roman (Headings)"/>
            </a:rPr>
            <a:t>Toán tử đột biến</a:t>
          </a:r>
          <a:endParaRPr lang="en-US" sz="2400" dirty="0">
            <a:latin typeface="Times New Roman (Headings)"/>
          </a:endParaRPr>
        </a:p>
      </dgm:t>
    </dgm:pt>
    <dgm:pt modelId="{F7B008DD-FDFB-4F9A-9472-D92F715BE745}" type="parTrans" cxnId="{EF5EF5DD-46BB-4315-B4F4-C270CA0E7926}">
      <dgm:prSet/>
      <dgm:spPr/>
      <dgm:t>
        <a:bodyPr/>
        <a:lstStyle/>
        <a:p>
          <a:endParaRPr lang="en-US"/>
        </a:p>
      </dgm:t>
    </dgm:pt>
    <dgm:pt modelId="{02E471CD-EEA5-4A54-8219-BEA92BC6850C}" type="sibTrans" cxnId="{EF5EF5DD-46BB-4315-B4F4-C270CA0E7926}">
      <dgm:prSet phldrT="02" phldr="0"/>
      <dgm:spPr/>
    </dgm:pt>
    <dgm:pt modelId="{C603565D-A6BA-4DBE-AABC-FDE8D586C384}">
      <dgm:prSet custT="1"/>
      <dgm:spPr/>
      <dgm:t>
        <a:bodyPr/>
        <a:lstStyle/>
        <a:p>
          <a:pPr algn="ctr"/>
          <a:r>
            <a:rPr lang="en-US" sz="2400">
              <a:latin typeface="Times New Roman (Headings)"/>
            </a:rPr>
            <a:t>Phân tích toán học và độ phức tạp</a:t>
          </a:r>
          <a:endParaRPr lang="en-US" sz="2400" dirty="0">
            <a:latin typeface="Times New Roman (Headings)"/>
          </a:endParaRPr>
        </a:p>
      </dgm:t>
    </dgm:pt>
    <dgm:pt modelId="{D8B01E2B-6B60-4E82-A312-EB05B49ED0E9}" type="parTrans" cxnId="{191025DC-C7B2-4AEF-BA6C-668C9AF12656}">
      <dgm:prSet/>
      <dgm:spPr/>
      <dgm:t>
        <a:bodyPr/>
        <a:lstStyle/>
        <a:p>
          <a:endParaRPr lang="en-US"/>
        </a:p>
      </dgm:t>
    </dgm:pt>
    <dgm:pt modelId="{3458DB39-1882-4629-9FEA-0D04C6965EEF}" type="sibTrans" cxnId="{191025DC-C7B2-4AEF-BA6C-668C9AF12656}">
      <dgm:prSet phldrT="03" phldr="0"/>
      <dgm:spPr/>
    </dgm:pt>
    <dgm:pt modelId="{8AA673A7-555B-4A6D-B345-7DBD06BCE391}">
      <dgm:prSet custT="1"/>
      <dgm:spPr/>
      <dgm:t>
        <a:bodyPr/>
        <a:lstStyle/>
        <a:p>
          <a:pPr algn="ctr"/>
          <a:r>
            <a:rPr lang="nl-NL" sz="2400">
              <a:latin typeface="Times New Roman (Headings)"/>
            </a:rPr>
            <a:t>Liên hệ với seeding</a:t>
          </a:r>
          <a:endParaRPr lang="en-US" sz="2400" dirty="0">
            <a:latin typeface="Times New Roman (Headings)"/>
          </a:endParaRPr>
        </a:p>
      </dgm:t>
    </dgm:pt>
    <dgm:pt modelId="{BFC60B7D-8157-4662-BF16-0651532A939B}" type="parTrans" cxnId="{3B622CC6-ECA9-4FF6-95E9-A4917FB8A083}">
      <dgm:prSet/>
      <dgm:spPr/>
      <dgm:t>
        <a:bodyPr/>
        <a:lstStyle/>
        <a:p>
          <a:endParaRPr lang="en-US"/>
        </a:p>
      </dgm:t>
    </dgm:pt>
    <dgm:pt modelId="{DBC72EBC-1745-4D98-A04C-154C6438FDE4}" type="sibTrans" cxnId="{3B622CC6-ECA9-4FF6-95E9-A4917FB8A083}">
      <dgm:prSet phldrT="04" phldr="0"/>
      <dgm:spPr/>
    </dgm:pt>
    <dgm:pt modelId="{FEF2C35D-34F6-43A0-97B8-2367F2F789FF}">
      <dgm:prSet custT="1"/>
      <dgm:spPr/>
      <dgm:t>
        <a:bodyPr/>
        <a:lstStyle/>
        <a:p>
          <a:pPr algn="ctr"/>
          <a:r>
            <a:rPr lang="en-US" sz="2400">
              <a:latin typeface="Times New Roman (Headings)"/>
            </a:rPr>
            <a:t>Bàn luận mở rộng</a:t>
          </a:r>
          <a:endParaRPr lang="en-US" sz="2400" dirty="0">
            <a:latin typeface="Times New Roman (Headings)"/>
          </a:endParaRPr>
        </a:p>
      </dgm:t>
    </dgm:pt>
    <dgm:pt modelId="{AD95ECFD-B491-4A63-9198-E20DD6C48E44}" type="parTrans" cxnId="{F991A6B7-51A9-4473-AF23-771CCAF0B22F}">
      <dgm:prSet/>
      <dgm:spPr/>
      <dgm:t>
        <a:bodyPr/>
        <a:lstStyle/>
        <a:p>
          <a:endParaRPr lang="en-US"/>
        </a:p>
      </dgm:t>
    </dgm:pt>
    <dgm:pt modelId="{F2A2AA1F-84CE-47AF-8F33-3124DC1CAD44}" type="sibTrans" cxnId="{F991A6B7-51A9-4473-AF23-771CCAF0B22F}">
      <dgm:prSet phldrT="05" phldr="0"/>
      <dgm:spPr/>
      <dgm:t>
        <a:bodyPr/>
        <a:lstStyle/>
        <a:p>
          <a:endParaRPr lang="en-US" dirty="0"/>
        </a:p>
      </dgm:t>
    </dgm:pt>
    <dgm:pt modelId="{F102F9C0-C862-4CD1-B56D-F5B939BEAB9A}" type="pres">
      <dgm:prSet presAssocID="{7AD1DA81-F246-4D51-9509-71E495A2F56F}" presName="Name0" presStyleCnt="0">
        <dgm:presLayoutVars>
          <dgm:dir/>
          <dgm:animLvl val="lvl"/>
          <dgm:resizeHandles val="exact"/>
        </dgm:presLayoutVars>
      </dgm:prSet>
      <dgm:spPr/>
    </dgm:pt>
    <dgm:pt modelId="{B8FF8B1C-8983-41EE-97A4-F29E93EDEFCB}" type="pres">
      <dgm:prSet presAssocID="{FEF2C35D-34F6-43A0-97B8-2367F2F789FF}" presName="boxAndChildren" presStyleCnt="0"/>
      <dgm:spPr/>
    </dgm:pt>
    <dgm:pt modelId="{EC5529F2-3388-4F4A-9B1B-77EF41119491}" type="pres">
      <dgm:prSet presAssocID="{FEF2C35D-34F6-43A0-97B8-2367F2F789FF}" presName="parentTextBox" presStyleLbl="node1" presStyleIdx="0" presStyleCnt="5"/>
      <dgm:spPr/>
    </dgm:pt>
    <dgm:pt modelId="{3C13630C-D8DB-4355-9EB1-B3334F2EAA64}" type="pres">
      <dgm:prSet presAssocID="{DBC72EBC-1745-4D98-A04C-154C6438FDE4}" presName="sp" presStyleCnt="0"/>
      <dgm:spPr/>
    </dgm:pt>
    <dgm:pt modelId="{E45322F8-DEEB-4DF1-901A-C437400511B8}" type="pres">
      <dgm:prSet presAssocID="{8AA673A7-555B-4A6D-B345-7DBD06BCE391}" presName="arrowAndChildren" presStyleCnt="0"/>
      <dgm:spPr/>
    </dgm:pt>
    <dgm:pt modelId="{A0956B5A-37E6-42FE-8957-0B73365EDE6D}" type="pres">
      <dgm:prSet presAssocID="{8AA673A7-555B-4A6D-B345-7DBD06BCE391}" presName="parentTextArrow" presStyleLbl="node1" presStyleIdx="1" presStyleCnt="5"/>
      <dgm:spPr/>
    </dgm:pt>
    <dgm:pt modelId="{414DB314-6C97-4BF3-B37C-71C1D2920FFC}" type="pres">
      <dgm:prSet presAssocID="{3458DB39-1882-4629-9FEA-0D04C6965EEF}" presName="sp" presStyleCnt="0"/>
      <dgm:spPr/>
    </dgm:pt>
    <dgm:pt modelId="{50CDFD02-971B-4D99-A1D2-DE067DB21B0B}" type="pres">
      <dgm:prSet presAssocID="{C603565D-A6BA-4DBE-AABC-FDE8D586C384}" presName="arrowAndChildren" presStyleCnt="0"/>
      <dgm:spPr/>
    </dgm:pt>
    <dgm:pt modelId="{1BA2F17C-995C-4133-9DC9-F2AD2845DF10}" type="pres">
      <dgm:prSet presAssocID="{C603565D-A6BA-4DBE-AABC-FDE8D586C384}" presName="parentTextArrow" presStyleLbl="node1" presStyleIdx="2" presStyleCnt="5"/>
      <dgm:spPr/>
    </dgm:pt>
    <dgm:pt modelId="{86CA1DFC-400A-4C0A-AC2D-C06A122B1B16}" type="pres">
      <dgm:prSet presAssocID="{02E471CD-EEA5-4A54-8219-BEA92BC6850C}" presName="sp" presStyleCnt="0"/>
      <dgm:spPr/>
    </dgm:pt>
    <dgm:pt modelId="{3E398B99-FD65-4626-A7C8-5F0A71BB55EF}" type="pres">
      <dgm:prSet presAssocID="{12D2EE1D-EAF4-4D73-AFBA-157BD3CBC403}" presName="arrowAndChildren" presStyleCnt="0"/>
      <dgm:spPr/>
    </dgm:pt>
    <dgm:pt modelId="{4335876C-B26A-4C0B-AC9B-5F64FC5D4883}" type="pres">
      <dgm:prSet presAssocID="{12D2EE1D-EAF4-4D73-AFBA-157BD3CBC403}" presName="parentTextArrow" presStyleLbl="node1" presStyleIdx="3" presStyleCnt="5"/>
      <dgm:spPr/>
    </dgm:pt>
    <dgm:pt modelId="{0A9CD0C5-6908-48DE-8411-FF12E57FD517}" type="pres">
      <dgm:prSet presAssocID="{18E6160D-0B21-4D9D-B7D8-A10B01047202}" presName="sp" presStyleCnt="0"/>
      <dgm:spPr/>
    </dgm:pt>
    <dgm:pt modelId="{A6F7D4A1-2C57-4261-B7DE-D716B375FA0A}" type="pres">
      <dgm:prSet presAssocID="{55D9E213-4C6A-4492-AEF9-07A1352A1CEE}" presName="arrowAndChildren" presStyleCnt="0"/>
      <dgm:spPr/>
    </dgm:pt>
    <dgm:pt modelId="{0CFAD88A-2AC5-437A-BF17-AF1CEEA4755C}" type="pres">
      <dgm:prSet presAssocID="{55D9E213-4C6A-4492-AEF9-07A1352A1CEE}" presName="parentTextArrow" presStyleLbl="node1" presStyleIdx="4" presStyleCnt="5" custLinFactNeighborX="2874" custLinFactNeighborY="-3734"/>
      <dgm:spPr/>
    </dgm:pt>
  </dgm:ptLst>
  <dgm:cxnLst>
    <dgm:cxn modelId="{E56C8A16-388C-446D-AF18-27B5B670347F}" type="presOf" srcId="{FEF2C35D-34F6-43A0-97B8-2367F2F789FF}" destId="{EC5529F2-3388-4F4A-9B1B-77EF41119491}" srcOrd="0" destOrd="0" presId="urn:microsoft.com/office/officeart/2005/8/layout/process4"/>
    <dgm:cxn modelId="{DBDAFB25-D7CC-45AE-BE50-B9F8CBFFA397}" type="presOf" srcId="{7AD1DA81-F246-4D51-9509-71E495A2F56F}" destId="{F102F9C0-C862-4CD1-B56D-F5B939BEAB9A}" srcOrd="0" destOrd="0" presId="urn:microsoft.com/office/officeart/2005/8/layout/process4"/>
    <dgm:cxn modelId="{D413C845-EEF2-442E-9973-3B109F6868D7}" type="presOf" srcId="{12D2EE1D-EAF4-4D73-AFBA-157BD3CBC403}" destId="{4335876C-B26A-4C0B-AC9B-5F64FC5D4883}" srcOrd="0" destOrd="0" presId="urn:microsoft.com/office/officeart/2005/8/layout/process4"/>
    <dgm:cxn modelId="{EDECE349-8214-40F0-BACC-392666D318A0}" srcId="{7AD1DA81-F246-4D51-9509-71E495A2F56F}" destId="{55D9E213-4C6A-4492-AEF9-07A1352A1CEE}" srcOrd="0" destOrd="0" parTransId="{F6415BE5-DF80-42AA-91F1-91954C0FD17A}" sibTransId="{18E6160D-0B21-4D9D-B7D8-A10B01047202}"/>
    <dgm:cxn modelId="{176F1B7E-9B92-41BB-91FE-9D8A9BE2950E}" type="presOf" srcId="{55D9E213-4C6A-4492-AEF9-07A1352A1CEE}" destId="{0CFAD88A-2AC5-437A-BF17-AF1CEEA4755C}" srcOrd="0" destOrd="0" presId="urn:microsoft.com/office/officeart/2005/8/layout/process4"/>
    <dgm:cxn modelId="{F991A6B7-51A9-4473-AF23-771CCAF0B22F}" srcId="{7AD1DA81-F246-4D51-9509-71E495A2F56F}" destId="{FEF2C35D-34F6-43A0-97B8-2367F2F789FF}" srcOrd="4" destOrd="0" parTransId="{AD95ECFD-B491-4A63-9198-E20DD6C48E44}" sibTransId="{F2A2AA1F-84CE-47AF-8F33-3124DC1CAD44}"/>
    <dgm:cxn modelId="{3B622CC6-ECA9-4FF6-95E9-A4917FB8A083}" srcId="{7AD1DA81-F246-4D51-9509-71E495A2F56F}" destId="{8AA673A7-555B-4A6D-B345-7DBD06BCE391}" srcOrd="3" destOrd="0" parTransId="{BFC60B7D-8157-4662-BF16-0651532A939B}" sibTransId="{DBC72EBC-1745-4D98-A04C-154C6438FDE4}"/>
    <dgm:cxn modelId="{0D4C56CA-63A1-490A-B4D2-79E7A4928C89}" type="presOf" srcId="{C603565D-A6BA-4DBE-AABC-FDE8D586C384}" destId="{1BA2F17C-995C-4133-9DC9-F2AD2845DF10}" srcOrd="0" destOrd="0" presId="urn:microsoft.com/office/officeart/2005/8/layout/process4"/>
    <dgm:cxn modelId="{191025DC-C7B2-4AEF-BA6C-668C9AF12656}" srcId="{7AD1DA81-F246-4D51-9509-71E495A2F56F}" destId="{C603565D-A6BA-4DBE-AABC-FDE8D586C384}" srcOrd="2" destOrd="0" parTransId="{D8B01E2B-6B60-4E82-A312-EB05B49ED0E9}" sibTransId="{3458DB39-1882-4629-9FEA-0D04C6965EEF}"/>
    <dgm:cxn modelId="{EF5EF5DD-46BB-4315-B4F4-C270CA0E7926}" srcId="{7AD1DA81-F246-4D51-9509-71E495A2F56F}" destId="{12D2EE1D-EAF4-4D73-AFBA-157BD3CBC403}" srcOrd="1" destOrd="0" parTransId="{F7B008DD-FDFB-4F9A-9472-D92F715BE745}" sibTransId="{02E471CD-EEA5-4A54-8219-BEA92BC6850C}"/>
    <dgm:cxn modelId="{780CE7E8-9C29-4B5D-9B11-956961FC4138}" type="presOf" srcId="{8AA673A7-555B-4A6D-B345-7DBD06BCE391}" destId="{A0956B5A-37E6-42FE-8957-0B73365EDE6D}" srcOrd="0" destOrd="0" presId="urn:microsoft.com/office/officeart/2005/8/layout/process4"/>
    <dgm:cxn modelId="{ED220C52-4050-4526-A43E-64D7A70AB9A8}" type="presParOf" srcId="{F102F9C0-C862-4CD1-B56D-F5B939BEAB9A}" destId="{B8FF8B1C-8983-41EE-97A4-F29E93EDEFCB}" srcOrd="0" destOrd="0" presId="urn:microsoft.com/office/officeart/2005/8/layout/process4"/>
    <dgm:cxn modelId="{D89DC3F6-1A28-4137-8B1D-1385F0C8E851}" type="presParOf" srcId="{B8FF8B1C-8983-41EE-97A4-F29E93EDEFCB}" destId="{EC5529F2-3388-4F4A-9B1B-77EF41119491}" srcOrd="0" destOrd="0" presId="urn:microsoft.com/office/officeart/2005/8/layout/process4"/>
    <dgm:cxn modelId="{51B5AC60-43E7-4925-B9FB-BC4135D9DDB4}" type="presParOf" srcId="{F102F9C0-C862-4CD1-B56D-F5B939BEAB9A}" destId="{3C13630C-D8DB-4355-9EB1-B3334F2EAA64}" srcOrd="1" destOrd="0" presId="urn:microsoft.com/office/officeart/2005/8/layout/process4"/>
    <dgm:cxn modelId="{4B3FDCC9-9F15-48A5-8C98-A19AFADAA4B5}" type="presParOf" srcId="{F102F9C0-C862-4CD1-B56D-F5B939BEAB9A}" destId="{E45322F8-DEEB-4DF1-901A-C437400511B8}" srcOrd="2" destOrd="0" presId="urn:microsoft.com/office/officeart/2005/8/layout/process4"/>
    <dgm:cxn modelId="{2670C08D-5468-4E14-A3BB-D43A0AEB6364}" type="presParOf" srcId="{E45322F8-DEEB-4DF1-901A-C437400511B8}" destId="{A0956B5A-37E6-42FE-8957-0B73365EDE6D}" srcOrd="0" destOrd="0" presId="urn:microsoft.com/office/officeart/2005/8/layout/process4"/>
    <dgm:cxn modelId="{D50ADD5A-0E63-4138-8F06-367B831DA50A}" type="presParOf" srcId="{F102F9C0-C862-4CD1-B56D-F5B939BEAB9A}" destId="{414DB314-6C97-4BF3-B37C-71C1D2920FFC}" srcOrd="3" destOrd="0" presId="urn:microsoft.com/office/officeart/2005/8/layout/process4"/>
    <dgm:cxn modelId="{8F95394C-0A67-4938-84DC-876D26DFA2D9}" type="presParOf" srcId="{F102F9C0-C862-4CD1-B56D-F5B939BEAB9A}" destId="{50CDFD02-971B-4D99-A1D2-DE067DB21B0B}" srcOrd="4" destOrd="0" presId="urn:microsoft.com/office/officeart/2005/8/layout/process4"/>
    <dgm:cxn modelId="{53452835-ED03-406C-9A81-4856A48A8D0A}" type="presParOf" srcId="{50CDFD02-971B-4D99-A1D2-DE067DB21B0B}" destId="{1BA2F17C-995C-4133-9DC9-F2AD2845DF10}" srcOrd="0" destOrd="0" presId="urn:microsoft.com/office/officeart/2005/8/layout/process4"/>
    <dgm:cxn modelId="{8A335AAA-E0D3-491E-AB70-3A54B051819E}" type="presParOf" srcId="{F102F9C0-C862-4CD1-B56D-F5B939BEAB9A}" destId="{86CA1DFC-400A-4C0A-AC2D-C06A122B1B16}" srcOrd="5" destOrd="0" presId="urn:microsoft.com/office/officeart/2005/8/layout/process4"/>
    <dgm:cxn modelId="{3436F811-ACF0-4FC3-AEF9-FA08E2CB7841}" type="presParOf" srcId="{F102F9C0-C862-4CD1-B56D-F5B939BEAB9A}" destId="{3E398B99-FD65-4626-A7C8-5F0A71BB55EF}" srcOrd="6" destOrd="0" presId="urn:microsoft.com/office/officeart/2005/8/layout/process4"/>
    <dgm:cxn modelId="{C08912DB-3254-423C-AC48-D64379E2CBF3}" type="presParOf" srcId="{3E398B99-FD65-4626-A7C8-5F0A71BB55EF}" destId="{4335876C-B26A-4C0B-AC9B-5F64FC5D4883}" srcOrd="0" destOrd="0" presId="urn:microsoft.com/office/officeart/2005/8/layout/process4"/>
    <dgm:cxn modelId="{3A600AD4-3157-4E4E-BC2B-5503A86E9F1E}" type="presParOf" srcId="{F102F9C0-C862-4CD1-B56D-F5B939BEAB9A}" destId="{0A9CD0C5-6908-48DE-8411-FF12E57FD517}" srcOrd="7" destOrd="0" presId="urn:microsoft.com/office/officeart/2005/8/layout/process4"/>
    <dgm:cxn modelId="{F12B7B0A-3283-448D-B9AB-9578665AE9AB}" type="presParOf" srcId="{F102F9C0-C862-4CD1-B56D-F5B939BEAB9A}" destId="{A6F7D4A1-2C57-4261-B7DE-D716B375FA0A}" srcOrd="8" destOrd="0" presId="urn:microsoft.com/office/officeart/2005/8/layout/process4"/>
    <dgm:cxn modelId="{2970434F-E04E-4F24-B6F5-03CE913A889F}" type="presParOf" srcId="{A6F7D4A1-2C57-4261-B7DE-D716B375FA0A}" destId="{0CFAD88A-2AC5-437A-BF17-AF1CEEA4755C}"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CC1C1FF-A5DE-467C-BB1E-503697CE1F8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1FEB210-B108-42F8-8FA3-BB7322097A9F}">
      <dgm:prSet/>
      <dgm:spPr/>
      <dgm:t>
        <a:bodyPr/>
        <a:lstStyle/>
        <a:p>
          <a:r>
            <a:rPr lang="en-US" b="1" i="1">
              <a:latin typeface="Times New Roman" panose="02020603050405020304" pitchFamily="18" charset="0"/>
              <a:cs typeface="Times New Roman" panose="02020603050405020304" pitchFamily="18" charset="0"/>
            </a:rPr>
            <a:t>Đề án đã thực hiện được: </a:t>
          </a:r>
          <a:endParaRPr lang="en-US">
            <a:latin typeface="Times New Roman" panose="02020603050405020304" pitchFamily="18" charset="0"/>
            <a:cs typeface="Times New Roman" panose="02020603050405020304" pitchFamily="18" charset="0"/>
          </a:endParaRPr>
        </a:p>
      </dgm:t>
    </dgm:pt>
    <dgm:pt modelId="{A5306B44-E02C-4DEA-B1DA-4EF9758601D7}" type="parTrans" cxnId="{8A5F0CBA-3A3A-4AB2-9F0C-FFD5FA29198E}">
      <dgm:prSet/>
      <dgm:spPr/>
      <dgm:t>
        <a:bodyPr/>
        <a:lstStyle/>
        <a:p>
          <a:endParaRPr lang="en-US">
            <a:latin typeface="Times New Roman" panose="02020603050405020304" pitchFamily="18" charset="0"/>
            <a:cs typeface="Times New Roman" panose="02020603050405020304" pitchFamily="18" charset="0"/>
          </a:endParaRPr>
        </a:p>
      </dgm:t>
    </dgm:pt>
    <dgm:pt modelId="{79C1AAF6-3126-4082-AFC7-EE1DFEB23444}" type="sibTrans" cxnId="{8A5F0CBA-3A3A-4AB2-9F0C-FFD5FA29198E}">
      <dgm:prSet/>
      <dgm:spPr/>
      <dgm:t>
        <a:bodyPr/>
        <a:lstStyle/>
        <a:p>
          <a:endParaRPr lang="en-US">
            <a:latin typeface="Times New Roman" panose="02020603050405020304" pitchFamily="18" charset="0"/>
            <a:cs typeface="Times New Roman" panose="02020603050405020304" pitchFamily="18" charset="0"/>
          </a:endParaRPr>
        </a:p>
      </dgm:t>
    </dgm:pt>
    <dgm:pt modelId="{1E0C5123-2C7B-4CAB-90B2-99EAD7BE8D55}">
      <dgm:prSet/>
      <dgm:spPr/>
      <dgm:t>
        <a:bodyPr/>
        <a:lstStyle/>
        <a:p>
          <a:r>
            <a:rPr lang="vi-VN">
              <a:latin typeface="Times New Roman" panose="02020603050405020304" pitchFamily="18" charset="0"/>
              <a:cs typeface="Times New Roman" panose="02020603050405020304" pitchFamily="18" charset="0"/>
            </a:rPr>
            <a:t>Đề tài đã chỉ ra tính cấp thiết của việc ứng dụng giải thuật di truyền vào sắp xếp thời khóa biểu, nhằm tối ưu hóa quy trình phân bổ thời gian và tài nguyên. </a:t>
          </a:r>
          <a:endParaRPr lang="en-US">
            <a:latin typeface="Times New Roman" panose="02020603050405020304" pitchFamily="18" charset="0"/>
            <a:cs typeface="Times New Roman" panose="02020603050405020304" pitchFamily="18" charset="0"/>
          </a:endParaRPr>
        </a:p>
      </dgm:t>
    </dgm:pt>
    <dgm:pt modelId="{E997EA46-5EE6-49BD-96AC-BE9EE26945A5}" type="parTrans" cxnId="{B4DC5FD0-6F63-4734-9DD2-2A57F52C0E39}">
      <dgm:prSet/>
      <dgm:spPr/>
      <dgm:t>
        <a:bodyPr/>
        <a:lstStyle/>
        <a:p>
          <a:endParaRPr lang="en-US">
            <a:latin typeface="Times New Roman" panose="02020603050405020304" pitchFamily="18" charset="0"/>
            <a:cs typeface="Times New Roman" panose="02020603050405020304" pitchFamily="18" charset="0"/>
          </a:endParaRPr>
        </a:p>
      </dgm:t>
    </dgm:pt>
    <dgm:pt modelId="{84965D6B-6E99-4FD5-91EE-9A81DC2725A9}" type="sibTrans" cxnId="{B4DC5FD0-6F63-4734-9DD2-2A57F52C0E39}">
      <dgm:prSet/>
      <dgm:spPr/>
      <dgm:t>
        <a:bodyPr/>
        <a:lstStyle/>
        <a:p>
          <a:endParaRPr lang="en-US">
            <a:latin typeface="Times New Roman" panose="02020603050405020304" pitchFamily="18" charset="0"/>
            <a:cs typeface="Times New Roman" panose="02020603050405020304" pitchFamily="18" charset="0"/>
          </a:endParaRPr>
        </a:p>
      </dgm:t>
    </dgm:pt>
    <dgm:pt modelId="{43A6F506-E0FC-4E2E-818B-292DEBABB19A}">
      <dgm:prSet/>
      <dgm:spPr/>
      <dgm:t>
        <a:bodyPr/>
        <a:lstStyle/>
        <a:p>
          <a:r>
            <a:rPr lang="en-US">
              <a:latin typeface="Times New Roman" panose="02020603050405020304" pitchFamily="18" charset="0"/>
              <a:cs typeface="Times New Roman" panose="02020603050405020304" pitchFamily="18" charset="0"/>
            </a:rPr>
            <a:t>G</a:t>
          </a:r>
          <a:r>
            <a:rPr lang="vi-VN">
              <a:latin typeface="Times New Roman" panose="02020603050405020304" pitchFamily="18" charset="0"/>
              <a:cs typeface="Times New Roman" panose="02020603050405020304" pitchFamily="18" charset="0"/>
            </a:rPr>
            <a:t>iải thuật di truyền giúp tìm ra các phương án tối ưu, giảm thiểu thời gian và công sức trong việc sắp xếp lịch học.</a:t>
          </a:r>
          <a:endParaRPr lang="en-US">
            <a:latin typeface="Times New Roman" panose="02020603050405020304" pitchFamily="18" charset="0"/>
            <a:cs typeface="Times New Roman" panose="02020603050405020304" pitchFamily="18" charset="0"/>
          </a:endParaRPr>
        </a:p>
      </dgm:t>
    </dgm:pt>
    <dgm:pt modelId="{627894E4-0DE5-4242-8EDD-55F4C4938D43}" type="parTrans" cxnId="{FFFC7740-3A9F-46F8-8FA1-97C446B03CBB}">
      <dgm:prSet/>
      <dgm:spPr/>
      <dgm:t>
        <a:bodyPr/>
        <a:lstStyle/>
        <a:p>
          <a:endParaRPr lang="en-US">
            <a:latin typeface="Times New Roman" panose="02020603050405020304" pitchFamily="18" charset="0"/>
            <a:cs typeface="Times New Roman" panose="02020603050405020304" pitchFamily="18" charset="0"/>
          </a:endParaRPr>
        </a:p>
      </dgm:t>
    </dgm:pt>
    <dgm:pt modelId="{0BD4802F-F7EA-4C65-84F3-7CD29245A3DB}" type="sibTrans" cxnId="{FFFC7740-3A9F-46F8-8FA1-97C446B03CBB}">
      <dgm:prSet/>
      <dgm:spPr/>
      <dgm:t>
        <a:bodyPr/>
        <a:lstStyle/>
        <a:p>
          <a:endParaRPr lang="en-US">
            <a:latin typeface="Times New Roman" panose="02020603050405020304" pitchFamily="18" charset="0"/>
            <a:cs typeface="Times New Roman" panose="02020603050405020304" pitchFamily="18" charset="0"/>
          </a:endParaRPr>
        </a:p>
      </dgm:t>
    </dgm:pt>
    <dgm:pt modelId="{BA92BDEB-1A4E-4F4F-BC1F-942662B9D411}">
      <dgm:prSet/>
      <dgm:spPr/>
      <dgm:t>
        <a:bodyPr/>
        <a:lstStyle/>
        <a:p>
          <a:r>
            <a:rPr lang="en-US">
              <a:latin typeface="Times New Roman" panose="02020603050405020304" pitchFamily="18" charset="0"/>
              <a:cs typeface="Times New Roman" panose="02020603050405020304" pitchFamily="18" charset="0"/>
            </a:rPr>
            <a:t>Chương trình và kết quả thực nghiệm cho thấy hướng sử dụng thuật toán di truyền để giải quyết bài toán sắp xếp thời khóa biểu là hiệu quả. </a:t>
          </a:r>
        </a:p>
      </dgm:t>
    </dgm:pt>
    <dgm:pt modelId="{A007C5F0-F123-4AA6-BCE3-94DA995728B6}" type="parTrans" cxnId="{E1E04B41-EB4A-4F28-9265-4107658F4E49}">
      <dgm:prSet/>
      <dgm:spPr/>
      <dgm:t>
        <a:bodyPr/>
        <a:lstStyle/>
        <a:p>
          <a:endParaRPr lang="en-US">
            <a:latin typeface="Times New Roman" panose="02020603050405020304" pitchFamily="18" charset="0"/>
            <a:cs typeface="Times New Roman" panose="02020603050405020304" pitchFamily="18" charset="0"/>
          </a:endParaRPr>
        </a:p>
      </dgm:t>
    </dgm:pt>
    <dgm:pt modelId="{CADBD31A-39FA-4A16-8350-A7AD1C40752A}" type="sibTrans" cxnId="{E1E04B41-EB4A-4F28-9265-4107658F4E49}">
      <dgm:prSet/>
      <dgm:spPr/>
      <dgm:t>
        <a:bodyPr/>
        <a:lstStyle/>
        <a:p>
          <a:endParaRPr lang="en-US">
            <a:latin typeface="Times New Roman" panose="02020603050405020304" pitchFamily="18" charset="0"/>
            <a:cs typeface="Times New Roman" panose="02020603050405020304" pitchFamily="18" charset="0"/>
          </a:endParaRPr>
        </a:p>
      </dgm:t>
    </dgm:pt>
    <dgm:pt modelId="{9B6AD6FC-D792-4C93-9536-F71C05389D52}">
      <dgm:prSet/>
      <dgm:spPr/>
      <dgm:t>
        <a:bodyPr/>
        <a:lstStyle/>
        <a:p>
          <a:r>
            <a:rPr lang="en-US" b="1" i="1">
              <a:latin typeface="Times New Roman" panose="02020603050405020304" pitchFamily="18" charset="0"/>
              <a:cs typeface="Times New Roman" panose="02020603050405020304" pitchFamily="18" charset="0"/>
            </a:rPr>
            <a:t>Hạn chế của đề tài: </a:t>
          </a:r>
          <a:endParaRPr lang="en-US">
            <a:latin typeface="Times New Roman" panose="02020603050405020304" pitchFamily="18" charset="0"/>
            <a:cs typeface="Times New Roman" panose="02020603050405020304" pitchFamily="18" charset="0"/>
          </a:endParaRPr>
        </a:p>
      </dgm:t>
    </dgm:pt>
    <dgm:pt modelId="{9F29B882-4AF4-46AD-A7E8-656FE21F1E5A}" type="parTrans" cxnId="{A3D85E53-35C5-4919-9185-D217EC4ECA6C}">
      <dgm:prSet/>
      <dgm:spPr/>
      <dgm:t>
        <a:bodyPr/>
        <a:lstStyle/>
        <a:p>
          <a:endParaRPr lang="en-US">
            <a:latin typeface="Times New Roman" panose="02020603050405020304" pitchFamily="18" charset="0"/>
            <a:cs typeface="Times New Roman" panose="02020603050405020304" pitchFamily="18" charset="0"/>
          </a:endParaRPr>
        </a:p>
      </dgm:t>
    </dgm:pt>
    <dgm:pt modelId="{CD8474E7-7453-469D-9B9A-AEA8C3A0F0B9}" type="sibTrans" cxnId="{A3D85E53-35C5-4919-9185-D217EC4ECA6C}">
      <dgm:prSet/>
      <dgm:spPr/>
      <dgm:t>
        <a:bodyPr/>
        <a:lstStyle/>
        <a:p>
          <a:endParaRPr lang="en-US">
            <a:latin typeface="Times New Roman" panose="02020603050405020304" pitchFamily="18" charset="0"/>
            <a:cs typeface="Times New Roman" panose="02020603050405020304" pitchFamily="18" charset="0"/>
          </a:endParaRPr>
        </a:p>
      </dgm:t>
    </dgm:pt>
    <dgm:pt modelId="{E08D4756-C7F1-4EAC-B327-7C68CABA5AAE}">
      <dgm:prSet/>
      <dgm:spPr/>
      <dgm:t>
        <a:bodyPr/>
        <a:lstStyle/>
        <a:p>
          <a:r>
            <a:rPr lang="en-US">
              <a:latin typeface="Times New Roman" panose="02020603050405020304" pitchFamily="18" charset="0"/>
              <a:cs typeface="Times New Roman" panose="02020603050405020304" pitchFamily="18" charset="0"/>
            </a:rPr>
            <a:t>Kết quả thực nghiệm của chương trình chỉ áp dụng trên tập dữ liệu tương đối, chưa thử nghiệm được với bộ dữ liệu lớn</a:t>
          </a:r>
        </a:p>
      </dgm:t>
    </dgm:pt>
    <dgm:pt modelId="{8C198CC9-2961-4F1B-BCA7-DFF395ED7F7C}" type="parTrans" cxnId="{76A71B0D-10DD-4567-BC2C-74A66109D413}">
      <dgm:prSet/>
      <dgm:spPr/>
      <dgm:t>
        <a:bodyPr/>
        <a:lstStyle/>
        <a:p>
          <a:endParaRPr lang="en-US">
            <a:latin typeface="Times New Roman" panose="02020603050405020304" pitchFamily="18" charset="0"/>
            <a:cs typeface="Times New Roman" panose="02020603050405020304" pitchFamily="18" charset="0"/>
          </a:endParaRPr>
        </a:p>
      </dgm:t>
    </dgm:pt>
    <dgm:pt modelId="{F9630AFE-406D-44D5-B3D8-A7E637E4FC17}" type="sibTrans" cxnId="{76A71B0D-10DD-4567-BC2C-74A66109D413}">
      <dgm:prSet/>
      <dgm:spPr/>
      <dgm:t>
        <a:bodyPr/>
        <a:lstStyle/>
        <a:p>
          <a:endParaRPr lang="en-US">
            <a:latin typeface="Times New Roman" panose="02020603050405020304" pitchFamily="18" charset="0"/>
            <a:cs typeface="Times New Roman" panose="02020603050405020304" pitchFamily="18" charset="0"/>
          </a:endParaRPr>
        </a:p>
      </dgm:t>
    </dgm:pt>
    <dgm:pt modelId="{0F7988B6-2A02-4BF3-BDB3-6A4A08DD4292}" type="pres">
      <dgm:prSet presAssocID="{ACC1C1FF-A5DE-467C-BB1E-503697CE1F8C}" presName="linear" presStyleCnt="0">
        <dgm:presLayoutVars>
          <dgm:animLvl val="lvl"/>
          <dgm:resizeHandles val="exact"/>
        </dgm:presLayoutVars>
      </dgm:prSet>
      <dgm:spPr/>
    </dgm:pt>
    <dgm:pt modelId="{B4F835CA-AF98-4ADB-81C3-75EDE353C992}" type="pres">
      <dgm:prSet presAssocID="{21FEB210-B108-42F8-8FA3-BB7322097A9F}" presName="parentText" presStyleLbl="node1" presStyleIdx="0" presStyleCnt="2">
        <dgm:presLayoutVars>
          <dgm:chMax val="0"/>
          <dgm:bulletEnabled val="1"/>
        </dgm:presLayoutVars>
      </dgm:prSet>
      <dgm:spPr/>
    </dgm:pt>
    <dgm:pt modelId="{C7B6D529-E8F9-4633-990F-AAE975BCE037}" type="pres">
      <dgm:prSet presAssocID="{21FEB210-B108-42F8-8FA3-BB7322097A9F}" presName="childText" presStyleLbl="revTx" presStyleIdx="0" presStyleCnt="2">
        <dgm:presLayoutVars>
          <dgm:bulletEnabled val="1"/>
        </dgm:presLayoutVars>
      </dgm:prSet>
      <dgm:spPr/>
    </dgm:pt>
    <dgm:pt modelId="{26BB12A7-98C5-4BA4-87A2-408CEBDDAACA}" type="pres">
      <dgm:prSet presAssocID="{9B6AD6FC-D792-4C93-9536-F71C05389D52}" presName="parentText" presStyleLbl="node1" presStyleIdx="1" presStyleCnt="2">
        <dgm:presLayoutVars>
          <dgm:chMax val="0"/>
          <dgm:bulletEnabled val="1"/>
        </dgm:presLayoutVars>
      </dgm:prSet>
      <dgm:spPr/>
    </dgm:pt>
    <dgm:pt modelId="{1A93F465-90C7-42B5-9519-32872F3FD323}" type="pres">
      <dgm:prSet presAssocID="{9B6AD6FC-D792-4C93-9536-F71C05389D52}" presName="childText" presStyleLbl="revTx" presStyleIdx="1" presStyleCnt="2">
        <dgm:presLayoutVars>
          <dgm:bulletEnabled val="1"/>
        </dgm:presLayoutVars>
      </dgm:prSet>
      <dgm:spPr/>
    </dgm:pt>
  </dgm:ptLst>
  <dgm:cxnLst>
    <dgm:cxn modelId="{76A71B0D-10DD-4567-BC2C-74A66109D413}" srcId="{9B6AD6FC-D792-4C93-9536-F71C05389D52}" destId="{E08D4756-C7F1-4EAC-B327-7C68CABA5AAE}" srcOrd="0" destOrd="0" parTransId="{8C198CC9-2961-4F1B-BCA7-DFF395ED7F7C}" sibTransId="{F9630AFE-406D-44D5-B3D8-A7E637E4FC17}"/>
    <dgm:cxn modelId="{9965C236-FBAF-4F38-AF84-1C247F00E933}" type="presOf" srcId="{ACC1C1FF-A5DE-467C-BB1E-503697CE1F8C}" destId="{0F7988B6-2A02-4BF3-BDB3-6A4A08DD4292}" srcOrd="0" destOrd="0" presId="urn:microsoft.com/office/officeart/2005/8/layout/vList2"/>
    <dgm:cxn modelId="{FFFC7740-3A9F-46F8-8FA1-97C446B03CBB}" srcId="{21FEB210-B108-42F8-8FA3-BB7322097A9F}" destId="{43A6F506-E0FC-4E2E-818B-292DEBABB19A}" srcOrd="1" destOrd="0" parTransId="{627894E4-0DE5-4242-8EDD-55F4C4938D43}" sibTransId="{0BD4802F-F7EA-4C65-84F3-7CD29245A3DB}"/>
    <dgm:cxn modelId="{E1E04B41-EB4A-4F28-9265-4107658F4E49}" srcId="{21FEB210-B108-42F8-8FA3-BB7322097A9F}" destId="{BA92BDEB-1A4E-4F4F-BC1F-942662B9D411}" srcOrd="2" destOrd="0" parTransId="{A007C5F0-F123-4AA6-BCE3-94DA995728B6}" sibTransId="{CADBD31A-39FA-4A16-8350-A7AD1C40752A}"/>
    <dgm:cxn modelId="{A3D85E53-35C5-4919-9185-D217EC4ECA6C}" srcId="{ACC1C1FF-A5DE-467C-BB1E-503697CE1F8C}" destId="{9B6AD6FC-D792-4C93-9536-F71C05389D52}" srcOrd="1" destOrd="0" parTransId="{9F29B882-4AF4-46AD-A7E8-656FE21F1E5A}" sibTransId="{CD8474E7-7453-469D-9B9A-AEA8C3A0F0B9}"/>
    <dgm:cxn modelId="{A211F6A4-31DD-405B-AD42-67BE3741B74D}" type="presOf" srcId="{9B6AD6FC-D792-4C93-9536-F71C05389D52}" destId="{26BB12A7-98C5-4BA4-87A2-408CEBDDAACA}" srcOrd="0" destOrd="0" presId="urn:microsoft.com/office/officeart/2005/8/layout/vList2"/>
    <dgm:cxn modelId="{CEE4E1B5-1455-4788-AF44-BD15172C08DF}" type="presOf" srcId="{21FEB210-B108-42F8-8FA3-BB7322097A9F}" destId="{B4F835CA-AF98-4ADB-81C3-75EDE353C992}" srcOrd="0" destOrd="0" presId="urn:microsoft.com/office/officeart/2005/8/layout/vList2"/>
    <dgm:cxn modelId="{8A5F0CBA-3A3A-4AB2-9F0C-FFD5FA29198E}" srcId="{ACC1C1FF-A5DE-467C-BB1E-503697CE1F8C}" destId="{21FEB210-B108-42F8-8FA3-BB7322097A9F}" srcOrd="0" destOrd="0" parTransId="{A5306B44-E02C-4DEA-B1DA-4EF9758601D7}" sibTransId="{79C1AAF6-3126-4082-AFC7-EE1DFEB23444}"/>
    <dgm:cxn modelId="{CD3E24C4-84B5-4905-B9EE-3959CAD8E306}" type="presOf" srcId="{E08D4756-C7F1-4EAC-B327-7C68CABA5AAE}" destId="{1A93F465-90C7-42B5-9519-32872F3FD323}" srcOrd="0" destOrd="0" presId="urn:microsoft.com/office/officeart/2005/8/layout/vList2"/>
    <dgm:cxn modelId="{00C459CB-C124-41FF-A9A6-2FBB6077D8E5}" type="presOf" srcId="{BA92BDEB-1A4E-4F4F-BC1F-942662B9D411}" destId="{C7B6D529-E8F9-4633-990F-AAE975BCE037}" srcOrd="0" destOrd="2" presId="urn:microsoft.com/office/officeart/2005/8/layout/vList2"/>
    <dgm:cxn modelId="{237865CD-62C5-4A31-BA24-E7E6F001E632}" type="presOf" srcId="{43A6F506-E0FC-4E2E-818B-292DEBABB19A}" destId="{C7B6D529-E8F9-4633-990F-AAE975BCE037}" srcOrd="0" destOrd="1" presId="urn:microsoft.com/office/officeart/2005/8/layout/vList2"/>
    <dgm:cxn modelId="{B4DC5FD0-6F63-4734-9DD2-2A57F52C0E39}" srcId="{21FEB210-B108-42F8-8FA3-BB7322097A9F}" destId="{1E0C5123-2C7B-4CAB-90B2-99EAD7BE8D55}" srcOrd="0" destOrd="0" parTransId="{E997EA46-5EE6-49BD-96AC-BE9EE26945A5}" sibTransId="{84965D6B-6E99-4FD5-91EE-9A81DC2725A9}"/>
    <dgm:cxn modelId="{73C2B0F3-E0DB-4796-93E1-12DA06D1AC54}" type="presOf" srcId="{1E0C5123-2C7B-4CAB-90B2-99EAD7BE8D55}" destId="{C7B6D529-E8F9-4633-990F-AAE975BCE037}" srcOrd="0" destOrd="0" presId="urn:microsoft.com/office/officeart/2005/8/layout/vList2"/>
    <dgm:cxn modelId="{E203A7C9-8132-4787-A894-0BDDF42E3A82}" type="presParOf" srcId="{0F7988B6-2A02-4BF3-BDB3-6A4A08DD4292}" destId="{B4F835CA-AF98-4ADB-81C3-75EDE353C992}" srcOrd="0" destOrd="0" presId="urn:microsoft.com/office/officeart/2005/8/layout/vList2"/>
    <dgm:cxn modelId="{DD3B56F1-8F79-4E85-B5AD-813F1B1D5683}" type="presParOf" srcId="{0F7988B6-2A02-4BF3-BDB3-6A4A08DD4292}" destId="{C7B6D529-E8F9-4633-990F-AAE975BCE037}" srcOrd="1" destOrd="0" presId="urn:microsoft.com/office/officeart/2005/8/layout/vList2"/>
    <dgm:cxn modelId="{76B3BF88-D172-424A-AF33-4742374F11F1}" type="presParOf" srcId="{0F7988B6-2A02-4BF3-BDB3-6A4A08DD4292}" destId="{26BB12A7-98C5-4BA4-87A2-408CEBDDAACA}" srcOrd="2" destOrd="0" presId="urn:microsoft.com/office/officeart/2005/8/layout/vList2"/>
    <dgm:cxn modelId="{FB00E17D-76B1-443E-ADEF-AC698BE0C03F}" type="presParOf" srcId="{0F7988B6-2A02-4BF3-BDB3-6A4A08DD4292}" destId="{1A93F465-90C7-42B5-9519-32872F3FD323}"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BAE14F3-3B0F-436E-832F-ACA5017F9CA1}" type="doc">
      <dgm:prSet loTypeId="urn:microsoft.com/office/officeart/2005/8/layout/process1" loCatId="process" qsTypeId="urn:microsoft.com/office/officeart/2005/8/quickstyle/simple1" qsCatId="simple" csTypeId="urn:microsoft.com/office/officeart/2005/8/colors/accent1_2" csCatId="accent1"/>
      <dgm:spPr/>
      <dgm:t>
        <a:bodyPr/>
        <a:lstStyle/>
        <a:p>
          <a:endParaRPr lang="en-US"/>
        </a:p>
      </dgm:t>
    </dgm:pt>
    <dgm:pt modelId="{B004E431-8676-4135-B716-AFB03C3759EF}">
      <dgm:prSet/>
      <dgm:spPr/>
      <dgm:t>
        <a:bodyPr/>
        <a:lstStyle/>
        <a:p>
          <a:r>
            <a:rPr lang="en-US"/>
            <a:t>Mở rộng phần mềm để thử nghiệm được với khối lượng dữ liệu lớn hơn.</a:t>
          </a:r>
        </a:p>
      </dgm:t>
    </dgm:pt>
    <dgm:pt modelId="{95ED2895-97E2-4E74-B5A7-7F6FB48E03BD}" type="parTrans" cxnId="{BB2729E0-DCDE-4FA1-9DA7-0038A6B20D7C}">
      <dgm:prSet/>
      <dgm:spPr/>
      <dgm:t>
        <a:bodyPr/>
        <a:lstStyle/>
        <a:p>
          <a:endParaRPr lang="en-US"/>
        </a:p>
      </dgm:t>
    </dgm:pt>
    <dgm:pt modelId="{2F4D2F86-9E31-4675-8BD3-D50FEB5A20D0}" type="sibTrans" cxnId="{BB2729E0-DCDE-4FA1-9DA7-0038A6B20D7C}">
      <dgm:prSet/>
      <dgm:spPr/>
      <dgm:t>
        <a:bodyPr/>
        <a:lstStyle/>
        <a:p>
          <a:endParaRPr lang="en-US"/>
        </a:p>
      </dgm:t>
    </dgm:pt>
    <dgm:pt modelId="{0E4697FE-C6D0-4C7A-A364-D798AD4AA84E}">
      <dgm:prSet/>
      <dgm:spPr/>
      <dgm:t>
        <a:bodyPr/>
        <a:lstStyle/>
        <a:p>
          <a:r>
            <a:rPr lang="en-US"/>
            <a:t>Thực nghiệm sắp xếp lịch học trong các môi trường và điều kiện khác nhau. </a:t>
          </a:r>
        </a:p>
      </dgm:t>
    </dgm:pt>
    <dgm:pt modelId="{402D1810-B3F8-455C-824E-AEC33A41593E}" type="parTrans" cxnId="{8DE7770F-3F90-4B68-B919-AE4842F804C3}">
      <dgm:prSet/>
      <dgm:spPr/>
      <dgm:t>
        <a:bodyPr/>
        <a:lstStyle/>
        <a:p>
          <a:endParaRPr lang="en-US"/>
        </a:p>
      </dgm:t>
    </dgm:pt>
    <dgm:pt modelId="{56D7853C-9FBF-462F-B40F-ACD405B864DB}" type="sibTrans" cxnId="{8DE7770F-3F90-4B68-B919-AE4842F804C3}">
      <dgm:prSet/>
      <dgm:spPr/>
      <dgm:t>
        <a:bodyPr/>
        <a:lstStyle/>
        <a:p>
          <a:endParaRPr lang="en-US"/>
        </a:p>
      </dgm:t>
    </dgm:pt>
    <dgm:pt modelId="{51CE49AB-E65B-4C4D-904D-626F067E01C5}" type="pres">
      <dgm:prSet presAssocID="{ABAE14F3-3B0F-436E-832F-ACA5017F9CA1}" presName="Name0" presStyleCnt="0">
        <dgm:presLayoutVars>
          <dgm:dir/>
          <dgm:resizeHandles val="exact"/>
        </dgm:presLayoutVars>
      </dgm:prSet>
      <dgm:spPr/>
    </dgm:pt>
    <dgm:pt modelId="{D86E7F6C-793A-46AA-8083-538CDF743DBD}" type="pres">
      <dgm:prSet presAssocID="{B004E431-8676-4135-B716-AFB03C3759EF}" presName="node" presStyleLbl="node1" presStyleIdx="0" presStyleCnt="2">
        <dgm:presLayoutVars>
          <dgm:bulletEnabled val="1"/>
        </dgm:presLayoutVars>
      </dgm:prSet>
      <dgm:spPr/>
    </dgm:pt>
    <dgm:pt modelId="{26A67E15-2BDB-43C2-BB9D-DBFA13960483}" type="pres">
      <dgm:prSet presAssocID="{2F4D2F86-9E31-4675-8BD3-D50FEB5A20D0}" presName="sibTrans" presStyleLbl="sibTrans2D1" presStyleIdx="0" presStyleCnt="1"/>
      <dgm:spPr/>
    </dgm:pt>
    <dgm:pt modelId="{47E49A16-7A01-4647-8E4F-CC54854C904B}" type="pres">
      <dgm:prSet presAssocID="{2F4D2F86-9E31-4675-8BD3-D50FEB5A20D0}" presName="connectorText" presStyleLbl="sibTrans2D1" presStyleIdx="0" presStyleCnt="1"/>
      <dgm:spPr/>
    </dgm:pt>
    <dgm:pt modelId="{E9A43588-5EB4-4808-93D3-05ACF33A49F1}" type="pres">
      <dgm:prSet presAssocID="{0E4697FE-C6D0-4C7A-A364-D798AD4AA84E}" presName="node" presStyleLbl="node1" presStyleIdx="1" presStyleCnt="2">
        <dgm:presLayoutVars>
          <dgm:bulletEnabled val="1"/>
        </dgm:presLayoutVars>
      </dgm:prSet>
      <dgm:spPr/>
    </dgm:pt>
  </dgm:ptLst>
  <dgm:cxnLst>
    <dgm:cxn modelId="{8DE7770F-3F90-4B68-B919-AE4842F804C3}" srcId="{ABAE14F3-3B0F-436E-832F-ACA5017F9CA1}" destId="{0E4697FE-C6D0-4C7A-A364-D798AD4AA84E}" srcOrd="1" destOrd="0" parTransId="{402D1810-B3F8-455C-824E-AEC33A41593E}" sibTransId="{56D7853C-9FBF-462F-B40F-ACD405B864DB}"/>
    <dgm:cxn modelId="{A61F1D1B-BDB2-4B45-B5AC-B38E1FE20F0B}" type="presOf" srcId="{0E4697FE-C6D0-4C7A-A364-D798AD4AA84E}" destId="{E9A43588-5EB4-4808-93D3-05ACF33A49F1}" srcOrd="0" destOrd="0" presId="urn:microsoft.com/office/officeart/2005/8/layout/process1"/>
    <dgm:cxn modelId="{065FE326-A5D3-4778-98E1-23289994FD8E}" type="presOf" srcId="{2F4D2F86-9E31-4675-8BD3-D50FEB5A20D0}" destId="{47E49A16-7A01-4647-8E4F-CC54854C904B}" srcOrd="1" destOrd="0" presId="urn:microsoft.com/office/officeart/2005/8/layout/process1"/>
    <dgm:cxn modelId="{AB312C40-8F60-4753-8929-6582D008DAC2}" type="presOf" srcId="{2F4D2F86-9E31-4675-8BD3-D50FEB5A20D0}" destId="{26A67E15-2BDB-43C2-BB9D-DBFA13960483}" srcOrd="0" destOrd="0" presId="urn:microsoft.com/office/officeart/2005/8/layout/process1"/>
    <dgm:cxn modelId="{69559B5D-5F03-45A2-AF49-C4EBD1FBF6CB}" type="presOf" srcId="{ABAE14F3-3B0F-436E-832F-ACA5017F9CA1}" destId="{51CE49AB-E65B-4C4D-904D-626F067E01C5}" srcOrd="0" destOrd="0" presId="urn:microsoft.com/office/officeart/2005/8/layout/process1"/>
    <dgm:cxn modelId="{8622ED81-958F-4C13-9CBF-A3437BECCBC8}" type="presOf" srcId="{B004E431-8676-4135-B716-AFB03C3759EF}" destId="{D86E7F6C-793A-46AA-8083-538CDF743DBD}" srcOrd="0" destOrd="0" presId="urn:microsoft.com/office/officeart/2005/8/layout/process1"/>
    <dgm:cxn modelId="{BB2729E0-DCDE-4FA1-9DA7-0038A6B20D7C}" srcId="{ABAE14F3-3B0F-436E-832F-ACA5017F9CA1}" destId="{B004E431-8676-4135-B716-AFB03C3759EF}" srcOrd="0" destOrd="0" parTransId="{95ED2895-97E2-4E74-B5A7-7F6FB48E03BD}" sibTransId="{2F4D2F86-9E31-4675-8BD3-D50FEB5A20D0}"/>
    <dgm:cxn modelId="{A349252E-7493-4FCC-9990-726D59FC2988}" type="presParOf" srcId="{51CE49AB-E65B-4C4D-904D-626F067E01C5}" destId="{D86E7F6C-793A-46AA-8083-538CDF743DBD}" srcOrd="0" destOrd="0" presId="urn:microsoft.com/office/officeart/2005/8/layout/process1"/>
    <dgm:cxn modelId="{D57A16F7-6D5F-4A7E-8CEF-1C644F8428DD}" type="presParOf" srcId="{51CE49AB-E65B-4C4D-904D-626F067E01C5}" destId="{26A67E15-2BDB-43C2-BB9D-DBFA13960483}" srcOrd="1" destOrd="0" presId="urn:microsoft.com/office/officeart/2005/8/layout/process1"/>
    <dgm:cxn modelId="{3E0155B3-9C3F-45AF-9B8A-BB3E8CD64CFA}" type="presParOf" srcId="{26A67E15-2BDB-43C2-BB9D-DBFA13960483}" destId="{47E49A16-7A01-4647-8E4F-CC54854C904B}" srcOrd="0" destOrd="0" presId="urn:microsoft.com/office/officeart/2005/8/layout/process1"/>
    <dgm:cxn modelId="{7F51EFE4-8381-44E5-923A-293DB3DA4A02}" type="presParOf" srcId="{51CE49AB-E65B-4C4D-904D-626F067E01C5}" destId="{E9A43588-5EB4-4808-93D3-05ACF33A49F1}" srcOrd="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CC1FC0-551A-4BD6-A5F3-45041DE73A15}">
      <dsp:nvSpPr>
        <dsp:cNvPr id="0" name=""/>
        <dsp:cNvSpPr/>
      </dsp:nvSpPr>
      <dsp:spPr>
        <a:xfrm>
          <a:off x="0" y="3829304"/>
          <a:ext cx="8443002" cy="419038"/>
        </a:xfrm>
        <a:prstGeom prst="rect">
          <a:avLst/>
        </a:prstGeom>
        <a:solidFill>
          <a:schemeClr val="accent2">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a:latin typeface="Times New Roman (Headings)"/>
            </a:rPr>
            <a:t>Điều kiện dừng</a:t>
          </a:r>
          <a:endParaRPr lang="en-US" sz="2400" kern="1200" dirty="0">
            <a:latin typeface="Times New Roman (Headings)"/>
          </a:endParaRPr>
        </a:p>
      </dsp:txBody>
      <dsp:txXfrm>
        <a:off x="0" y="3829304"/>
        <a:ext cx="8443002" cy="419038"/>
      </dsp:txXfrm>
    </dsp:sp>
    <dsp:sp modelId="{355DAA45-7562-4233-BD25-B2CC9C6C123C}">
      <dsp:nvSpPr>
        <dsp:cNvPr id="0" name=""/>
        <dsp:cNvSpPr/>
      </dsp:nvSpPr>
      <dsp:spPr>
        <a:xfrm rot="10800000">
          <a:off x="0" y="3191108"/>
          <a:ext cx="8443002" cy="644481"/>
        </a:xfrm>
        <a:prstGeom prst="upArrowCallout">
          <a:avLst/>
        </a:prstGeom>
        <a:solidFill>
          <a:schemeClr val="accent2">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a:latin typeface="Times New Roman (Headings)"/>
            </a:rPr>
            <a:t>Bảo tồn cá thể ưu tú</a:t>
          </a:r>
          <a:endParaRPr lang="en-US" sz="2400" kern="1200" dirty="0">
            <a:latin typeface="Times New Roman (Headings)"/>
          </a:endParaRPr>
        </a:p>
      </dsp:txBody>
      <dsp:txXfrm rot="10800000">
        <a:off x="0" y="3191108"/>
        <a:ext cx="8443002" cy="418764"/>
      </dsp:txXfrm>
    </dsp:sp>
    <dsp:sp modelId="{FDA9CDA8-ED50-4FA5-9A57-3FBD50C8B779}">
      <dsp:nvSpPr>
        <dsp:cNvPr id="0" name=""/>
        <dsp:cNvSpPr/>
      </dsp:nvSpPr>
      <dsp:spPr>
        <a:xfrm rot="10800000">
          <a:off x="0" y="2552912"/>
          <a:ext cx="8443002" cy="644481"/>
        </a:xfrm>
        <a:prstGeom prst="upArrowCallout">
          <a:avLst/>
        </a:prstGeom>
        <a:solidFill>
          <a:schemeClr val="accent2">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a:latin typeface="Times New Roman (Headings)"/>
            </a:rPr>
            <a:t>Đột biến</a:t>
          </a:r>
          <a:endParaRPr lang="en-US" sz="2400" kern="1200" dirty="0">
            <a:latin typeface="Times New Roman (Headings)"/>
          </a:endParaRPr>
        </a:p>
      </dsp:txBody>
      <dsp:txXfrm rot="10800000">
        <a:off x="0" y="2552912"/>
        <a:ext cx="8443002" cy="418764"/>
      </dsp:txXfrm>
    </dsp:sp>
    <dsp:sp modelId="{A0956B5A-37E6-42FE-8957-0B73365EDE6D}">
      <dsp:nvSpPr>
        <dsp:cNvPr id="0" name=""/>
        <dsp:cNvSpPr/>
      </dsp:nvSpPr>
      <dsp:spPr>
        <a:xfrm rot="10800000">
          <a:off x="0" y="1914716"/>
          <a:ext cx="8443002" cy="644481"/>
        </a:xfrm>
        <a:prstGeom prst="upArrowCallout">
          <a:avLst/>
        </a:prstGeom>
        <a:solidFill>
          <a:schemeClr val="accent2">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nl-NL" sz="2400" kern="1200">
              <a:latin typeface="Times New Roman (Headings)"/>
            </a:rPr>
            <a:t>Lai ghép</a:t>
          </a:r>
          <a:endParaRPr lang="en-US" sz="2400" kern="1200" dirty="0">
            <a:latin typeface="Times New Roman (Headings)"/>
          </a:endParaRPr>
        </a:p>
      </dsp:txBody>
      <dsp:txXfrm rot="10800000">
        <a:off x="0" y="1914716"/>
        <a:ext cx="8443002" cy="418764"/>
      </dsp:txXfrm>
    </dsp:sp>
    <dsp:sp modelId="{1BA2F17C-995C-4133-9DC9-F2AD2845DF10}">
      <dsp:nvSpPr>
        <dsp:cNvPr id="0" name=""/>
        <dsp:cNvSpPr/>
      </dsp:nvSpPr>
      <dsp:spPr>
        <a:xfrm rot="10800000">
          <a:off x="0" y="1276520"/>
          <a:ext cx="8443002" cy="644481"/>
        </a:xfrm>
        <a:prstGeom prst="upArrowCallout">
          <a:avLst/>
        </a:prstGeom>
        <a:solidFill>
          <a:schemeClr val="accent2">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a:latin typeface="Times New Roman (Headings)"/>
            </a:rPr>
            <a:t>Chọn lọc</a:t>
          </a:r>
          <a:endParaRPr lang="en-US" sz="2400" kern="1200" dirty="0">
            <a:latin typeface="Times New Roman (Headings)"/>
          </a:endParaRPr>
        </a:p>
      </dsp:txBody>
      <dsp:txXfrm rot="10800000">
        <a:off x="0" y="1276520"/>
        <a:ext cx="8443002" cy="418764"/>
      </dsp:txXfrm>
    </dsp:sp>
    <dsp:sp modelId="{4335876C-B26A-4C0B-AC9B-5F64FC5D4883}">
      <dsp:nvSpPr>
        <dsp:cNvPr id="0" name=""/>
        <dsp:cNvSpPr/>
      </dsp:nvSpPr>
      <dsp:spPr>
        <a:xfrm rot="10800000">
          <a:off x="0" y="638324"/>
          <a:ext cx="8443002" cy="644481"/>
        </a:xfrm>
        <a:prstGeom prst="upArrowCallout">
          <a:avLst/>
        </a:prstGeom>
        <a:solidFill>
          <a:schemeClr val="accent2">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nl-NL" sz="2400" kern="1200">
              <a:latin typeface="Times New Roman (Headings)"/>
            </a:rPr>
            <a:t>Hàm thích nghi</a:t>
          </a:r>
          <a:endParaRPr lang="en-US" sz="2400" kern="1200" dirty="0">
            <a:latin typeface="Times New Roman (Headings)"/>
          </a:endParaRPr>
        </a:p>
      </dsp:txBody>
      <dsp:txXfrm rot="10800000">
        <a:off x="0" y="638324"/>
        <a:ext cx="8443002" cy="418764"/>
      </dsp:txXfrm>
    </dsp:sp>
    <dsp:sp modelId="{0CFAD88A-2AC5-437A-BF17-AF1CEEA4755C}">
      <dsp:nvSpPr>
        <dsp:cNvPr id="0" name=""/>
        <dsp:cNvSpPr/>
      </dsp:nvSpPr>
      <dsp:spPr>
        <a:xfrm rot="10800000">
          <a:off x="0" y="128"/>
          <a:ext cx="8443002" cy="644481"/>
        </a:xfrm>
        <a:prstGeom prst="upArrowCallout">
          <a:avLst/>
        </a:prstGeom>
        <a:solidFill>
          <a:schemeClr val="accent2">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nl-NL" sz="2400" kern="1200">
              <a:latin typeface="Times New Roman (Headings)"/>
            </a:rPr>
            <a:t>Khời tạo quần thể</a:t>
          </a:r>
          <a:endParaRPr lang="en-US" sz="2400" kern="1200" dirty="0">
            <a:latin typeface="Times New Roman (Headings)"/>
          </a:endParaRPr>
        </a:p>
      </dsp:txBody>
      <dsp:txXfrm rot="10800000">
        <a:off x="0" y="128"/>
        <a:ext cx="8443002" cy="4187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5529F2-3388-4F4A-9B1B-77EF41119491}">
      <dsp:nvSpPr>
        <dsp:cNvPr id="0" name=""/>
        <dsp:cNvSpPr/>
      </dsp:nvSpPr>
      <dsp:spPr>
        <a:xfrm>
          <a:off x="0" y="3647962"/>
          <a:ext cx="9010033" cy="598478"/>
        </a:xfrm>
        <a:prstGeom prst="rec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a:latin typeface="Times New Roman (Headings)"/>
            </a:rPr>
            <a:t>Bàn luận mở rộng</a:t>
          </a:r>
          <a:endParaRPr lang="en-US" sz="2400" kern="1200" dirty="0">
            <a:latin typeface="Times New Roman (Headings)"/>
          </a:endParaRPr>
        </a:p>
      </dsp:txBody>
      <dsp:txXfrm>
        <a:off x="0" y="3647962"/>
        <a:ext cx="9010033" cy="598478"/>
      </dsp:txXfrm>
    </dsp:sp>
    <dsp:sp modelId="{A0956B5A-37E6-42FE-8957-0B73365EDE6D}">
      <dsp:nvSpPr>
        <dsp:cNvPr id="0" name=""/>
        <dsp:cNvSpPr/>
      </dsp:nvSpPr>
      <dsp:spPr>
        <a:xfrm rot="10800000">
          <a:off x="0" y="2736479"/>
          <a:ext cx="9010033" cy="920460"/>
        </a:xfrm>
        <a:prstGeom prst="upArrowCallou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nl-NL" sz="2400" kern="1200">
              <a:latin typeface="Times New Roman (Headings)"/>
            </a:rPr>
            <a:t>Liên hệ với seeding</a:t>
          </a:r>
          <a:endParaRPr lang="en-US" sz="2400" kern="1200" dirty="0">
            <a:latin typeface="Times New Roman (Headings)"/>
          </a:endParaRPr>
        </a:p>
      </dsp:txBody>
      <dsp:txXfrm rot="10800000">
        <a:off x="0" y="2736479"/>
        <a:ext cx="9010033" cy="598087"/>
      </dsp:txXfrm>
    </dsp:sp>
    <dsp:sp modelId="{1BA2F17C-995C-4133-9DC9-F2AD2845DF10}">
      <dsp:nvSpPr>
        <dsp:cNvPr id="0" name=""/>
        <dsp:cNvSpPr/>
      </dsp:nvSpPr>
      <dsp:spPr>
        <a:xfrm rot="10800000">
          <a:off x="0" y="1824996"/>
          <a:ext cx="9010033" cy="920460"/>
        </a:xfrm>
        <a:prstGeom prst="upArrowCallou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a:latin typeface="Times New Roman (Headings)"/>
            </a:rPr>
            <a:t>Phân tích toán học và độ phức tạp</a:t>
          </a:r>
          <a:endParaRPr lang="en-US" sz="2400" kern="1200" dirty="0">
            <a:latin typeface="Times New Roman (Headings)"/>
          </a:endParaRPr>
        </a:p>
      </dsp:txBody>
      <dsp:txXfrm rot="10800000">
        <a:off x="0" y="1824996"/>
        <a:ext cx="9010033" cy="598087"/>
      </dsp:txXfrm>
    </dsp:sp>
    <dsp:sp modelId="{4335876C-B26A-4C0B-AC9B-5F64FC5D4883}">
      <dsp:nvSpPr>
        <dsp:cNvPr id="0" name=""/>
        <dsp:cNvSpPr/>
      </dsp:nvSpPr>
      <dsp:spPr>
        <a:xfrm rot="10800000">
          <a:off x="0" y="913513"/>
          <a:ext cx="9010033" cy="920460"/>
        </a:xfrm>
        <a:prstGeom prst="upArrowCallou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nl-NL" sz="2400" kern="1200">
              <a:latin typeface="Times New Roman (Headings)"/>
            </a:rPr>
            <a:t>Toán tử đột biến</a:t>
          </a:r>
          <a:endParaRPr lang="en-US" sz="2400" kern="1200" dirty="0">
            <a:latin typeface="Times New Roman (Headings)"/>
          </a:endParaRPr>
        </a:p>
      </dsp:txBody>
      <dsp:txXfrm rot="10800000">
        <a:off x="0" y="913513"/>
        <a:ext cx="9010033" cy="598087"/>
      </dsp:txXfrm>
    </dsp:sp>
    <dsp:sp modelId="{0CFAD88A-2AC5-437A-BF17-AF1CEEA4755C}">
      <dsp:nvSpPr>
        <dsp:cNvPr id="0" name=""/>
        <dsp:cNvSpPr/>
      </dsp:nvSpPr>
      <dsp:spPr>
        <a:xfrm rot="10800000">
          <a:off x="0" y="0"/>
          <a:ext cx="9010033" cy="920460"/>
        </a:xfrm>
        <a:prstGeom prst="upArrowCallou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nl-NL" sz="2400" kern="1200">
              <a:latin typeface="Times New Roman (Headings)"/>
            </a:rPr>
            <a:t>Toán tử lai ghép</a:t>
          </a:r>
          <a:endParaRPr lang="en-US" sz="2400" kern="1200" dirty="0">
            <a:latin typeface="Times New Roman (Headings)"/>
          </a:endParaRPr>
        </a:p>
      </dsp:txBody>
      <dsp:txXfrm rot="10800000">
        <a:off x="0" y="0"/>
        <a:ext cx="9010033" cy="59808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F835CA-AF98-4ADB-81C3-75EDE353C992}">
      <dsp:nvSpPr>
        <dsp:cNvPr id="0" name=""/>
        <dsp:cNvSpPr/>
      </dsp:nvSpPr>
      <dsp:spPr>
        <a:xfrm>
          <a:off x="0" y="9291"/>
          <a:ext cx="10441160" cy="7020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i="1" kern="1200">
              <a:latin typeface="Times New Roman" panose="02020603050405020304" pitchFamily="18" charset="0"/>
              <a:cs typeface="Times New Roman" panose="02020603050405020304" pitchFamily="18" charset="0"/>
            </a:rPr>
            <a:t>Đề án đã thực hiện được: </a:t>
          </a:r>
          <a:endParaRPr lang="en-US" sz="3000" kern="1200">
            <a:latin typeface="Times New Roman" panose="02020603050405020304" pitchFamily="18" charset="0"/>
            <a:cs typeface="Times New Roman" panose="02020603050405020304" pitchFamily="18" charset="0"/>
          </a:endParaRPr>
        </a:p>
      </dsp:txBody>
      <dsp:txXfrm>
        <a:off x="34269" y="43560"/>
        <a:ext cx="10372622" cy="633462"/>
      </dsp:txXfrm>
    </dsp:sp>
    <dsp:sp modelId="{C7B6D529-E8F9-4633-990F-AAE975BCE037}">
      <dsp:nvSpPr>
        <dsp:cNvPr id="0" name=""/>
        <dsp:cNvSpPr/>
      </dsp:nvSpPr>
      <dsp:spPr>
        <a:xfrm>
          <a:off x="0" y="711291"/>
          <a:ext cx="10441160" cy="2049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1507"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vi-VN" sz="2300" kern="1200">
              <a:latin typeface="Times New Roman" panose="02020603050405020304" pitchFamily="18" charset="0"/>
              <a:cs typeface="Times New Roman" panose="02020603050405020304" pitchFamily="18" charset="0"/>
            </a:rPr>
            <a:t>Đề tài đã chỉ ra tính cấp thiết của việc ứng dụng giải thuật di truyền vào sắp xếp thời khóa biểu, nhằm tối ưu hóa quy trình phân bổ thời gian và tài nguyên. </a:t>
          </a:r>
          <a:endParaRPr lang="en-US" sz="2300" kern="1200">
            <a:latin typeface="Times New Roman" panose="02020603050405020304" pitchFamily="18" charset="0"/>
            <a:cs typeface="Times New Roman" panose="02020603050405020304" pitchFamily="18" charset="0"/>
          </a:endParaRPr>
        </a:p>
        <a:p>
          <a:pPr marL="228600" lvl="1" indent="-228600" algn="l" defTabSz="1022350">
            <a:lnSpc>
              <a:spcPct val="90000"/>
            </a:lnSpc>
            <a:spcBef>
              <a:spcPct val="0"/>
            </a:spcBef>
            <a:spcAft>
              <a:spcPct val="20000"/>
            </a:spcAft>
            <a:buChar char="•"/>
          </a:pPr>
          <a:r>
            <a:rPr lang="en-US" sz="2300" kern="1200">
              <a:latin typeface="Times New Roman" panose="02020603050405020304" pitchFamily="18" charset="0"/>
              <a:cs typeface="Times New Roman" panose="02020603050405020304" pitchFamily="18" charset="0"/>
            </a:rPr>
            <a:t>G</a:t>
          </a:r>
          <a:r>
            <a:rPr lang="vi-VN" sz="2300" kern="1200">
              <a:latin typeface="Times New Roman" panose="02020603050405020304" pitchFamily="18" charset="0"/>
              <a:cs typeface="Times New Roman" panose="02020603050405020304" pitchFamily="18" charset="0"/>
            </a:rPr>
            <a:t>iải thuật di truyền giúp tìm ra các phương án tối ưu, giảm thiểu thời gian và công sức trong việc sắp xếp lịch học.</a:t>
          </a:r>
          <a:endParaRPr lang="en-US" sz="2300" kern="1200">
            <a:latin typeface="Times New Roman" panose="02020603050405020304" pitchFamily="18" charset="0"/>
            <a:cs typeface="Times New Roman" panose="02020603050405020304" pitchFamily="18" charset="0"/>
          </a:endParaRPr>
        </a:p>
        <a:p>
          <a:pPr marL="228600" lvl="1" indent="-228600" algn="l" defTabSz="1022350">
            <a:lnSpc>
              <a:spcPct val="90000"/>
            </a:lnSpc>
            <a:spcBef>
              <a:spcPct val="0"/>
            </a:spcBef>
            <a:spcAft>
              <a:spcPct val="20000"/>
            </a:spcAft>
            <a:buChar char="•"/>
          </a:pPr>
          <a:r>
            <a:rPr lang="en-US" sz="2300" kern="1200">
              <a:latin typeface="Times New Roman" panose="02020603050405020304" pitchFamily="18" charset="0"/>
              <a:cs typeface="Times New Roman" panose="02020603050405020304" pitchFamily="18" charset="0"/>
            </a:rPr>
            <a:t>Chương trình và kết quả thực nghiệm cho thấy hướng sử dụng thuật toán di truyền để giải quyết bài toán sắp xếp thời khóa biểu là hiệu quả. </a:t>
          </a:r>
        </a:p>
      </dsp:txBody>
      <dsp:txXfrm>
        <a:off x="0" y="711291"/>
        <a:ext cx="10441160" cy="2049300"/>
      </dsp:txXfrm>
    </dsp:sp>
    <dsp:sp modelId="{26BB12A7-98C5-4BA4-87A2-408CEBDDAACA}">
      <dsp:nvSpPr>
        <dsp:cNvPr id="0" name=""/>
        <dsp:cNvSpPr/>
      </dsp:nvSpPr>
      <dsp:spPr>
        <a:xfrm>
          <a:off x="0" y="2760592"/>
          <a:ext cx="10441160" cy="7020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i="1" kern="1200">
              <a:latin typeface="Times New Roman" panose="02020603050405020304" pitchFamily="18" charset="0"/>
              <a:cs typeface="Times New Roman" panose="02020603050405020304" pitchFamily="18" charset="0"/>
            </a:rPr>
            <a:t>Hạn chế của đề tài: </a:t>
          </a:r>
          <a:endParaRPr lang="en-US" sz="3000" kern="1200">
            <a:latin typeface="Times New Roman" panose="02020603050405020304" pitchFamily="18" charset="0"/>
            <a:cs typeface="Times New Roman" panose="02020603050405020304" pitchFamily="18" charset="0"/>
          </a:endParaRPr>
        </a:p>
      </dsp:txBody>
      <dsp:txXfrm>
        <a:off x="34269" y="2794861"/>
        <a:ext cx="10372622" cy="633462"/>
      </dsp:txXfrm>
    </dsp:sp>
    <dsp:sp modelId="{1A93F465-90C7-42B5-9519-32872F3FD323}">
      <dsp:nvSpPr>
        <dsp:cNvPr id="0" name=""/>
        <dsp:cNvSpPr/>
      </dsp:nvSpPr>
      <dsp:spPr>
        <a:xfrm>
          <a:off x="0" y="3462592"/>
          <a:ext cx="10441160" cy="683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1507"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n-US" sz="2300" kern="1200">
              <a:latin typeface="Times New Roman" panose="02020603050405020304" pitchFamily="18" charset="0"/>
              <a:cs typeface="Times New Roman" panose="02020603050405020304" pitchFamily="18" charset="0"/>
            </a:rPr>
            <a:t>Kết quả thực nghiệm của chương trình chỉ áp dụng trên tập dữ liệu tương đối, chưa thử nghiệm được với bộ dữ liệu lớn</a:t>
          </a:r>
        </a:p>
      </dsp:txBody>
      <dsp:txXfrm>
        <a:off x="0" y="3462592"/>
        <a:ext cx="10441160" cy="6831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6E7F6C-793A-46AA-8083-538CDF743DBD}">
      <dsp:nvSpPr>
        <dsp:cNvPr id="0" name=""/>
        <dsp:cNvSpPr/>
      </dsp:nvSpPr>
      <dsp:spPr>
        <a:xfrm>
          <a:off x="1870" y="0"/>
          <a:ext cx="3988884" cy="1395393"/>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Mở rộng phần mềm để thử nghiệm được với khối lượng dữ liệu lớn hơn.</a:t>
          </a:r>
        </a:p>
      </dsp:txBody>
      <dsp:txXfrm>
        <a:off x="42740" y="40870"/>
        <a:ext cx="3907144" cy="1313653"/>
      </dsp:txXfrm>
    </dsp:sp>
    <dsp:sp modelId="{26A67E15-2BDB-43C2-BB9D-DBFA13960483}">
      <dsp:nvSpPr>
        <dsp:cNvPr id="0" name=""/>
        <dsp:cNvSpPr/>
      </dsp:nvSpPr>
      <dsp:spPr>
        <a:xfrm>
          <a:off x="4389643" y="203074"/>
          <a:ext cx="845643" cy="98924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4389643" y="400923"/>
        <a:ext cx="591950" cy="593545"/>
      </dsp:txXfrm>
    </dsp:sp>
    <dsp:sp modelId="{E9A43588-5EB4-4808-93D3-05ACF33A49F1}">
      <dsp:nvSpPr>
        <dsp:cNvPr id="0" name=""/>
        <dsp:cNvSpPr/>
      </dsp:nvSpPr>
      <dsp:spPr>
        <a:xfrm>
          <a:off x="5586308" y="0"/>
          <a:ext cx="3988884" cy="1395393"/>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Thực nghiệm sắp xếp lịch học trong các môi trường và điều kiện khác nhau. </a:t>
          </a:r>
        </a:p>
      </dsp:txBody>
      <dsp:txXfrm>
        <a:off x="5627178" y="40870"/>
        <a:ext cx="3907144" cy="1313653"/>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F0F793-F1BA-4F59-BB50-E1F6348F684A}" type="datetimeFigureOut">
              <a:rPr lang="en-GB" smtClean="0"/>
              <a:t>17/09/2025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154D02-DCBF-4C3E-8C36-628BB580340D}" type="slidenum">
              <a:rPr lang="en-GB" smtClean="0"/>
              <a:t>‹#›</a:t>
            </a:fld>
            <a:endParaRPr lang="en-GB"/>
          </a:p>
        </p:txBody>
      </p:sp>
    </p:spTree>
    <p:extLst>
      <p:ext uri="{BB962C8B-B14F-4D97-AF65-F5344CB8AC3E}">
        <p14:creationId xmlns:p14="http://schemas.microsoft.com/office/powerpoint/2010/main" val="3744948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A154D02-DCBF-4C3E-8C36-628BB580340D}" type="slidenum">
              <a:rPr lang="en-GB" smtClean="0"/>
              <a:t>2</a:t>
            </a:fld>
            <a:endParaRPr lang="en-GB"/>
          </a:p>
        </p:txBody>
      </p:sp>
    </p:spTree>
    <p:extLst>
      <p:ext uri="{BB962C8B-B14F-4D97-AF65-F5344CB8AC3E}">
        <p14:creationId xmlns:p14="http://schemas.microsoft.com/office/powerpoint/2010/main" val="35367725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A154D02-DCBF-4C3E-8C36-628BB580340D}" type="slidenum">
              <a:rPr lang="en-GB" smtClean="0"/>
              <a:t>3</a:t>
            </a:fld>
            <a:endParaRPr lang="en-GB"/>
          </a:p>
        </p:txBody>
      </p:sp>
    </p:spTree>
    <p:extLst>
      <p:ext uri="{BB962C8B-B14F-4D97-AF65-F5344CB8AC3E}">
        <p14:creationId xmlns:p14="http://schemas.microsoft.com/office/powerpoint/2010/main" val="16552870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A154D02-DCBF-4C3E-8C36-628BB580340D}" type="slidenum">
              <a:rPr lang="en-GB" smtClean="0"/>
              <a:t>4</a:t>
            </a:fld>
            <a:endParaRPr lang="en-GB"/>
          </a:p>
        </p:txBody>
      </p:sp>
    </p:spTree>
    <p:extLst>
      <p:ext uri="{BB962C8B-B14F-4D97-AF65-F5344CB8AC3E}">
        <p14:creationId xmlns:p14="http://schemas.microsoft.com/office/powerpoint/2010/main" val="38844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A154D02-DCBF-4C3E-8C36-628BB580340D}" type="slidenum">
              <a:rPr lang="en-GB" smtClean="0"/>
              <a:t>5</a:t>
            </a:fld>
            <a:endParaRPr lang="en-GB"/>
          </a:p>
        </p:txBody>
      </p:sp>
    </p:spTree>
    <p:extLst>
      <p:ext uri="{BB962C8B-B14F-4D97-AF65-F5344CB8AC3E}">
        <p14:creationId xmlns:p14="http://schemas.microsoft.com/office/powerpoint/2010/main" val="7127715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latin typeface="Times New Roman (Headings)"/>
              </a:rPr>
              <a:t> </a:t>
            </a:r>
            <a:r>
              <a:rPr lang="vi-VN"/>
              <a:t>Một bài toán được coi là NP-hard nếu mọi bài toán trong NP có thể được giảm xuống bài toán đó trong thời gian đa thức. Điều này có nghĩa là, nếu bạn có thể tìm ra một thuật toán hiệu quả để giải quyết bài toán NP-hard, bạn sẽ có thể giải quyết tất cả các bài toán trong NP một cách hiệu quả.</a:t>
            </a:r>
            <a:endParaRPr lang="en-GB" dirty="0"/>
          </a:p>
        </p:txBody>
      </p:sp>
      <p:sp>
        <p:nvSpPr>
          <p:cNvPr id="4" name="Slide Number Placeholder 3"/>
          <p:cNvSpPr>
            <a:spLocks noGrp="1"/>
          </p:cNvSpPr>
          <p:nvPr>
            <p:ph type="sldNum" sz="quarter" idx="5"/>
          </p:nvPr>
        </p:nvSpPr>
        <p:spPr/>
        <p:txBody>
          <a:bodyPr/>
          <a:lstStyle/>
          <a:p>
            <a:fld id="{AA154D02-DCBF-4C3E-8C36-628BB580340D}" type="slidenum">
              <a:rPr lang="en-GB" smtClean="0"/>
              <a:t>6</a:t>
            </a:fld>
            <a:endParaRPr lang="en-GB"/>
          </a:p>
        </p:txBody>
      </p:sp>
    </p:spTree>
    <p:extLst>
      <p:ext uri="{BB962C8B-B14F-4D97-AF65-F5344CB8AC3E}">
        <p14:creationId xmlns:p14="http://schemas.microsoft.com/office/powerpoint/2010/main" val="32836566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A154D02-DCBF-4C3E-8C36-628BB580340D}" type="slidenum">
              <a:rPr lang="en-GB" smtClean="0"/>
              <a:t>12</a:t>
            </a:fld>
            <a:endParaRPr lang="en-GB"/>
          </a:p>
        </p:txBody>
      </p:sp>
    </p:spTree>
    <p:extLst>
      <p:ext uri="{BB962C8B-B14F-4D97-AF65-F5344CB8AC3E}">
        <p14:creationId xmlns:p14="http://schemas.microsoft.com/office/powerpoint/2010/main" val="32775790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4B173-A9C2-A70A-6783-D7F1B30A76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D248A4-6EE5-64DF-A504-9843576497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D1C4D8-B966-FE40-7B9E-8C05DD6B693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D7608B0-7D52-76C5-0F7E-3F5DAB147079}"/>
              </a:ext>
            </a:extLst>
          </p:cNvPr>
          <p:cNvSpPr>
            <a:spLocks noGrp="1"/>
          </p:cNvSpPr>
          <p:nvPr>
            <p:ph type="sldNum" sz="quarter" idx="5"/>
          </p:nvPr>
        </p:nvSpPr>
        <p:spPr/>
        <p:txBody>
          <a:bodyPr/>
          <a:lstStyle/>
          <a:p>
            <a:fld id="{AA154D02-DCBF-4C3E-8C36-628BB580340D}" type="slidenum">
              <a:rPr lang="en-GB" smtClean="0"/>
              <a:t>13</a:t>
            </a:fld>
            <a:endParaRPr lang="en-GB"/>
          </a:p>
        </p:txBody>
      </p:sp>
    </p:spTree>
    <p:extLst>
      <p:ext uri="{BB962C8B-B14F-4D97-AF65-F5344CB8AC3E}">
        <p14:creationId xmlns:p14="http://schemas.microsoft.com/office/powerpoint/2010/main" val="40867215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A154D02-DCBF-4C3E-8C36-628BB580340D}" type="slidenum">
              <a:rPr lang="en-GB" smtClean="0"/>
              <a:t>22</a:t>
            </a:fld>
            <a:endParaRPr lang="en-GB"/>
          </a:p>
        </p:txBody>
      </p:sp>
    </p:spTree>
    <p:extLst>
      <p:ext uri="{BB962C8B-B14F-4D97-AF65-F5344CB8AC3E}">
        <p14:creationId xmlns:p14="http://schemas.microsoft.com/office/powerpoint/2010/main" val="1937048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4B6C12-E51C-4847-9ABA-349A7B70B9AA}" type="datetimeFigureOut">
              <a:rPr lang="en-GB" smtClean="0"/>
              <a:t>17/09/2025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CFFB76-1C2B-4F13-AEB3-49D91F92BBE6}"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8351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4B6C12-E51C-4847-9ABA-349A7B70B9AA}" type="datetimeFigureOut">
              <a:rPr lang="en-GB" smtClean="0"/>
              <a:t>17/09/2025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CFFB76-1C2B-4F13-AEB3-49D91F92BBE6}" type="slidenum">
              <a:rPr lang="en-GB" smtClean="0"/>
              <a:t>‹#›</a:t>
            </a:fld>
            <a:endParaRPr lang="en-GB"/>
          </a:p>
        </p:txBody>
      </p:sp>
    </p:spTree>
    <p:extLst>
      <p:ext uri="{BB962C8B-B14F-4D97-AF65-F5344CB8AC3E}">
        <p14:creationId xmlns:p14="http://schemas.microsoft.com/office/powerpoint/2010/main" val="1345771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4B6C12-E51C-4847-9ABA-349A7B70B9AA}" type="datetimeFigureOut">
              <a:rPr lang="en-GB" smtClean="0"/>
              <a:t>17/09/2025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CFFB76-1C2B-4F13-AEB3-49D91F92BBE6}"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8443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4B6C12-E51C-4847-9ABA-349A7B70B9AA}" type="datetimeFigureOut">
              <a:rPr lang="en-GB" smtClean="0"/>
              <a:t>17/09/2025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BCFFB76-1C2B-4F13-AEB3-49D91F92BBE6}" type="slidenum">
              <a:rPr lang="en-GB" smtClean="0"/>
              <a:t>‹#›</a:t>
            </a:fld>
            <a:endParaRPr lang="en-GB"/>
          </a:p>
        </p:txBody>
      </p:sp>
    </p:spTree>
    <p:extLst>
      <p:ext uri="{BB962C8B-B14F-4D97-AF65-F5344CB8AC3E}">
        <p14:creationId xmlns:p14="http://schemas.microsoft.com/office/powerpoint/2010/main" val="516509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4B6C12-E51C-4847-9ABA-349A7B70B9AA}" type="datetimeFigureOut">
              <a:rPr lang="en-GB" smtClean="0"/>
              <a:t>17/09/2025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BCFFB76-1C2B-4F13-AEB3-49D91F92BBE6}" type="slidenum">
              <a:rPr lang="en-GB" smtClean="0"/>
              <a:t>‹#›</a:t>
            </a:fld>
            <a:endParaRPr lang="en-GB"/>
          </a:p>
        </p:txBody>
      </p:sp>
    </p:spTree>
    <p:extLst>
      <p:ext uri="{BB962C8B-B14F-4D97-AF65-F5344CB8AC3E}">
        <p14:creationId xmlns:p14="http://schemas.microsoft.com/office/powerpoint/2010/main" val="1138363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94B6C12-E51C-4847-9ABA-349A7B70B9AA}" type="datetimeFigureOut">
              <a:rPr lang="en-GB" smtClean="0"/>
              <a:t>17/09/2025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BCFFB76-1C2B-4F13-AEB3-49D91F92BBE6}" type="slidenum">
              <a:rPr lang="en-GB" smtClean="0"/>
              <a:t>‹#›</a:t>
            </a:fld>
            <a:endParaRPr lang="en-GB"/>
          </a:p>
        </p:txBody>
      </p:sp>
    </p:spTree>
    <p:extLst>
      <p:ext uri="{BB962C8B-B14F-4D97-AF65-F5344CB8AC3E}">
        <p14:creationId xmlns:p14="http://schemas.microsoft.com/office/powerpoint/2010/main" val="451523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94B6C12-E51C-4847-9ABA-349A7B70B9AA}" type="datetimeFigureOut">
              <a:rPr lang="en-GB" smtClean="0"/>
              <a:t>17/09/2025</a:t>
            </a:fld>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GB"/>
          </a:p>
        </p:txBody>
      </p:sp>
      <p:sp>
        <p:nvSpPr>
          <p:cNvPr id="9" name="Slide Number Placeholder 8"/>
          <p:cNvSpPr>
            <a:spLocks noGrp="1"/>
          </p:cNvSpPr>
          <p:nvPr>
            <p:ph type="sldNum" sz="quarter" idx="12"/>
          </p:nvPr>
        </p:nvSpPr>
        <p:spPr/>
        <p:txBody>
          <a:bodyPr/>
          <a:lstStyle/>
          <a:p>
            <a:fld id="{2BCFFB76-1C2B-4F13-AEB3-49D91F92BBE6}" type="slidenum">
              <a:rPr lang="en-GB" smtClean="0"/>
              <a:t>‹#›</a:t>
            </a:fld>
            <a:endParaRPr lang="en-GB"/>
          </a:p>
        </p:txBody>
      </p:sp>
    </p:spTree>
    <p:extLst>
      <p:ext uri="{BB962C8B-B14F-4D97-AF65-F5344CB8AC3E}">
        <p14:creationId xmlns:p14="http://schemas.microsoft.com/office/powerpoint/2010/main" val="3968969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94B6C12-E51C-4847-9ABA-349A7B70B9AA}" type="datetimeFigureOut">
              <a:rPr lang="en-GB" smtClean="0"/>
              <a:t>17/09/2025</a:t>
            </a:fld>
            <a:endParaRPr lang="en-GB"/>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BCFFB76-1C2B-4F13-AEB3-49D91F92BBE6}" type="slidenum">
              <a:rPr lang="en-GB" smtClean="0"/>
              <a:t>‹#›</a:t>
            </a:fld>
            <a:endParaRPr lang="en-GB"/>
          </a:p>
        </p:txBody>
      </p:sp>
    </p:spTree>
    <p:extLst>
      <p:ext uri="{BB962C8B-B14F-4D97-AF65-F5344CB8AC3E}">
        <p14:creationId xmlns:p14="http://schemas.microsoft.com/office/powerpoint/2010/main" val="3815551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4B6C12-E51C-4847-9ABA-349A7B70B9AA}" type="datetimeFigureOut">
              <a:rPr lang="en-GB" smtClean="0"/>
              <a:t>17/09/2025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BCFFB76-1C2B-4F13-AEB3-49D91F92BBE6}" type="slidenum">
              <a:rPr lang="en-GB" smtClean="0"/>
              <a:t>‹#›</a:t>
            </a:fld>
            <a:endParaRPr lang="en-GB"/>
          </a:p>
        </p:txBody>
      </p:sp>
    </p:spTree>
    <p:extLst>
      <p:ext uri="{BB962C8B-B14F-4D97-AF65-F5344CB8AC3E}">
        <p14:creationId xmlns:p14="http://schemas.microsoft.com/office/powerpoint/2010/main" val="26190379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4B6C12-E51C-4847-9ABA-349A7B70B9AA}" type="datetimeFigureOut">
              <a:rPr lang="en-GB" smtClean="0"/>
              <a:t>17/09/2025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CFFB76-1C2B-4F13-AEB3-49D91F92BBE6}" type="slidenum">
              <a:rPr lang="en-GB" smtClean="0"/>
              <a:t>‹#›</a:t>
            </a:fld>
            <a:endParaRPr lang="en-GB"/>
          </a:p>
        </p:txBody>
      </p:sp>
    </p:spTree>
    <p:extLst>
      <p:ext uri="{BB962C8B-B14F-4D97-AF65-F5344CB8AC3E}">
        <p14:creationId xmlns:p14="http://schemas.microsoft.com/office/powerpoint/2010/main" val="923163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4B6C12-E51C-4847-9ABA-349A7B70B9AA}" type="datetimeFigureOut">
              <a:rPr lang="en-GB" smtClean="0"/>
              <a:t>17/09/2025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CFFB76-1C2B-4F13-AEB3-49D91F92BBE6}" type="slidenum">
              <a:rPr lang="en-GB" smtClean="0"/>
              <a:t>‹#›</a:t>
            </a:fld>
            <a:endParaRPr lang="en-GB"/>
          </a:p>
        </p:txBody>
      </p:sp>
    </p:spTree>
    <p:extLst>
      <p:ext uri="{BB962C8B-B14F-4D97-AF65-F5344CB8AC3E}">
        <p14:creationId xmlns:p14="http://schemas.microsoft.com/office/powerpoint/2010/main" val="443001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94B6C12-E51C-4847-9ABA-349A7B70B9AA}" type="datetimeFigureOut">
              <a:rPr lang="en-GB" smtClean="0"/>
              <a:t>17/09/2025</a:t>
            </a:fld>
            <a:endParaRPr lang="en-GB"/>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GB"/>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BCFFB76-1C2B-4F13-AEB3-49D91F92BBE6}" type="slidenum">
              <a:rPr lang="en-GB" smtClean="0"/>
              <a:t>‹#›</a:t>
            </a:fld>
            <a:endParaRPr lang="en-GB"/>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8006398"/>
      </p:ext>
    </p:extLst>
  </p:cSld>
  <p:clrMap bg1="lt1" tx1="dk1" bg2="lt2" tx2="dk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801" r:id="rId6"/>
    <p:sldLayoutId id="2147483802" r:id="rId7"/>
    <p:sldLayoutId id="2147483803" r:id="rId8"/>
    <p:sldLayoutId id="2147483804" r:id="rId9"/>
    <p:sldLayoutId id="2147483805" r:id="rId10"/>
    <p:sldLayoutId id="2147483806"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png"/><Relationship Id="rId7" Type="http://schemas.openxmlformats.org/officeDocument/2006/relationships/diagramColors" Target="../diagrams/colors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92039-1BEC-88CB-16A1-BCD5CB5F29C4}"/>
              </a:ext>
            </a:extLst>
          </p:cNvPr>
          <p:cNvSpPr>
            <a:spLocks noGrp="1"/>
          </p:cNvSpPr>
          <p:nvPr>
            <p:ph type="ctrTitle"/>
          </p:nvPr>
        </p:nvSpPr>
        <p:spPr>
          <a:xfrm>
            <a:off x="1271464" y="1366540"/>
            <a:ext cx="9144000" cy="584775"/>
          </a:xfrm>
        </p:spPr>
        <p:txBody>
          <a:bodyPr>
            <a:noAutofit/>
          </a:bodyPr>
          <a:lstStyle/>
          <a:p>
            <a:pPr algn="ctr"/>
            <a:r>
              <a:rPr lang="vi-VN" sz="3200" b="1">
                <a:solidFill>
                  <a:schemeClr val="tx1"/>
                </a:solidFill>
                <a:latin typeface="Times New Roman (Headings)"/>
              </a:rPr>
              <a:t>ĐỀ </a:t>
            </a:r>
            <a:r>
              <a:rPr lang="en-US" sz="3200" b="1">
                <a:solidFill>
                  <a:schemeClr val="tx1"/>
                </a:solidFill>
                <a:latin typeface="Times New Roman (Headings)"/>
              </a:rPr>
              <a:t>ÁN</a:t>
            </a:r>
            <a:r>
              <a:rPr lang="vi-VN" sz="3200" b="1">
                <a:solidFill>
                  <a:schemeClr val="tx1"/>
                </a:solidFill>
                <a:latin typeface="Times New Roman (Headings)"/>
              </a:rPr>
              <a:t> </a:t>
            </a:r>
            <a:r>
              <a:rPr lang="vi-VN" sz="3200" b="1" dirty="0">
                <a:solidFill>
                  <a:schemeClr val="tx1"/>
                </a:solidFill>
                <a:latin typeface="Times New Roman (Headings)"/>
              </a:rPr>
              <a:t>THẠC SĨ</a:t>
            </a:r>
            <a:endParaRPr lang="en-GB" sz="3200" b="1" dirty="0">
              <a:solidFill>
                <a:schemeClr val="tx1"/>
              </a:solidFill>
              <a:latin typeface="Times New Roman (Headings)"/>
            </a:endParaRPr>
          </a:p>
        </p:txBody>
      </p:sp>
      <p:sp>
        <p:nvSpPr>
          <p:cNvPr id="3" name="Subtitle 2">
            <a:extLst>
              <a:ext uri="{FF2B5EF4-FFF2-40B4-BE49-F238E27FC236}">
                <a16:creationId xmlns:a16="http://schemas.microsoft.com/office/drawing/2014/main" id="{25542872-CB6A-14AA-A53D-AAD6839C3BD2}"/>
              </a:ext>
            </a:extLst>
          </p:cNvPr>
          <p:cNvSpPr>
            <a:spLocks noGrp="1"/>
          </p:cNvSpPr>
          <p:nvPr>
            <p:ph type="subTitle" idx="1"/>
          </p:nvPr>
        </p:nvSpPr>
        <p:spPr>
          <a:xfrm>
            <a:off x="1423242" y="2095331"/>
            <a:ext cx="9756576" cy="1333669"/>
          </a:xfrm>
        </p:spPr>
        <p:txBody>
          <a:bodyPr>
            <a:normAutofit/>
          </a:bodyPr>
          <a:lstStyle/>
          <a:p>
            <a:pPr algn="ctr"/>
            <a:r>
              <a:rPr lang="en-US" sz="3600" b="1">
                <a:solidFill>
                  <a:schemeClr val="tx1"/>
                </a:solidFill>
                <a:latin typeface="Times New Roman (Headings)"/>
              </a:rPr>
              <a:t>ỨNG DỤNG THUẬT TOÁN DI TRUYỀN TRONG SẮP XẾP THỜI KHÓA BIỂU</a:t>
            </a:r>
            <a:endParaRPr lang="en-GB" sz="4400" dirty="0">
              <a:solidFill>
                <a:schemeClr val="tx1"/>
              </a:solidFill>
              <a:latin typeface="Times New Roman (Headings)"/>
            </a:endParaRPr>
          </a:p>
        </p:txBody>
      </p:sp>
      <p:grpSp>
        <p:nvGrpSpPr>
          <p:cNvPr id="5" name="Group 4">
            <a:extLst>
              <a:ext uri="{FF2B5EF4-FFF2-40B4-BE49-F238E27FC236}">
                <a16:creationId xmlns:a16="http://schemas.microsoft.com/office/drawing/2014/main" id="{1C9338D9-CF25-D679-4A9F-39355F8D4FD3}"/>
              </a:ext>
            </a:extLst>
          </p:cNvPr>
          <p:cNvGrpSpPr/>
          <p:nvPr/>
        </p:nvGrpSpPr>
        <p:grpSpPr>
          <a:xfrm>
            <a:off x="256614" y="197211"/>
            <a:ext cx="5911394" cy="964201"/>
            <a:chOff x="167474" y="98117"/>
            <a:chExt cx="3867348" cy="964201"/>
          </a:xfrm>
        </p:grpSpPr>
        <p:pic>
          <p:nvPicPr>
            <p:cNvPr id="6" name="Picture 5">
              <a:extLst>
                <a:ext uri="{FF2B5EF4-FFF2-40B4-BE49-F238E27FC236}">
                  <a16:creationId xmlns:a16="http://schemas.microsoft.com/office/drawing/2014/main" id="{D246DA94-3B65-ECE2-2039-FD895C19B08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7" name="TextBox 6">
              <a:extLst>
                <a:ext uri="{FF2B5EF4-FFF2-40B4-BE49-F238E27FC236}">
                  <a16:creationId xmlns:a16="http://schemas.microsoft.com/office/drawing/2014/main" id="{9345E23A-ABB4-293E-11A9-63C234E32083}"/>
                </a:ext>
              </a:extLst>
            </p:cNvPr>
            <p:cNvSpPr txBox="1"/>
            <p:nvPr/>
          </p:nvSpPr>
          <p:spPr>
            <a:xfrm>
              <a:off x="1271939" y="98117"/>
              <a:ext cx="2762883" cy="861774"/>
            </a:xfrm>
            <a:prstGeom prst="rect">
              <a:avLst/>
            </a:prstGeom>
            <a:noFill/>
          </p:spPr>
          <p:txBody>
            <a:bodyPr wrap="square" rtlCol="0">
              <a:spAutoFit/>
            </a:bodyPr>
            <a:lstStyle/>
            <a:p>
              <a:r>
                <a:rPr lang="en-US" b="1">
                  <a:solidFill>
                    <a:srgbClr val="1930B0"/>
                  </a:solidFill>
                  <a:latin typeface="Times New Roman (Headings)"/>
                </a:rPr>
                <a:t>BỘ NÔNG NGHIỆP VÀ MÔI TRƯỜNG</a:t>
              </a:r>
            </a:p>
            <a:p>
              <a:r>
                <a:rPr lang="en-US" b="1">
                  <a:solidFill>
                    <a:srgbClr val="1930B0"/>
                  </a:solidFill>
                  <a:latin typeface="Times New Roman (Headings)"/>
                </a:rPr>
                <a:t>TRƯỜNG </a:t>
              </a:r>
              <a:r>
                <a:rPr lang="en-US" b="1" dirty="0">
                  <a:solidFill>
                    <a:srgbClr val="1930B0"/>
                  </a:solidFill>
                  <a:latin typeface="Times New Roman (Headings)"/>
                </a:rPr>
                <a:t>ĐẠI HỌC THỦY LỢI</a:t>
              </a:r>
            </a:p>
            <a:p>
              <a:r>
                <a:rPr lang="en-US" sz="1400" b="1" dirty="0">
                  <a:solidFill>
                    <a:srgbClr val="1930B0"/>
                  </a:solidFill>
                  <a:latin typeface="Times New Roman (Headings)"/>
                </a:rPr>
                <a:t>KHOA CÔNG NGHỆ THÔNG TIN</a:t>
              </a:r>
            </a:p>
          </p:txBody>
        </p:sp>
      </p:grpSp>
      <p:graphicFrame>
        <p:nvGraphicFramePr>
          <p:cNvPr id="18" name="Table 17">
            <a:extLst>
              <a:ext uri="{FF2B5EF4-FFF2-40B4-BE49-F238E27FC236}">
                <a16:creationId xmlns:a16="http://schemas.microsoft.com/office/drawing/2014/main" id="{8087D23C-E724-6EE1-CEEB-E09A1CF95863}"/>
              </a:ext>
            </a:extLst>
          </p:cNvPr>
          <p:cNvGraphicFramePr>
            <a:graphicFrameLocks noGrp="1"/>
          </p:cNvGraphicFramePr>
          <p:nvPr>
            <p:extLst>
              <p:ext uri="{D42A27DB-BD31-4B8C-83A1-F6EECF244321}">
                <p14:modId xmlns:p14="http://schemas.microsoft.com/office/powerpoint/2010/main" val="1277435484"/>
              </p:ext>
            </p:extLst>
          </p:nvPr>
        </p:nvGraphicFramePr>
        <p:xfrm>
          <a:off x="3098139" y="3717032"/>
          <a:ext cx="6264696" cy="2286000"/>
        </p:xfrm>
        <a:graphic>
          <a:graphicData uri="http://schemas.openxmlformats.org/drawingml/2006/table">
            <a:tbl>
              <a:tblPr firstRow="1" bandRow="1">
                <a:tableStyleId>{5C22544A-7EE6-4342-B048-85BDC9FD1C3A}</a:tableStyleId>
              </a:tblPr>
              <a:tblGrid>
                <a:gridCol w="2853845">
                  <a:extLst>
                    <a:ext uri="{9D8B030D-6E8A-4147-A177-3AD203B41FA5}">
                      <a16:colId xmlns:a16="http://schemas.microsoft.com/office/drawing/2014/main" val="3788566778"/>
                    </a:ext>
                  </a:extLst>
                </a:gridCol>
                <a:gridCol w="3410851">
                  <a:extLst>
                    <a:ext uri="{9D8B030D-6E8A-4147-A177-3AD203B41FA5}">
                      <a16:colId xmlns:a16="http://schemas.microsoft.com/office/drawing/2014/main" val="511329248"/>
                    </a:ext>
                  </a:extLst>
                </a:gridCol>
              </a:tblGrid>
              <a:tr h="370840">
                <a:tc>
                  <a:txBody>
                    <a:bodyPr/>
                    <a:lstStyle/>
                    <a:p>
                      <a:r>
                        <a:rPr lang="en-US" sz="2000" b="1" dirty="0" err="1">
                          <a:solidFill>
                            <a:schemeClr val="tx1"/>
                          </a:solidFill>
                          <a:latin typeface="Times New Roman (Headings)"/>
                        </a:rPr>
                        <a:t>Giảng</a:t>
                      </a:r>
                      <a:r>
                        <a:rPr lang="en-US" sz="2000" b="1" dirty="0">
                          <a:solidFill>
                            <a:schemeClr val="tx1"/>
                          </a:solidFill>
                          <a:latin typeface="Times New Roman (Headings)"/>
                        </a:rPr>
                        <a:t> </a:t>
                      </a:r>
                      <a:r>
                        <a:rPr lang="en-US" sz="2000" b="1" dirty="0" err="1">
                          <a:solidFill>
                            <a:schemeClr val="tx1"/>
                          </a:solidFill>
                          <a:latin typeface="Times New Roman (Headings)"/>
                        </a:rPr>
                        <a:t>viên</a:t>
                      </a:r>
                      <a:r>
                        <a:rPr lang="en-US" sz="2000" b="1" dirty="0">
                          <a:solidFill>
                            <a:schemeClr val="tx1"/>
                          </a:solidFill>
                          <a:latin typeface="Times New Roman (Headings)"/>
                        </a:rPr>
                        <a:t> </a:t>
                      </a:r>
                      <a:r>
                        <a:rPr lang="en-US" sz="2000" b="1" dirty="0" err="1">
                          <a:solidFill>
                            <a:schemeClr val="tx1"/>
                          </a:solidFill>
                          <a:latin typeface="Times New Roman (Headings)"/>
                        </a:rPr>
                        <a:t>hướng</a:t>
                      </a:r>
                      <a:r>
                        <a:rPr lang="en-US" sz="2000" b="1" dirty="0">
                          <a:solidFill>
                            <a:schemeClr val="tx1"/>
                          </a:solidFill>
                          <a:latin typeface="Times New Roman (Headings)"/>
                        </a:rPr>
                        <a:t> </a:t>
                      </a:r>
                      <a:r>
                        <a:rPr lang="en-US" sz="2000" b="1" dirty="0" err="1">
                          <a:solidFill>
                            <a:schemeClr val="tx1"/>
                          </a:solidFill>
                          <a:latin typeface="Times New Roman (Headings)"/>
                        </a:rPr>
                        <a:t>dẫn</a:t>
                      </a:r>
                      <a:r>
                        <a:rPr lang="en-US" sz="2000" b="1" dirty="0">
                          <a:solidFill>
                            <a:schemeClr val="tx1"/>
                          </a:solidFill>
                          <a:latin typeface="Times New Roman (Headings)"/>
                        </a:rPr>
                        <a:t>:</a:t>
                      </a:r>
                      <a:endParaRPr lang="en-GB" sz="2000" b="1" dirty="0">
                        <a:solidFill>
                          <a:schemeClr val="tx1"/>
                        </a:solidFill>
                        <a:latin typeface="Times New Roman (Headings)"/>
                      </a:endParaRPr>
                    </a:p>
                  </a:txBody>
                  <a:tcPr>
                    <a:noFill/>
                  </a:tcPr>
                </a:tc>
                <a:tc>
                  <a:txBody>
                    <a:bodyPr/>
                    <a:lstStyle/>
                    <a:p>
                      <a:r>
                        <a:rPr lang="en-US" sz="2000" b="1" dirty="0">
                          <a:solidFill>
                            <a:schemeClr val="tx1"/>
                          </a:solidFill>
                          <a:latin typeface="Times New Roman (Headings)"/>
                        </a:rPr>
                        <a:t>TS. </a:t>
                      </a:r>
                      <a:r>
                        <a:rPr lang="en-US" sz="2000" b="1" dirty="0" err="1">
                          <a:solidFill>
                            <a:schemeClr val="tx1"/>
                          </a:solidFill>
                          <a:latin typeface="Times New Roman (Headings)"/>
                        </a:rPr>
                        <a:t>Trần</a:t>
                      </a:r>
                      <a:r>
                        <a:rPr lang="en-US" sz="2000" b="1" dirty="0">
                          <a:solidFill>
                            <a:schemeClr val="tx1"/>
                          </a:solidFill>
                          <a:latin typeface="Times New Roman (Headings)"/>
                        </a:rPr>
                        <a:t> </a:t>
                      </a:r>
                      <a:r>
                        <a:rPr lang="en-US" sz="2000" b="1" err="1">
                          <a:solidFill>
                            <a:schemeClr val="tx1"/>
                          </a:solidFill>
                          <a:latin typeface="Times New Roman (Headings)"/>
                        </a:rPr>
                        <a:t>Mạnh</a:t>
                      </a:r>
                      <a:r>
                        <a:rPr lang="en-US" sz="2000" b="1">
                          <a:solidFill>
                            <a:schemeClr val="tx1"/>
                          </a:solidFill>
                          <a:latin typeface="Times New Roman (Headings)"/>
                        </a:rPr>
                        <a:t> Tuấn</a:t>
                      </a:r>
                    </a:p>
                    <a:p>
                      <a:r>
                        <a:rPr lang="en-US" sz="2000" b="1">
                          <a:solidFill>
                            <a:schemeClr val="tx1"/>
                          </a:solidFill>
                          <a:latin typeface="Times New Roman (Headings)"/>
                        </a:rPr>
                        <a:t>TS. Lê Minh Tuấn</a:t>
                      </a:r>
                      <a:endParaRPr lang="en-GB" sz="2000" b="1" dirty="0">
                        <a:solidFill>
                          <a:schemeClr val="tx1"/>
                        </a:solidFill>
                        <a:latin typeface="Times New Roman (Headings)"/>
                      </a:endParaRPr>
                    </a:p>
                  </a:txBody>
                  <a:tcPr>
                    <a:noFill/>
                  </a:tcPr>
                </a:tc>
                <a:extLst>
                  <a:ext uri="{0D108BD9-81ED-4DB2-BD59-A6C34878D82A}">
                    <a16:rowId xmlns:a16="http://schemas.microsoft.com/office/drawing/2014/main" val="2068085754"/>
                  </a:ext>
                </a:extLst>
              </a:tr>
              <a:tr h="370840">
                <a:tc>
                  <a:txBody>
                    <a:bodyPr/>
                    <a:lstStyle/>
                    <a:p>
                      <a:r>
                        <a:rPr lang="en-US" sz="2000" b="1" dirty="0" err="1">
                          <a:solidFill>
                            <a:schemeClr val="tx1"/>
                          </a:solidFill>
                          <a:latin typeface="Times New Roman (Headings)"/>
                        </a:rPr>
                        <a:t>Bộ</a:t>
                      </a:r>
                      <a:r>
                        <a:rPr lang="en-US" sz="2000" b="1" dirty="0">
                          <a:solidFill>
                            <a:schemeClr val="tx1"/>
                          </a:solidFill>
                          <a:latin typeface="Times New Roman (Headings)"/>
                        </a:rPr>
                        <a:t> </a:t>
                      </a:r>
                      <a:r>
                        <a:rPr lang="en-US" sz="2000" b="1" dirty="0" err="1">
                          <a:solidFill>
                            <a:schemeClr val="tx1"/>
                          </a:solidFill>
                          <a:latin typeface="Times New Roman (Headings)"/>
                        </a:rPr>
                        <a:t>môn</a:t>
                      </a:r>
                      <a:r>
                        <a:rPr lang="en-US" sz="2000" b="1" dirty="0">
                          <a:solidFill>
                            <a:schemeClr val="tx1"/>
                          </a:solidFill>
                          <a:latin typeface="Times New Roman (Headings)"/>
                        </a:rPr>
                        <a:t> </a:t>
                      </a:r>
                      <a:r>
                        <a:rPr lang="en-US" sz="2000" b="1" dirty="0" err="1">
                          <a:solidFill>
                            <a:schemeClr val="tx1"/>
                          </a:solidFill>
                          <a:latin typeface="Times New Roman (Headings)"/>
                        </a:rPr>
                        <a:t>quản</a:t>
                      </a:r>
                      <a:r>
                        <a:rPr lang="en-US" sz="2000" b="1" dirty="0">
                          <a:solidFill>
                            <a:schemeClr val="tx1"/>
                          </a:solidFill>
                          <a:latin typeface="Times New Roman (Headings)"/>
                        </a:rPr>
                        <a:t> </a:t>
                      </a:r>
                      <a:r>
                        <a:rPr lang="en-US" sz="2000" b="1" dirty="0" err="1">
                          <a:solidFill>
                            <a:schemeClr val="tx1"/>
                          </a:solidFill>
                          <a:latin typeface="Times New Roman (Headings)"/>
                        </a:rPr>
                        <a:t>lý</a:t>
                      </a:r>
                      <a:r>
                        <a:rPr lang="en-US" sz="2000" b="1" dirty="0">
                          <a:solidFill>
                            <a:schemeClr val="tx1"/>
                          </a:solidFill>
                          <a:latin typeface="Times New Roman (Headings)"/>
                        </a:rPr>
                        <a:t>: </a:t>
                      </a:r>
                      <a:endParaRPr lang="en-GB" sz="2000" b="1" dirty="0">
                        <a:solidFill>
                          <a:schemeClr val="tx1"/>
                        </a:solidFill>
                        <a:latin typeface="Times New Roman (Headings)"/>
                      </a:endParaRPr>
                    </a:p>
                  </a:txBody>
                  <a:tcPr>
                    <a:noFill/>
                  </a:tcPr>
                </a:tc>
                <a:tc>
                  <a:txBody>
                    <a:bodyPr/>
                    <a:lstStyle/>
                    <a:p>
                      <a:r>
                        <a:rPr lang="en-US" sz="2000" b="1" dirty="0" err="1">
                          <a:solidFill>
                            <a:schemeClr val="tx1"/>
                          </a:solidFill>
                          <a:latin typeface="Times New Roman (Headings)"/>
                        </a:rPr>
                        <a:t>Hệ</a:t>
                      </a:r>
                      <a:r>
                        <a:rPr lang="en-US" sz="2000" b="1" dirty="0">
                          <a:solidFill>
                            <a:schemeClr val="tx1"/>
                          </a:solidFill>
                          <a:latin typeface="Times New Roman (Headings)"/>
                        </a:rPr>
                        <a:t> </a:t>
                      </a:r>
                      <a:r>
                        <a:rPr lang="en-US" sz="2000" b="1" dirty="0" err="1">
                          <a:solidFill>
                            <a:schemeClr val="tx1"/>
                          </a:solidFill>
                          <a:latin typeface="Times New Roman (Headings)"/>
                        </a:rPr>
                        <a:t>thống</a:t>
                      </a:r>
                      <a:r>
                        <a:rPr lang="en-US" sz="2000" b="1" dirty="0">
                          <a:solidFill>
                            <a:schemeClr val="tx1"/>
                          </a:solidFill>
                          <a:latin typeface="Times New Roman (Headings)"/>
                        </a:rPr>
                        <a:t> </a:t>
                      </a:r>
                      <a:r>
                        <a:rPr lang="en-US" sz="2000" b="1" dirty="0" err="1">
                          <a:solidFill>
                            <a:schemeClr val="tx1"/>
                          </a:solidFill>
                          <a:latin typeface="Times New Roman (Headings)"/>
                        </a:rPr>
                        <a:t>thông</a:t>
                      </a:r>
                      <a:r>
                        <a:rPr lang="en-US" sz="2000" b="1" dirty="0">
                          <a:solidFill>
                            <a:schemeClr val="tx1"/>
                          </a:solidFill>
                          <a:latin typeface="Times New Roman (Headings)"/>
                        </a:rPr>
                        <a:t> tin</a:t>
                      </a:r>
                      <a:endParaRPr lang="en-GB" sz="2000" b="1" dirty="0">
                        <a:solidFill>
                          <a:schemeClr val="tx1"/>
                        </a:solidFill>
                        <a:latin typeface="Times New Roman (Headings)"/>
                      </a:endParaRPr>
                    </a:p>
                  </a:txBody>
                  <a:tcPr>
                    <a:noFill/>
                  </a:tcPr>
                </a:tc>
                <a:extLst>
                  <a:ext uri="{0D108BD9-81ED-4DB2-BD59-A6C34878D82A}">
                    <a16:rowId xmlns:a16="http://schemas.microsoft.com/office/drawing/2014/main" val="4055888495"/>
                  </a:ext>
                </a:extLst>
              </a:tr>
              <a:tr h="370840">
                <a:tc>
                  <a:txBody>
                    <a:bodyPr/>
                    <a:lstStyle/>
                    <a:p>
                      <a:r>
                        <a:rPr lang="en-US" sz="2000" b="1" dirty="0" err="1">
                          <a:solidFill>
                            <a:schemeClr val="tx1"/>
                          </a:solidFill>
                          <a:latin typeface="Times New Roman (Headings)"/>
                        </a:rPr>
                        <a:t>Học</a:t>
                      </a:r>
                      <a:r>
                        <a:rPr lang="en-US" sz="2000" b="1" dirty="0">
                          <a:solidFill>
                            <a:schemeClr val="tx1"/>
                          </a:solidFill>
                          <a:latin typeface="Times New Roman (Headings)"/>
                        </a:rPr>
                        <a:t> </a:t>
                      </a:r>
                      <a:r>
                        <a:rPr lang="en-US" sz="2000" b="1" dirty="0" err="1">
                          <a:solidFill>
                            <a:schemeClr val="tx1"/>
                          </a:solidFill>
                          <a:latin typeface="Times New Roman (Headings)"/>
                        </a:rPr>
                        <a:t>viên</a:t>
                      </a:r>
                      <a:r>
                        <a:rPr lang="en-US" sz="2000" b="1" dirty="0">
                          <a:solidFill>
                            <a:schemeClr val="tx1"/>
                          </a:solidFill>
                          <a:latin typeface="Times New Roman (Headings)"/>
                        </a:rPr>
                        <a:t>:</a:t>
                      </a:r>
                      <a:endParaRPr lang="en-GB" sz="2000" b="1" dirty="0">
                        <a:solidFill>
                          <a:schemeClr val="tx1"/>
                        </a:solidFill>
                        <a:latin typeface="Times New Roman (Headings)"/>
                      </a:endParaRPr>
                    </a:p>
                  </a:txBody>
                  <a:tcPr>
                    <a:noFill/>
                  </a:tcPr>
                </a:tc>
                <a:tc>
                  <a:txBody>
                    <a:bodyPr/>
                    <a:lstStyle/>
                    <a:p>
                      <a:r>
                        <a:rPr lang="en-US" sz="2000" b="1">
                          <a:solidFill>
                            <a:schemeClr val="tx1"/>
                          </a:solidFill>
                          <a:latin typeface="Times New Roman (Headings)"/>
                        </a:rPr>
                        <a:t>Nguyễn Trọng Anh</a:t>
                      </a:r>
                      <a:endParaRPr lang="en-GB" sz="2000" b="1" dirty="0">
                        <a:solidFill>
                          <a:schemeClr val="tx1"/>
                        </a:solidFill>
                        <a:latin typeface="Times New Roman (Headings)"/>
                      </a:endParaRPr>
                    </a:p>
                  </a:txBody>
                  <a:tcPr>
                    <a:noFill/>
                  </a:tcPr>
                </a:tc>
                <a:extLst>
                  <a:ext uri="{0D108BD9-81ED-4DB2-BD59-A6C34878D82A}">
                    <a16:rowId xmlns:a16="http://schemas.microsoft.com/office/drawing/2014/main" val="2117280944"/>
                  </a:ext>
                </a:extLst>
              </a:tr>
              <a:tr h="370840">
                <a:tc>
                  <a:txBody>
                    <a:bodyPr/>
                    <a:lstStyle/>
                    <a:p>
                      <a:r>
                        <a:rPr lang="en-US" sz="2000" b="1" dirty="0" err="1">
                          <a:solidFill>
                            <a:schemeClr val="tx1"/>
                          </a:solidFill>
                          <a:latin typeface="Times New Roman (Headings)"/>
                        </a:rPr>
                        <a:t>Lớp</a:t>
                      </a:r>
                      <a:r>
                        <a:rPr lang="en-US" sz="2000" b="1" dirty="0">
                          <a:solidFill>
                            <a:schemeClr val="tx1"/>
                          </a:solidFill>
                          <a:latin typeface="Times New Roman (Headings)"/>
                        </a:rPr>
                        <a:t>:</a:t>
                      </a:r>
                      <a:endParaRPr lang="en-GB" sz="2000" b="1" dirty="0">
                        <a:solidFill>
                          <a:schemeClr val="tx1"/>
                        </a:solidFill>
                        <a:latin typeface="Times New Roman (Headings)"/>
                      </a:endParaRPr>
                    </a:p>
                  </a:txBody>
                  <a:tcPr>
                    <a:noFill/>
                  </a:tcPr>
                </a:tc>
                <a:tc>
                  <a:txBody>
                    <a:bodyPr/>
                    <a:lstStyle/>
                    <a:p>
                      <a:r>
                        <a:rPr lang="en-US" sz="2000" b="1">
                          <a:solidFill>
                            <a:schemeClr val="tx1"/>
                          </a:solidFill>
                          <a:latin typeface="Times New Roman (Headings)"/>
                        </a:rPr>
                        <a:t>31CNTT21</a:t>
                      </a:r>
                      <a:endParaRPr lang="en-GB" sz="2000" b="1" dirty="0">
                        <a:solidFill>
                          <a:schemeClr val="tx1"/>
                        </a:solidFill>
                        <a:latin typeface="Times New Roman (Headings)"/>
                      </a:endParaRPr>
                    </a:p>
                  </a:txBody>
                  <a:tcPr>
                    <a:noFill/>
                  </a:tcPr>
                </a:tc>
                <a:extLst>
                  <a:ext uri="{0D108BD9-81ED-4DB2-BD59-A6C34878D82A}">
                    <a16:rowId xmlns:a16="http://schemas.microsoft.com/office/drawing/2014/main" val="4156310157"/>
                  </a:ext>
                </a:extLst>
              </a:tr>
              <a:tr h="370840">
                <a:tc>
                  <a:txBody>
                    <a:bodyPr/>
                    <a:lstStyle/>
                    <a:p>
                      <a:r>
                        <a:rPr lang="en-US" sz="2000" b="1" dirty="0" err="1">
                          <a:solidFill>
                            <a:schemeClr val="tx1"/>
                          </a:solidFill>
                          <a:latin typeface="Times New Roman (Headings)"/>
                        </a:rPr>
                        <a:t>Mã</a:t>
                      </a:r>
                      <a:r>
                        <a:rPr lang="en-US" sz="2000" b="1" dirty="0">
                          <a:solidFill>
                            <a:schemeClr val="tx1"/>
                          </a:solidFill>
                          <a:latin typeface="Times New Roman (Headings)"/>
                        </a:rPr>
                        <a:t> </a:t>
                      </a:r>
                      <a:r>
                        <a:rPr lang="en-US" sz="2000" b="1" dirty="0" err="1">
                          <a:solidFill>
                            <a:schemeClr val="tx1"/>
                          </a:solidFill>
                          <a:latin typeface="Times New Roman (Headings)"/>
                        </a:rPr>
                        <a:t>học</a:t>
                      </a:r>
                      <a:r>
                        <a:rPr lang="en-US" sz="2000" b="1" dirty="0">
                          <a:solidFill>
                            <a:schemeClr val="tx1"/>
                          </a:solidFill>
                          <a:latin typeface="Times New Roman (Headings)"/>
                        </a:rPr>
                        <a:t> </a:t>
                      </a:r>
                      <a:r>
                        <a:rPr lang="en-US" sz="2000" b="1" dirty="0" err="1">
                          <a:solidFill>
                            <a:schemeClr val="tx1"/>
                          </a:solidFill>
                          <a:latin typeface="Times New Roman (Headings)"/>
                        </a:rPr>
                        <a:t>viên</a:t>
                      </a:r>
                      <a:r>
                        <a:rPr lang="en-US" sz="2000" b="1" dirty="0">
                          <a:solidFill>
                            <a:schemeClr val="tx1"/>
                          </a:solidFill>
                          <a:latin typeface="Times New Roman (Headings)"/>
                        </a:rPr>
                        <a:t>:</a:t>
                      </a:r>
                      <a:endParaRPr lang="en-GB" sz="2000" b="1" dirty="0">
                        <a:solidFill>
                          <a:schemeClr val="tx1"/>
                        </a:solidFill>
                        <a:latin typeface="Times New Roman (Headings)"/>
                      </a:endParaRPr>
                    </a:p>
                  </a:txBody>
                  <a:tcPr>
                    <a:noFill/>
                  </a:tcPr>
                </a:tc>
                <a:tc>
                  <a:txBody>
                    <a:bodyPr/>
                    <a:lstStyle/>
                    <a:p>
                      <a:r>
                        <a:rPr lang="en-US" sz="1800" b="1" kern="1200">
                          <a:solidFill>
                            <a:schemeClr val="dk1"/>
                          </a:solidFill>
                          <a:effectLst/>
                          <a:latin typeface="+mn-lt"/>
                          <a:ea typeface="+mn-ea"/>
                          <a:cs typeface="+mn-cs"/>
                        </a:rPr>
                        <a:t>2</a:t>
                      </a:r>
                      <a:r>
                        <a:rPr lang="vi-VN" sz="1800" b="1" kern="1200">
                          <a:solidFill>
                            <a:schemeClr val="dk1"/>
                          </a:solidFill>
                          <a:effectLst/>
                          <a:latin typeface="+mn-lt"/>
                          <a:ea typeface="+mn-ea"/>
                          <a:cs typeface="+mn-cs"/>
                        </a:rPr>
                        <a:t>3</a:t>
                      </a:r>
                      <a:r>
                        <a:rPr lang="en-US" sz="1800" b="1" kern="1200">
                          <a:solidFill>
                            <a:schemeClr val="dk1"/>
                          </a:solidFill>
                          <a:effectLst/>
                          <a:latin typeface="+mn-lt"/>
                          <a:ea typeface="+mn-ea"/>
                          <a:cs typeface="+mn-cs"/>
                        </a:rPr>
                        <a:t>821</a:t>
                      </a:r>
                      <a:r>
                        <a:rPr lang="vi-VN" sz="1800" b="1" kern="1200">
                          <a:solidFill>
                            <a:schemeClr val="dk1"/>
                          </a:solidFill>
                          <a:effectLst/>
                          <a:latin typeface="+mn-lt"/>
                          <a:ea typeface="+mn-ea"/>
                          <a:cs typeface="+mn-cs"/>
                        </a:rPr>
                        <a:t>75</a:t>
                      </a:r>
                      <a:r>
                        <a:rPr lang="en-US" sz="1800" b="1" kern="1200">
                          <a:solidFill>
                            <a:schemeClr val="dk1"/>
                          </a:solidFill>
                          <a:effectLst/>
                          <a:latin typeface="+mn-lt"/>
                          <a:ea typeface="+mn-ea"/>
                          <a:cs typeface="+mn-cs"/>
                        </a:rPr>
                        <a:t>01</a:t>
                      </a:r>
                      <a:endParaRPr lang="en-GB" sz="2000" b="1" dirty="0">
                        <a:solidFill>
                          <a:schemeClr val="tx1"/>
                        </a:solidFill>
                        <a:latin typeface="Times New Roman (Headings)"/>
                      </a:endParaRPr>
                    </a:p>
                  </a:txBody>
                  <a:tcPr>
                    <a:noFill/>
                  </a:tcPr>
                </a:tc>
                <a:extLst>
                  <a:ext uri="{0D108BD9-81ED-4DB2-BD59-A6C34878D82A}">
                    <a16:rowId xmlns:a16="http://schemas.microsoft.com/office/drawing/2014/main" val="2359149900"/>
                  </a:ext>
                </a:extLst>
              </a:tr>
            </a:tbl>
          </a:graphicData>
        </a:graphic>
      </p:graphicFrame>
      <p:sp>
        <p:nvSpPr>
          <p:cNvPr id="19" name="TextBox 18">
            <a:extLst>
              <a:ext uri="{FF2B5EF4-FFF2-40B4-BE49-F238E27FC236}">
                <a16:creationId xmlns:a16="http://schemas.microsoft.com/office/drawing/2014/main" id="{21531CFF-4025-7393-20C4-FB9608B4654E}"/>
              </a:ext>
            </a:extLst>
          </p:cNvPr>
          <p:cNvSpPr txBox="1"/>
          <p:nvPr/>
        </p:nvSpPr>
        <p:spPr>
          <a:xfrm>
            <a:off x="0" y="6488668"/>
            <a:ext cx="12192000" cy="369332"/>
          </a:xfrm>
          <a:prstGeom prst="rect">
            <a:avLst/>
          </a:prstGeom>
          <a:noFill/>
        </p:spPr>
        <p:txBody>
          <a:bodyPr wrap="square" rtlCol="0">
            <a:spAutoFit/>
          </a:bodyPr>
          <a:lstStyle/>
          <a:p>
            <a:pPr algn="ctr"/>
            <a:r>
              <a:rPr lang="en-US">
                <a:latin typeface="Times New Roman" panose="02020603050405020304" pitchFamily="18" charset="0"/>
                <a:cs typeface="Times New Roman" panose="02020603050405020304" pitchFamily="18" charset="0"/>
              </a:rPr>
              <a:t>Tháng 9 </a:t>
            </a:r>
            <a:r>
              <a:rPr lang="en-US" err="1">
                <a:latin typeface="Times New Roman" panose="02020603050405020304" pitchFamily="18" charset="0"/>
                <a:cs typeface="Times New Roman" panose="02020603050405020304" pitchFamily="18" charset="0"/>
              </a:rPr>
              <a:t>năm</a:t>
            </a:r>
            <a:r>
              <a:rPr lang="en-US">
                <a:latin typeface="Times New Roman" panose="02020603050405020304" pitchFamily="18" charset="0"/>
                <a:cs typeface="Times New Roman" panose="02020603050405020304" pitchFamily="18" charset="0"/>
              </a:rPr>
              <a:t> 2025</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1410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EEC34-61F6-575D-3528-E3EE429002D0}"/>
              </a:ext>
            </a:extLst>
          </p:cNvPr>
          <p:cNvSpPr>
            <a:spLocks noGrp="1"/>
          </p:cNvSpPr>
          <p:nvPr>
            <p:ph type="title"/>
          </p:nvPr>
        </p:nvSpPr>
        <p:spPr>
          <a:xfrm>
            <a:off x="677334" y="732367"/>
            <a:ext cx="10819266" cy="968442"/>
          </a:xfrm>
        </p:spPr>
        <p:txBody>
          <a:bodyPr>
            <a:normAutofit/>
          </a:bodyPr>
          <a:lstStyle/>
          <a:p>
            <a:pPr algn="ctr"/>
            <a:r>
              <a:rPr lang="en-US" dirty="0">
                <a:solidFill>
                  <a:schemeClr val="tx1"/>
                </a:solidFill>
                <a:latin typeface="Times New Roman (Headings)"/>
              </a:rPr>
              <a:t>NỘI </a:t>
            </a:r>
            <a:r>
              <a:rPr lang="en-US">
                <a:solidFill>
                  <a:schemeClr val="tx1"/>
                </a:solidFill>
                <a:latin typeface="Times New Roman (Headings)"/>
              </a:rPr>
              <a:t>DUNG TRÌNH BÀY</a:t>
            </a:r>
            <a:endParaRPr lang="en-GB" dirty="0">
              <a:solidFill>
                <a:schemeClr val="tx1"/>
              </a:solidFill>
              <a:latin typeface="Times New Roman (Headings)"/>
            </a:endParaRPr>
          </a:p>
        </p:txBody>
      </p:sp>
      <p:grpSp>
        <p:nvGrpSpPr>
          <p:cNvPr id="4" name="Group 3">
            <a:extLst>
              <a:ext uri="{FF2B5EF4-FFF2-40B4-BE49-F238E27FC236}">
                <a16:creationId xmlns:a16="http://schemas.microsoft.com/office/drawing/2014/main" id="{B2E82AA2-7655-5A8F-126F-D92A7BF8CC0E}"/>
              </a:ext>
            </a:extLst>
          </p:cNvPr>
          <p:cNvGrpSpPr/>
          <p:nvPr/>
        </p:nvGrpSpPr>
        <p:grpSpPr>
          <a:xfrm>
            <a:off x="167474" y="141194"/>
            <a:ext cx="3120214" cy="666192"/>
            <a:chOff x="167474" y="141194"/>
            <a:chExt cx="4385547" cy="1038014"/>
          </a:xfrm>
        </p:grpSpPr>
        <p:pic>
          <p:nvPicPr>
            <p:cNvPr id="5" name="Picture 4">
              <a:extLst>
                <a:ext uri="{FF2B5EF4-FFF2-40B4-BE49-F238E27FC236}">
                  <a16:creationId xmlns:a16="http://schemas.microsoft.com/office/drawing/2014/main" id="{3F85DD9F-98DC-E580-A1A8-325FECC805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6" name="TextBox 5">
              <a:extLst>
                <a:ext uri="{FF2B5EF4-FFF2-40B4-BE49-F238E27FC236}">
                  <a16:creationId xmlns:a16="http://schemas.microsoft.com/office/drawing/2014/main" id="{399AF9BE-C3B6-8F0E-CED2-00F838E9BD64}"/>
                </a:ext>
              </a:extLst>
            </p:cNvPr>
            <p:cNvSpPr txBox="1"/>
            <p:nvPr/>
          </p:nvSpPr>
          <p:spPr>
            <a:xfrm>
              <a:off x="1271938" y="316007"/>
              <a:ext cx="3281083" cy="863201"/>
            </a:xfrm>
            <a:prstGeom prst="rect">
              <a:avLst/>
            </a:prstGeom>
            <a:noFill/>
          </p:spPr>
          <p:txBody>
            <a:bodyPr wrap="square" rtlCol="0">
              <a:spAutoFit/>
            </a:bodyPr>
            <a:lstStyle/>
            <a:p>
              <a:r>
                <a:rPr lang="en-US" sz="1000" b="1" dirty="0">
                  <a:solidFill>
                    <a:srgbClr val="1930B0"/>
                  </a:solidFill>
                  <a:latin typeface="Times New Roman (Headings)"/>
                </a:rPr>
                <a:t>TRƯỜNG ĐẠI HỌC THỦY LỢI</a:t>
              </a:r>
            </a:p>
            <a:p>
              <a:r>
                <a:rPr lang="en-US" sz="1000" b="1" dirty="0">
                  <a:solidFill>
                    <a:srgbClr val="1930B0"/>
                  </a:solidFill>
                  <a:latin typeface="Times New Roman (Headings)"/>
                </a:rPr>
                <a:t>KHOA CÔNG NGHỆ THÔNG TIN</a:t>
              </a:r>
            </a:p>
          </p:txBody>
        </p:sp>
      </p:grpSp>
      <p:sp>
        <p:nvSpPr>
          <p:cNvPr id="7" name="Rectangle: Rounded Corners 6">
            <a:extLst>
              <a:ext uri="{FF2B5EF4-FFF2-40B4-BE49-F238E27FC236}">
                <a16:creationId xmlns:a16="http://schemas.microsoft.com/office/drawing/2014/main" id="{2BFF3237-E224-D75F-5A43-A42C642F15AE}"/>
              </a:ext>
            </a:extLst>
          </p:cNvPr>
          <p:cNvSpPr/>
          <p:nvPr/>
        </p:nvSpPr>
        <p:spPr>
          <a:xfrm>
            <a:off x="803412" y="1671852"/>
            <a:ext cx="10435314" cy="82104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8" name="TextBox 7">
            <a:extLst>
              <a:ext uri="{FF2B5EF4-FFF2-40B4-BE49-F238E27FC236}">
                <a16:creationId xmlns:a16="http://schemas.microsoft.com/office/drawing/2014/main" id="{74FF8BAE-5520-4E6E-EE3C-CACC19F77003}"/>
              </a:ext>
            </a:extLst>
          </p:cNvPr>
          <p:cNvSpPr txBox="1"/>
          <p:nvPr/>
        </p:nvSpPr>
        <p:spPr>
          <a:xfrm>
            <a:off x="953274" y="1879124"/>
            <a:ext cx="10225136" cy="523220"/>
          </a:xfrm>
          <a:prstGeom prst="rect">
            <a:avLst/>
          </a:prstGeom>
          <a:noFill/>
        </p:spPr>
        <p:txBody>
          <a:bodyPr wrap="square" numCol="2" rtlCol="0">
            <a:spAutoFit/>
          </a:bodyPr>
          <a:lstStyle/>
          <a:p>
            <a:pPr marL="342900" indent="-342900">
              <a:buAutoNum type="arabicPeriod"/>
            </a:pPr>
            <a:r>
              <a:rPr lang="en-US" sz="2800">
                <a:latin typeface="Times New Roman (Headings)"/>
              </a:rPr>
              <a:t>Giới thiệu chung</a:t>
            </a:r>
            <a:endParaRPr lang="en-US" sz="2800" dirty="0">
              <a:latin typeface="Times New Roman (Headings)"/>
            </a:endParaRPr>
          </a:p>
        </p:txBody>
      </p:sp>
      <p:sp>
        <p:nvSpPr>
          <p:cNvPr id="9" name="Rectangle: Rounded Corners 8">
            <a:extLst>
              <a:ext uri="{FF2B5EF4-FFF2-40B4-BE49-F238E27FC236}">
                <a16:creationId xmlns:a16="http://schemas.microsoft.com/office/drawing/2014/main" id="{3D7ED601-F844-A7BC-00CB-49858CD386D0}"/>
              </a:ext>
            </a:extLst>
          </p:cNvPr>
          <p:cNvSpPr/>
          <p:nvPr/>
        </p:nvSpPr>
        <p:spPr>
          <a:xfrm>
            <a:off x="773254" y="2708920"/>
            <a:ext cx="10435314" cy="82104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0" name="Rectangle: Rounded Corners 9">
            <a:extLst>
              <a:ext uri="{FF2B5EF4-FFF2-40B4-BE49-F238E27FC236}">
                <a16:creationId xmlns:a16="http://schemas.microsoft.com/office/drawing/2014/main" id="{314FFE02-D51D-2A12-5096-C4B7517CB8D5}"/>
              </a:ext>
            </a:extLst>
          </p:cNvPr>
          <p:cNvSpPr/>
          <p:nvPr/>
        </p:nvSpPr>
        <p:spPr>
          <a:xfrm>
            <a:off x="773255" y="3717032"/>
            <a:ext cx="10435314" cy="103393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dirty="0"/>
          </a:p>
        </p:txBody>
      </p:sp>
      <p:sp>
        <p:nvSpPr>
          <p:cNvPr id="11" name="TextBox 10">
            <a:extLst>
              <a:ext uri="{FF2B5EF4-FFF2-40B4-BE49-F238E27FC236}">
                <a16:creationId xmlns:a16="http://schemas.microsoft.com/office/drawing/2014/main" id="{127186A2-905B-167C-32BA-5E4D7BC6E38F}"/>
              </a:ext>
            </a:extLst>
          </p:cNvPr>
          <p:cNvSpPr txBox="1"/>
          <p:nvPr/>
        </p:nvSpPr>
        <p:spPr>
          <a:xfrm>
            <a:off x="990948" y="2883215"/>
            <a:ext cx="10122970" cy="523220"/>
          </a:xfrm>
          <a:prstGeom prst="rect">
            <a:avLst/>
          </a:prstGeom>
          <a:noFill/>
        </p:spPr>
        <p:txBody>
          <a:bodyPr wrap="square" rtlCol="0">
            <a:spAutoFit/>
          </a:bodyPr>
          <a:lstStyle/>
          <a:p>
            <a:r>
              <a:rPr lang="en-GB" sz="2800" dirty="0">
                <a:latin typeface="Times New Roman (Headings)"/>
              </a:rPr>
              <a:t>2. </a:t>
            </a:r>
            <a:r>
              <a:rPr lang="en-GB" sz="2800" dirty="0" err="1">
                <a:latin typeface="Times New Roman (Headings)"/>
              </a:rPr>
              <a:t>Nội</a:t>
            </a:r>
            <a:r>
              <a:rPr lang="en-GB" sz="2800" dirty="0">
                <a:latin typeface="Times New Roman (Headings)"/>
              </a:rPr>
              <a:t> </a:t>
            </a:r>
            <a:r>
              <a:rPr lang="en-GB" sz="2800">
                <a:latin typeface="Times New Roman (Headings)"/>
              </a:rPr>
              <a:t>dung đề án</a:t>
            </a:r>
            <a:endParaRPr lang="en-GB" sz="2800" dirty="0">
              <a:latin typeface="Times New Roman (Headings)"/>
            </a:endParaRPr>
          </a:p>
        </p:txBody>
      </p:sp>
      <p:sp>
        <p:nvSpPr>
          <p:cNvPr id="12" name="TextBox 11">
            <a:extLst>
              <a:ext uri="{FF2B5EF4-FFF2-40B4-BE49-F238E27FC236}">
                <a16:creationId xmlns:a16="http://schemas.microsoft.com/office/drawing/2014/main" id="{CF5ED7EC-52C1-664D-8D1C-7F551D4DF275}"/>
              </a:ext>
            </a:extLst>
          </p:cNvPr>
          <p:cNvSpPr txBox="1"/>
          <p:nvPr/>
        </p:nvSpPr>
        <p:spPr>
          <a:xfrm>
            <a:off x="1003582" y="3951582"/>
            <a:ext cx="9968832" cy="523220"/>
          </a:xfrm>
          <a:prstGeom prst="rect">
            <a:avLst/>
          </a:prstGeom>
          <a:noFill/>
        </p:spPr>
        <p:txBody>
          <a:bodyPr wrap="square" rtlCol="0">
            <a:spAutoFit/>
          </a:bodyPr>
          <a:lstStyle/>
          <a:p>
            <a:r>
              <a:rPr lang="en-GB" sz="2800" dirty="0">
                <a:latin typeface="Times New Roman (Headings)"/>
              </a:rPr>
              <a:t>3</a:t>
            </a:r>
            <a:r>
              <a:rPr lang="en-GB" sz="2800">
                <a:latin typeface="Times New Roman (Headings)"/>
              </a:rPr>
              <a:t>. Mô hình tổng quát của thuật toán</a:t>
            </a:r>
            <a:endParaRPr lang="en-GB" sz="2800" dirty="0">
              <a:latin typeface="Times New Roman (Headings)"/>
            </a:endParaRPr>
          </a:p>
        </p:txBody>
      </p:sp>
      <p:sp>
        <p:nvSpPr>
          <p:cNvPr id="3" name="Rectangle: Rounded Corners 2">
            <a:extLst>
              <a:ext uri="{FF2B5EF4-FFF2-40B4-BE49-F238E27FC236}">
                <a16:creationId xmlns:a16="http://schemas.microsoft.com/office/drawing/2014/main" id="{F14DE79F-9E93-4BE0-46DD-D871CE604AD1}"/>
              </a:ext>
            </a:extLst>
          </p:cNvPr>
          <p:cNvSpPr/>
          <p:nvPr/>
        </p:nvSpPr>
        <p:spPr>
          <a:xfrm>
            <a:off x="743096" y="4938032"/>
            <a:ext cx="10435314" cy="103393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dirty="0"/>
          </a:p>
        </p:txBody>
      </p:sp>
      <p:sp>
        <p:nvSpPr>
          <p:cNvPr id="14" name="TextBox 13">
            <a:extLst>
              <a:ext uri="{FF2B5EF4-FFF2-40B4-BE49-F238E27FC236}">
                <a16:creationId xmlns:a16="http://schemas.microsoft.com/office/drawing/2014/main" id="{49F1B30B-9B56-5972-9897-1DE1AF4AA41C}"/>
              </a:ext>
            </a:extLst>
          </p:cNvPr>
          <p:cNvSpPr txBox="1"/>
          <p:nvPr/>
        </p:nvSpPr>
        <p:spPr>
          <a:xfrm>
            <a:off x="973423" y="5172582"/>
            <a:ext cx="9968832" cy="523220"/>
          </a:xfrm>
          <a:prstGeom prst="rect">
            <a:avLst/>
          </a:prstGeom>
          <a:noFill/>
        </p:spPr>
        <p:txBody>
          <a:bodyPr wrap="square" rtlCol="0">
            <a:spAutoFit/>
          </a:bodyPr>
          <a:lstStyle/>
          <a:p>
            <a:r>
              <a:rPr lang="en-GB" sz="2800">
                <a:latin typeface="Times New Roman (Headings)"/>
              </a:rPr>
              <a:t>4. Triển khai, cài đặt</a:t>
            </a:r>
            <a:endParaRPr lang="en-GB" sz="2800" dirty="0">
              <a:latin typeface="Times New Roman (Headings)"/>
            </a:endParaRPr>
          </a:p>
        </p:txBody>
      </p:sp>
    </p:spTree>
    <p:extLst>
      <p:ext uri="{BB962C8B-B14F-4D97-AF65-F5344CB8AC3E}">
        <p14:creationId xmlns:p14="http://schemas.microsoft.com/office/powerpoint/2010/main" val="337122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EEC34-61F6-575D-3528-E3EE429002D0}"/>
              </a:ext>
            </a:extLst>
          </p:cNvPr>
          <p:cNvSpPr>
            <a:spLocks noGrp="1"/>
          </p:cNvSpPr>
          <p:nvPr>
            <p:ph type="title"/>
          </p:nvPr>
        </p:nvSpPr>
        <p:spPr>
          <a:xfrm>
            <a:off x="686367" y="861808"/>
            <a:ext cx="10819266" cy="696723"/>
          </a:xfrm>
        </p:spPr>
        <p:txBody>
          <a:bodyPr>
            <a:normAutofit fontScale="90000"/>
          </a:bodyPr>
          <a:lstStyle/>
          <a:p>
            <a:pPr algn="ctr"/>
            <a:r>
              <a:rPr lang="en-US">
                <a:solidFill>
                  <a:schemeClr val="tx1"/>
                </a:solidFill>
                <a:latin typeface="Times New Roman (Headings)"/>
              </a:rPr>
              <a:t>1. Giới thiệu chung</a:t>
            </a:r>
            <a:endParaRPr lang="en-GB" dirty="0">
              <a:solidFill>
                <a:schemeClr val="tx1"/>
              </a:solidFill>
              <a:latin typeface="Times New Roman (Headings)"/>
            </a:endParaRPr>
          </a:p>
        </p:txBody>
      </p:sp>
      <p:grpSp>
        <p:nvGrpSpPr>
          <p:cNvPr id="4" name="Group 3">
            <a:extLst>
              <a:ext uri="{FF2B5EF4-FFF2-40B4-BE49-F238E27FC236}">
                <a16:creationId xmlns:a16="http://schemas.microsoft.com/office/drawing/2014/main" id="{B2E82AA2-7655-5A8F-126F-D92A7BF8CC0E}"/>
              </a:ext>
            </a:extLst>
          </p:cNvPr>
          <p:cNvGrpSpPr/>
          <p:nvPr/>
        </p:nvGrpSpPr>
        <p:grpSpPr>
          <a:xfrm>
            <a:off x="191344" y="83422"/>
            <a:ext cx="3120214" cy="666192"/>
            <a:chOff x="167474" y="141194"/>
            <a:chExt cx="4385547" cy="1038014"/>
          </a:xfrm>
        </p:grpSpPr>
        <p:pic>
          <p:nvPicPr>
            <p:cNvPr id="5" name="Picture 4">
              <a:extLst>
                <a:ext uri="{FF2B5EF4-FFF2-40B4-BE49-F238E27FC236}">
                  <a16:creationId xmlns:a16="http://schemas.microsoft.com/office/drawing/2014/main" id="{3F85DD9F-98DC-E580-A1A8-325FECC805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6" name="TextBox 5">
              <a:extLst>
                <a:ext uri="{FF2B5EF4-FFF2-40B4-BE49-F238E27FC236}">
                  <a16:creationId xmlns:a16="http://schemas.microsoft.com/office/drawing/2014/main" id="{399AF9BE-C3B6-8F0E-CED2-00F838E9BD64}"/>
                </a:ext>
              </a:extLst>
            </p:cNvPr>
            <p:cNvSpPr txBox="1"/>
            <p:nvPr/>
          </p:nvSpPr>
          <p:spPr>
            <a:xfrm>
              <a:off x="1271938" y="316007"/>
              <a:ext cx="3281083" cy="863201"/>
            </a:xfrm>
            <a:prstGeom prst="rect">
              <a:avLst/>
            </a:prstGeom>
            <a:noFill/>
          </p:spPr>
          <p:txBody>
            <a:bodyPr wrap="square" rtlCol="0">
              <a:spAutoFit/>
            </a:bodyPr>
            <a:lstStyle/>
            <a:p>
              <a:r>
                <a:rPr lang="en-US" sz="1000" b="1" dirty="0">
                  <a:solidFill>
                    <a:srgbClr val="1930B0"/>
                  </a:solidFill>
                  <a:latin typeface="Times New Roman (Headings)"/>
                </a:rPr>
                <a:t>TRƯỜNG ĐẠI HỌC THỦY LỢI</a:t>
              </a:r>
            </a:p>
            <a:p>
              <a:r>
                <a:rPr lang="en-US" sz="1000" b="1" dirty="0">
                  <a:solidFill>
                    <a:srgbClr val="1930B0"/>
                  </a:solidFill>
                  <a:latin typeface="Times New Roman (Headings)"/>
                </a:rPr>
                <a:t>KHOA CÔNG NGHỆ THÔNG TIN</a:t>
              </a:r>
            </a:p>
          </p:txBody>
        </p:sp>
      </p:grpSp>
      <p:sp>
        <p:nvSpPr>
          <p:cNvPr id="3" name="TextBox 2">
            <a:extLst>
              <a:ext uri="{FF2B5EF4-FFF2-40B4-BE49-F238E27FC236}">
                <a16:creationId xmlns:a16="http://schemas.microsoft.com/office/drawing/2014/main" id="{96E80504-D722-5043-06F1-D02EA1249C06}"/>
              </a:ext>
            </a:extLst>
          </p:cNvPr>
          <p:cNvSpPr txBox="1"/>
          <p:nvPr/>
        </p:nvSpPr>
        <p:spPr>
          <a:xfrm>
            <a:off x="1055440" y="1900245"/>
            <a:ext cx="10009112" cy="1938992"/>
          </a:xfrm>
          <a:prstGeom prst="rect">
            <a:avLst/>
          </a:prstGeom>
          <a:noFill/>
        </p:spPr>
        <p:txBody>
          <a:bodyPr wrap="square" rtlCol="0">
            <a:spAutoFit/>
          </a:bodyPr>
          <a:lstStyle/>
          <a:p>
            <a:pPr marL="342900" indent="-342900" algn="just">
              <a:buFont typeface="Arial" panose="020B0604020202020204" pitchFamily="34" charset="0"/>
              <a:buChar char="•"/>
            </a:pPr>
            <a:r>
              <a:rPr lang="vi-VN" sz="2000"/>
              <a:t>Giải thuật di truyền (GA) là một phương pháp tối ưu hóa mạnh mẽ trong xã hội hiện đại, đặc biệt trong việc sắp xếp thời khóa biểu. Tuy nhiên, việc lập thời gian biểu không hiệu quả có thể dẫn đến sự lãng phí tài nguyên và giảm năng suất làm việc. Các nhà nghiên cứu đang áp dụng GA để tối ưu hóa quy trình sắp xếp thời khóa biểu bằng cách kết hợp các yếu tố như sở thích cá nhân, khả năng của giảng viên và hạn chế về phòng học</a:t>
            </a:r>
            <a:endParaRPr lang="en-GB" sz="2000" dirty="0">
              <a:latin typeface="Times New Roman (Headings)"/>
            </a:endParaRPr>
          </a:p>
        </p:txBody>
      </p:sp>
      <p:sp>
        <p:nvSpPr>
          <p:cNvPr id="14" name="TextBox 13">
            <a:extLst>
              <a:ext uri="{FF2B5EF4-FFF2-40B4-BE49-F238E27FC236}">
                <a16:creationId xmlns:a16="http://schemas.microsoft.com/office/drawing/2014/main" id="{9F41EF39-3717-BCBC-86DD-88DA7E551274}"/>
              </a:ext>
            </a:extLst>
          </p:cNvPr>
          <p:cNvSpPr txBox="1"/>
          <p:nvPr/>
        </p:nvSpPr>
        <p:spPr>
          <a:xfrm>
            <a:off x="1055440" y="4005064"/>
            <a:ext cx="10009112" cy="1938992"/>
          </a:xfrm>
          <a:prstGeom prst="rect">
            <a:avLst/>
          </a:prstGeom>
          <a:noFill/>
        </p:spPr>
        <p:txBody>
          <a:bodyPr wrap="square" rtlCol="0">
            <a:spAutoFit/>
          </a:bodyPr>
          <a:lstStyle/>
          <a:p>
            <a:pPr marL="342900" indent="-342900" algn="just">
              <a:buFont typeface="Arial" panose="020B0604020202020204" pitchFamily="34" charset="0"/>
              <a:buChar char="•"/>
            </a:pPr>
            <a:r>
              <a:rPr lang="vi-VN" sz="2000"/>
              <a:t>Các hệ thống sắp xếp thời khóa biểu hiệu quả có vai trò quan trọng trong việc tối ưu hóa việc sử dụng tài nguyên giáo dục, cải thiện trải nghiệm học tập và giảm thiểu xung đột lịch trình. Các nhà nghiên cứu đã nhận ra tầm quan trọng của các giải thuật này. Các giải thuật di truyền đang được phát triển nhằm nâng cao hiệu suất sắp xếp thời khóa biểu, giúp đạt được các mục tiêu học tập với sự linh hoạt và hiệu quả cao nhất.</a:t>
            </a:r>
            <a:endParaRPr lang="en-GB" sz="2000" dirty="0">
              <a:latin typeface="Times New Roman (Headings)"/>
            </a:endParaRPr>
          </a:p>
        </p:txBody>
      </p:sp>
    </p:spTree>
    <p:extLst>
      <p:ext uri="{BB962C8B-B14F-4D97-AF65-F5344CB8AC3E}">
        <p14:creationId xmlns:p14="http://schemas.microsoft.com/office/powerpoint/2010/main" val="2003091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EEC34-61F6-575D-3528-E3EE429002D0}"/>
              </a:ext>
            </a:extLst>
          </p:cNvPr>
          <p:cNvSpPr>
            <a:spLocks noGrp="1"/>
          </p:cNvSpPr>
          <p:nvPr>
            <p:ph type="title"/>
          </p:nvPr>
        </p:nvSpPr>
        <p:spPr>
          <a:xfrm>
            <a:off x="677334" y="732367"/>
            <a:ext cx="10819266" cy="696723"/>
          </a:xfrm>
        </p:spPr>
        <p:txBody>
          <a:bodyPr>
            <a:normAutofit fontScale="90000"/>
          </a:bodyPr>
          <a:lstStyle/>
          <a:p>
            <a:pPr algn="ctr"/>
            <a:r>
              <a:rPr lang="en-US">
                <a:solidFill>
                  <a:schemeClr val="tx1"/>
                </a:solidFill>
                <a:latin typeface="Times New Roman (Headings)"/>
              </a:rPr>
              <a:t>Tính cấp thiết</a:t>
            </a:r>
            <a:endParaRPr lang="en-GB" dirty="0">
              <a:solidFill>
                <a:schemeClr val="tx1"/>
              </a:solidFill>
              <a:latin typeface="Times New Roman (Headings)"/>
            </a:endParaRPr>
          </a:p>
        </p:txBody>
      </p:sp>
      <p:grpSp>
        <p:nvGrpSpPr>
          <p:cNvPr id="4" name="Group 3">
            <a:extLst>
              <a:ext uri="{FF2B5EF4-FFF2-40B4-BE49-F238E27FC236}">
                <a16:creationId xmlns:a16="http://schemas.microsoft.com/office/drawing/2014/main" id="{B2E82AA2-7655-5A8F-126F-D92A7BF8CC0E}"/>
              </a:ext>
            </a:extLst>
          </p:cNvPr>
          <p:cNvGrpSpPr/>
          <p:nvPr/>
        </p:nvGrpSpPr>
        <p:grpSpPr>
          <a:xfrm>
            <a:off x="167474" y="141194"/>
            <a:ext cx="3120214" cy="666192"/>
            <a:chOff x="167474" y="141194"/>
            <a:chExt cx="4385547" cy="1038014"/>
          </a:xfrm>
        </p:grpSpPr>
        <p:pic>
          <p:nvPicPr>
            <p:cNvPr id="5" name="Picture 4">
              <a:extLst>
                <a:ext uri="{FF2B5EF4-FFF2-40B4-BE49-F238E27FC236}">
                  <a16:creationId xmlns:a16="http://schemas.microsoft.com/office/drawing/2014/main" id="{3F85DD9F-98DC-E580-A1A8-325FECC805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6" name="TextBox 5">
              <a:extLst>
                <a:ext uri="{FF2B5EF4-FFF2-40B4-BE49-F238E27FC236}">
                  <a16:creationId xmlns:a16="http://schemas.microsoft.com/office/drawing/2014/main" id="{399AF9BE-C3B6-8F0E-CED2-00F838E9BD64}"/>
                </a:ext>
              </a:extLst>
            </p:cNvPr>
            <p:cNvSpPr txBox="1"/>
            <p:nvPr/>
          </p:nvSpPr>
          <p:spPr>
            <a:xfrm>
              <a:off x="1271938" y="316007"/>
              <a:ext cx="3281083" cy="863201"/>
            </a:xfrm>
            <a:prstGeom prst="rect">
              <a:avLst/>
            </a:prstGeom>
            <a:noFill/>
          </p:spPr>
          <p:txBody>
            <a:bodyPr wrap="square" rtlCol="0">
              <a:spAutoFit/>
            </a:bodyPr>
            <a:lstStyle/>
            <a:p>
              <a:r>
                <a:rPr lang="en-US" sz="1000" b="1" dirty="0">
                  <a:solidFill>
                    <a:srgbClr val="1930B0"/>
                  </a:solidFill>
                  <a:latin typeface="Times New Roman (Headings)"/>
                </a:rPr>
                <a:t>TRƯỜNG ĐẠI HỌC THỦY LỢI</a:t>
              </a:r>
            </a:p>
            <a:p>
              <a:r>
                <a:rPr lang="en-US" sz="1000" b="1" dirty="0">
                  <a:solidFill>
                    <a:srgbClr val="1930B0"/>
                  </a:solidFill>
                  <a:latin typeface="Times New Roman (Headings)"/>
                </a:rPr>
                <a:t>KHOA CÔNG NGHỆ THÔNG TIN</a:t>
              </a:r>
            </a:p>
          </p:txBody>
        </p:sp>
      </p:grpSp>
      <p:sp>
        <p:nvSpPr>
          <p:cNvPr id="12" name="Rectangle: Rounded Corners 11">
            <a:extLst>
              <a:ext uri="{FF2B5EF4-FFF2-40B4-BE49-F238E27FC236}">
                <a16:creationId xmlns:a16="http://schemas.microsoft.com/office/drawing/2014/main" id="{8BAA28B3-07D6-A5B2-3609-B3A35E47946E}"/>
              </a:ext>
            </a:extLst>
          </p:cNvPr>
          <p:cNvSpPr/>
          <p:nvPr/>
        </p:nvSpPr>
        <p:spPr>
          <a:xfrm>
            <a:off x="1546906" y="2020263"/>
            <a:ext cx="4104456" cy="400506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000"/>
              <a:t>Việc phát triển hệ thống sắp xếp thời khóa biểu hiệu quả là cần thiết nhằm tối ưu hóa việc sử dụng tài nguyên giáo dục và nâng cao trải nghiệm học tập. Ứng dụng giải thuật di truyền (GA) kết hợp với dữ liệu từ các nguồn khác nhau đang mở ra hướng tiếp cận mới, chính xác và hiệu quả hơn trong việc lập thời khóa biểu.</a:t>
            </a:r>
            <a:endParaRPr lang="en-GB" sz="2000" dirty="0">
              <a:latin typeface="Times New Roman (Headings)"/>
            </a:endParaRPr>
          </a:p>
        </p:txBody>
      </p:sp>
      <p:sp>
        <p:nvSpPr>
          <p:cNvPr id="16" name="Rectangle: Rounded Corners 15">
            <a:extLst>
              <a:ext uri="{FF2B5EF4-FFF2-40B4-BE49-F238E27FC236}">
                <a16:creationId xmlns:a16="http://schemas.microsoft.com/office/drawing/2014/main" id="{BE0F29AC-4923-DBED-B9C1-4531585E5D94}"/>
              </a:ext>
            </a:extLst>
          </p:cNvPr>
          <p:cNvSpPr/>
          <p:nvPr/>
        </p:nvSpPr>
        <p:spPr>
          <a:xfrm>
            <a:off x="6828670" y="2020263"/>
            <a:ext cx="3816424" cy="397408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a:t>G</a:t>
            </a:r>
            <a:r>
              <a:rPr lang="vi-VN" sz="2000"/>
              <a:t>iải thuật này cho phép cân nhắc nhiều yếu tố như sở thích của giảng viên, yêu cầu của sinh viên và hạn chế về cơ sở vật chất, từ đó tạo ra các lịch trình tối ưu giúp giảm thiểu xung đột và nâng cao hiệu suất học tập.</a:t>
            </a:r>
            <a:endParaRPr lang="en-GB" sz="2000" dirty="0">
              <a:latin typeface="Times New Roman (Headings)"/>
            </a:endParaRPr>
          </a:p>
        </p:txBody>
      </p:sp>
    </p:spTree>
    <p:extLst>
      <p:ext uri="{BB962C8B-B14F-4D97-AF65-F5344CB8AC3E}">
        <p14:creationId xmlns:p14="http://schemas.microsoft.com/office/powerpoint/2010/main" val="2159145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EEC34-61F6-575D-3528-E3EE429002D0}"/>
              </a:ext>
            </a:extLst>
          </p:cNvPr>
          <p:cNvSpPr>
            <a:spLocks noGrp="1"/>
          </p:cNvSpPr>
          <p:nvPr>
            <p:ph type="title"/>
          </p:nvPr>
        </p:nvSpPr>
        <p:spPr>
          <a:xfrm>
            <a:off x="677334" y="732367"/>
            <a:ext cx="10819266" cy="696723"/>
          </a:xfrm>
        </p:spPr>
        <p:txBody>
          <a:bodyPr>
            <a:normAutofit fontScale="90000"/>
          </a:bodyPr>
          <a:lstStyle/>
          <a:p>
            <a:pPr algn="ctr"/>
            <a:r>
              <a:rPr lang="en-US">
                <a:solidFill>
                  <a:schemeClr val="tx1"/>
                </a:solidFill>
                <a:latin typeface="Times New Roman (Headings)"/>
              </a:rPr>
              <a:t>Mục tiêu</a:t>
            </a:r>
            <a:endParaRPr lang="en-GB" dirty="0">
              <a:solidFill>
                <a:schemeClr val="tx1"/>
              </a:solidFill>
              <a:latin typeface="Times New Roman (Headings)"/>
            </a:endParaRPr>
          </a:p>
        </p:txBody>
      </p:sp>
      <p:grpSp>
        <p:nvGrpSpPr>
          <p:cNvPr id="4" name="Group 3">
            <a:extLst>
              <a:ext uri="{FF2B5EF4-FFF2-40B4-BE49-F238E27FC236}">
                <a16:creationId xmlns:a16="http://schemas.microsoft.com/office/drawing/2014/main" id="{B2E82AA2-7655-5A8F-126F-D92A7BF8CC0E}"/>
              </a:ext>
            </a:extLst>
          </p:cNvPr>
          <p:cNvGrpSpPr/>
          <p:nvPr/>
        </p:nvGrpSpPr>
        <p:grpSpPr>
          <a:xfrm>
            <a:off x="167474" y="141194"/>
            <a:ext cx="3120214" cy="666192"/>
            <a:chOff x="167474" y="141194"/>
            <a:chExt cx="4385547" cy="1038014"/>
          </a:xfrm>
        </p:grpSpPr>
        <p:pic>
          <p:nvPicPr>
            <p:cNvPr id="5" name="Picture 4">
              <a:extLst>
                <a:ext uri="{FF2B5EF4-FFF2-40B4-BE49-F238E27FC236}">
                  <a16:creationId xmlns:a16="http://schemas.microsoft.com/office/drawing/2014/main" id="{3F85DD9F-98DC-E580-A1A8-325FECC805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6" name="TextBox 5">
              <a:extLst>
                <a:ext uri="{FF2B5EF4-FFF2-40B4-BE49-F238E27FC236}">
                  <a16:creationId xmlns:a16="http://schemas.microsoft.com/office/drawing/2014/main" id="{399AF9BE-C3B6-8F0E-CED2-00F838E9BD64}"/>
                </a:ext>
              </a:extLst>
            </p:cNvPr>
            <p:cNvSpPr txBox="1"/>
            <p:nvPr/>
          </p:nvSpPr>
          <p:spPr>
            <a:xfrm>
              <a:off x="1271938" y="316007"/>
              <a:ext cx="3281083" cy="863201"/>
            </a:xfrm>
            <a:prstGeom prst="rect">
              <a:avLst/>
            </a:prstGeom>
            <a:noFill/>
          </p:spPr>
          <p:txBody>
            <a:bodyPr wrap="square" rtlCol="0">
              <a:spAutoFit/>
            </a:bodyPr>
            <a:lstStyle/>
            <a:p>
              <a:r>
                <a:rPr lang="en-US" sz="1000" b="1" dirty="0">
                  <a:solidFill>
                    <a:srgbClr val="1930B0"/>
                  </a:solidFill>
                  <a:latin typeface="Times New Roman (Headings)"/>
                </a:rPr>
                <a:t>TRƯỜNG ĐẠI HỌC THỦY LỢI</a:t>
              </a:r>
            </a:p>
            <a:p>
              <a:r>
                <a:rPr lang="en-US" sz="1000" b="1" dirty="0">
                  <a:solidFill>
                    <a:srgbClr val="1930B0"/>
                  </a:solidFill>
                  <a:latin typeface="Times New Roman (Headings)"/>
                </a:rPr>
                <a:t>KHOA CÔNG NGHỆ THÔNG TIN</a:t>
              </a:r>
            </a:p>
          </p:txBody>
        </p:sp>
      </p:grpSp>
      <p:sp>
        <p:nvSpPr>
          <p:cNvPr id="3" name="TextBox 2">
            <a:extLst>
              <a:ext uri="{FF2B5EF4-FFF2-40B4-BE49-F238E27FC236}">
                <a16:creationId xmlns:a16="http://schemas.microsoft.com/office/drawing/2014/main" id="{05DEC14C-920D-B103-2ADA-32E20EB3AF23}"/>
              </a:ext>
            </a:extLst>
          </p:cNvPr>
          <p:cNvSpPr txBox="1"/>
          <p:nvPr/>
        </p:nvSpPr>
        <p:spPr>
          <a:xfrm>
            <a:off x="1415480" y="1628800"/>
            <a:ext cx="9073008" cy="4154984"/>
          </a:xfrm>
          <a:prstGeom prst="rect">
            <a:avLst/>
          </a:prstGeom>
          <a:noFill/>
        </p:spPr>
        <p:txBody>
          <a:bodyPr wrap="square" rtlCol="0">
            <a:spAutoFit/>
          </a:bodyPr>
          <a:lstStyle/>
          <a:p>
            <a:pPr marL="800100" lvl="1" indent="-342900" algn="just">
              <a:buFont typeface="Wingdings" panose="05000000000000000000" pitchFamily="2" charset="2"/>
              <a:buChar char="ü"/>
            </a:pPr>
            <a:endParaRPr lang="en-US" sz="2400">
              <a:latin typeface="Times New Roman (Headings)"/>
            </a:endParaRPr>
          </a:p>
          <a:p>
            <a:pPr marL="342900" indent="-342900" algn="just">
              <a:buFont typeface="Arial" panose="020B0604020202020204" pitchFamily="34" charset="0"/>
              <a:buChar char="•"/>
            </a:pPr>
            <a:r>
              <a:rPr lang="vi-VN" sz="2400">
                <a:latin typeface="Times New Roman (Headings)"/>
              </a:rPr>
              <a:t>Mục tiêu </a:t>
            </a:r>
            <a:r>
              <a:rPr lang="en-US" sz="2400">
                <a:latin typeface="Times New Roman (Headings)"/>
              </a:rPr>
              <a:t>ứ</a:t>
            </a:r>
            <a:r>
              <a:rPr lang="vi-VN" sz="2400">
                <a:latin typeface="Times New Roman (Headings)"/>
              </a:rPr>
              <a:t>ng dụng của giải thuật di truyền trong sắp xếp thời khóa biểu. Kết quả từ nghiên cứu có thể cung cấp một cách tiếp cận mới, tiềm năng trong việc tối ưu hóa quy trình lập thời khóa biểu, giúp giảm thiểu xung đột và nâng cao trải nghiệm học tập. </a:t>
            </a:r>
            <a:endParaRPr lang="en-US" sz="2400">
              <a:latin typeface="Times New Roman (Headings)"/>
            </a:endParaRPr>
          </a:p>
          <a:p>
            <a:pPr marL="342900" indent="-342900" algn="just">
              <a:buFont typeface="Arial" panose="020B0604020202020204" pitchFamily="34" charset="0"/>
              <a:buChar char="•"/>
            </a:pPr>
            <a:endParaRPr lang="en-US" sz="2400">
              <a:latin typeface="Times New Roman (Headings)"/>
            </a:endParaRPr>
          </a:p>
          <a:p>
            <a:pPr marL="342900" indent="-342900" algn="just">
              <a:buFont typeface="Arial" panose="020B0604020202020204" pitchFamily="34" charset="0"/>
              <a:buChar char="•"/>
            </a:pPr>
            <a:r>
              <a:rPr lang="vi-VN" sz="2400">
                <a:latin typeface="Times New Roman (Headings)"/>
              </a:rPr>
              <a:t>Giải thuật di truyền cho phép cân nhắc nhiều yếu tố như sở thích của giảng viên, yêu cầu của sinh viên và hạn chế về cơ sở vật chất, từ đó tạo ra các lịch trình tối ưu. Điều này không chỉ hỗ trợ ra quyết định cho nhà quản lý giáo dục mà còn cải thiện hiệu quả học tập cho sinh viên, góp phần nâng cao chất lượng giáo dục.</a:t>
            </a:r>
            <a:endParaRPr lang="en-GB" sz="2400" dirty="0">
              <a:latin typeface="Times New Roman (Headings)"/>
            </a:endParaRPr>
          </a:p>
        </p:txBody>
      </p:sp>
    </p:spTree>
    <p:extLst>
      <p:ext uri="{BB962C8B-B14F-4D97-AF65-F5344CB8AC3E}">
        <p14:creationId xmlns:p14="http://schemas.microsoft.com/office/powerpoint/2010/main" val="1041656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EEC34-61F6-575D-3528-E3EE429002D0}"/>
              </a:ext>
            </a:extLst>
          </p:cNvPr>
          <p:cNvSpPr>
            <a:spLocks noGrp="1"/>
          </p:cNvSpPr>
          <p:nvPr>
            <p:ph type="title"/>
          </p:nvPr>
        </p:nvSpPr>
        <p:spPr>
          <a:xfrm>
            <a:off x="677334" y="732367"/>
            <a:ext cx="10819266" cy="696723"/>
          </a:xfrm>
        </p:spPr>
        <p:txBody>
          <a:bodyPr>
            <a:normAutofit fontScale="90000"/>
          </a:bodyPr>
          <a:lstStyle/>
          <a:p>
            <a:pPr algn="ctr"/>
            <a:r>
              <a:rPr lang="en-US">
                <a:solidFill>
                  <a:schemeClr val="tx1"/>
                </a:solidFill>
                <a:latin typeface="Times New Roman (Headings)"/>
              </a:rPr>
              <a:t>2. Nội dung đề tài</a:t>
            </a:r>
            <a:endParaRPr lang="en-GB" dirty="0">
              <a:solidFill>
                <a:schemeClr val="tx1"/>
              </a:solidFill>
              <a:latin typeface="Times New Roman (Headings)"/>
            </a:endParaRPr>
          </a:p>
        </p:txBody>
      </p:sp>
      <p:grpSp>
        <p:nvGrpSpPr>
          <p:cNvPr id="4" name="Group 3">
            <a:extLst>
              <a:ext uri="{FF2B5EF4-FFF2-40B4-BE49-F238E27FC236}">
                <a16:creationId xmlns:a16="http://schemas.microsoft.com/office/drawing/2014/main" id="{B2E82AA2-7655-5A8F-126F-D92A7BF8CC0E}"/>
              </a:ext>
            </a:extLst>
          </p:cNvPr>
          <p:cNvGrpSpPr/>
          <p:nvPr/>
        </p:nvGrpSpPr>
        <p:grpSpPr>
          <a:xfrm>
            <a:off x="167474" y="141194"/>
            <a:ext cx="3120214" cy="666192"/>
            <a:chOff x="167474" y="141194"/>
            <a:chExt cx="4385547" cy="1038014"/>
          </a:xfrm>
        </p:grpSpPr>
        <p:pic>
          <p:nvPicPr>
            <p:cNvPr id="5" name="Picture 4">
              <a:extLst>
                <a:ext uri="{FF2B5EF4-FFF2-40B4-BE49-F238E27FC236}">
                  <a16:creationId xmlns:a16="http://schemas.microsoft.com/office/drawing/2014/main" id="{3F85DD9F-98DC-E580-A1A8-325FECC805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6" name="TextBox 5">
              <a:extLst>
                <a:ext uri="{FF2B5EF4-FFF2-40B4-BE49-F238E27FC236}">
                  <a16:creationId xmlns:a16="http://schemas.microsoft.com/office/drawing/2014/main" id="{399AF9BE-C3B6-8F0E-CED2-00F838E9BD64}"/>
                </a:ext>
              </a:extLst>
            </p:cNvPr>
            <p:cNvSpPr txBox="1"/>
            <p:nvPr/>
          </p:nvSpPr>
          <p:spPr>
            <a:xfrm>
              <a:off x="1271938" y="316007"/>
              <a:ext cx="3281083" cy="863201"/>
            </a:xfrm>
            <a:prstGeom prst="rect">
              <a:avLst/>
            </a:prstGeom>
            <a:noFill/>
          </p:spPr>
          <p:txBody>
            <a:bodyPr wrap="square" rtlCol="0">
              <a:spAutoFit/>
            </a:bodyPr>
            <a:lstStyle/>
            <a:p>
              <a:r>
                <a:rPr lang="en-US" sz="1000" b="1" dirty="0">
                  <a:solidFill>
                    <a:srgbClr val="1930B0"/>
                  </a:solidFill>
                  <a:latin typeface="Times New Roman (Headings)"/>
                </a:rPr>
                <a:t>TRƯỜNG ĐẠI HỌC THỦY LỢI</a:t>
              </a:r>
            </a:p>
            <a:p>
              <a:r>
                <a:rPr lang="en-US" sz="1000" b="1" dirty="0">
                  <a:solidFill>
                    <a:srgbClr val="1930B0"/>
                  </a:solidFill>
                  <a:latin typeface="Times New Roman (Headings)"/>
                </a:rPr>
                <a:t>KHOA CÔNG NGHỆ THÔNG TIN</a:t>
              </a:r>
            </a:p>
          </p:txBody>
        </p:sp>
      </p:grpSp>
      <p:sp>
        <p:nvSpPr>
          <p:cNvPr id="3" name="TextBox 2">
            <a:extLst>
              <a:ext uri="{FF2B5EF4-FFF2-40B4-BE49-F238E27FC236}">
                <a16:creationId xmlns:a16="http://schemas.microsoft.com/office/drawing/2014/main" id="{05DEC14C-920D-B103-2ADA-32E20EB3AF23}"/>
              </a:ext>
            </a:extLst>
          </p:cNvPr>
          <p:cNvSpPr txBox="1"/>
          <p:nvPr/>
        </p:nvSpPr>
        <p:spPr>
          <a:xfrm>
            <a:off x="1055440" y="1844824"/>
            <a:ext cx="9577064" cy="3785652"/>
          </a:xfrm>
          <a:prstGeom prst="rect">
            <a:avLst/>
          </a:prstGeom>
          <a:noFill/>
        </p:spPr>
        <p:txBody>
          <a:bodyPr wrap="square" rtlCol="0">
            <a:spAutoFit/>
          </a:bodyPr>
          <a:lstStyle/>
          <a:p>
            <a:pPr marL="285750" indent="-285750">
              <a:buFont typeface="Arial" panose="020B0604020202020204" pitchFamily="34" charset="0"/>
              <a:buChar char="•"/>
            </a:pPr>
            <a:r>
              <a:rPr lang="en-US" sz="2400">
                <a:latin typeface="Times New Roman (Headings)"/>
              </a:rPr>
              <a:t>Bài toán lập lịch thời khóa biểu cho học sinh được mô hình hóa như một bài toán tối ưu tổ hợp phức tạp bậc cao, thuộc lớp NP-hard, trong đó số lượng khả năng sắp xếp tăng trưởng theo cấp số mũ khi quy mô dữ liệu đầu vào gia tăng. </a:t>
            </a:r>
          </a:p>
          <a:p>
            <a:pPr marL="285750" indent="-285750">
              <a:buFont typeface="Arial" panose="020B0604020202020204" pitchFamily="34" charset="0"/>
              <a:buChar char="•"/>
            </a:pPr>
            <a:r>
              <a:rPr lang="en-US" sz="2400">
                <a:latin typeface="Times New Roman (Headings)"/>
              </a:rPr>
              <a:t>Mục tiêu của nghiên cứu là xây dựng một phương án phân bổ hợp lý các tiết học và giáo viên cho từng lớp trong một khung thời gian định sẵn, sao cho mọi ràng buộc cứng đều được thỏa mãn tuyệt đối và mức độ vi phạm các ràng buộc mềm được giảm thiểu tối đa.</a:t>
            </a:r>
          </a:p>
          <a:p>
            <a:pPr marL="285750" indent="-285750">
              <a:buFont typeface="Arial" panose="020B0604020202020204" pitchFamily="34" charset="0"/>
              <a:buChar char="•"/>
            </a:pPr>
            <a:r>
              <a:rPr lang="en-US" sz="2400">
                <a:latin typeface="Times New Roman (Headings)"/>
              </a:rPr>
              <a:t>Sử dụng thuật toán di truyền để sắp xếp thời khóa biểu.</a:t>
            </a:r>
          </a:p>
          <a:p>
            <a:pPr marL="800100" lvl="1" indent="-342900" algn="just">
              <a:buFont typeface="Arial" panose="020B0604020202020204" pitchFamily="34" charset="0"/>
              <a:buChar char="•"/>
            </a:pPr>
            <a:endParaRPr lang="en-US" sz="2400">
              <a:latin typeface="Times New Roman" panose="02020603050405020304" pitchFamily="18" charset="0"/>
            </a:endParaRPr>
          </a:p>
        </p:txBody>
      </p:sp>
    </p:spTree>
    <p:extLst>
      <p:ext uri="{BB962C8B-B14F-4D97-AF65-F5344CB8AC3E}">
        <p14:creationId xmlns:p14="http://schemas.microsoft.com/office/powerpoint/2010/main" val="968588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D689CCE-72CD-B7CB-9E85-9933ABB640E0}"/>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Đầu vào của bài toán</a:t>
            </a:r>
            <a:endParaRPr lang="en-GB" dirty="0">
              <a:solidFill>
                <a:schemeClr val="tx1"/>
              </a:solidFill>
              <a:latin typeface="Times New Roman (Headings)"/>
            </a:endParaRPr>
          </a:p>
        </p:txBody>
      </p:sp>
      <p:sp>
        <p:nvSpPr>
          <p:cNvPr id="5" name="TextBox 4">
            <a:extLst>
              <a:ext uri="{FF2B5EF4-FFF2-40B4-BE49-F238E27FC236}">
                <a16:creationId xmlns:a16="http://schemas.microsoft.com/office/drawing/2014/main" id="{1A330AE9-1192-D0B9-184D-224343039072}"/>
              </a:ext>
            </a:extLst>
          </p:cNvPr>
          <p:cNvSpPr txBox="1"/>
          <p:nvPr/>
        </p:nvSpPr>
        <p:spPr>
          <a:xfrm>
            <a:off x="1055440" y="1844824"/>
            <a:ext cx="9577064" cy="4154984"/>
          </a:xfrm>
          <a:prstGeom prst="rect">
            <a:avLst/>
          </a:prstGeom>
          <a:noFill/>
        </p:spPr>
        <p:txBody>
          <a:bodyPr wrap="square" rtlCol="0">
            <a:spAutoFit/>
          </a:bodyPr>
          <a:lstStyle/>
          <a:p>
            <a:pPr marL="457200" indent="-457200" algn="just">
              <a:buFont typeface="+mj-lt"/>
              <a:buAutoNum type="arabicPeriod"/>
            </a:pPr>
            <a:r>
              <a:rPr lang="vi-VN" sz="2400">
                <a:latin typeface="Times New Roman" panose="02020603050405020304" pitchFamily="18" charset="0"/>
              </a:rPr>
              <a:t>Tập hợp các lớp học với thông tin chi tiết về sĩ số, khối lớp và các đặc trưng chuyên biệt.</a:t>
            </a:r>
          </a:p>
          <a:p>
            <a:pPr marL="457200" indent="-457200" algn="just">
              <a:buFont typeface="+mj-lt"/>
              <a:buAutoNum type="arabicPeriod"/>
            </a:pPr>
            <a:r>
              <a:rPr lang="vi-VN" sz="2400">
                <a:latin typeface="Times New Roman" panose="02020603050405020304" pitchFamily="18" charset="0"/>
              </a:rPr>
              <a:t>Danh mục môn học cùng số tiết bắt buộc mỗi tuần cho từng lớp, dựa trên chương trình chuẩn của Bộ Giáo dục và Đào tạo.</a:t>
            </a:r>
          </a:p>
          <a:p>
            <a:pPr marL="457200" indent="-457200" algn="just">
              <a:buFont typeface="+mj-lt"/>
              <a:buAutoNum type="arabicPeriod"/>
            </a:pPr>
            <a:r>
              <a:rPr lang="vi-VN" sz="2400">
                <a:latin typeface="Times New Roman" panose="02020603050405020304" pitchFamily="18" charset="0"/>
              </a:rPr>
              <a:t>Danh sách giáo viên với thông tin về chuyên môn, giới hạn số tiết tối đa và các điều kiện đặc thù.</a:t>
            </a:r>
          </a:p>
          <a:p>
            <a:pPr marL="457200" indent="-457200" algn="just">
              <a:buFont typeface="+mj-lt"/>
              <a:buAutoNum type="arabicPeriod"/>
            </a:pPr>
            <a:r>
              <a:rPr lang="vi-VN" sz="2400">
                <a:latin typeface="Times New Roman" panose="02020603050405020304" pitchFamily="18" charset="0"/>
              </a:rPr>
              <a:t>Khung thời gian giảng dạy bao gồm số ngày học mỗi tuần, số tiết học mỗi ngày, tổng số tiết mỗi tuần và các khung giờ rảnh hoặc hạn chế.</a:t>
            </a:r>
          </a:p>
          <a:p>
            <a:pPr marL="457200" indent="-457200" algn="just">
              <a:buFont typeface="+mj-lt"/>
              <a:buAutoNum type="arabicPeriod"/>
            </a:pPr>
            <a:r>
              <a:rPr lang="vi-VN" sz="2400">
                <a:latin typeface="Times New Roman" panose="02020603050405020304" pitchFamily="18" charset="0"/>
              </a:rPr>
              <a:t>Hệ thống ràng buộc gồm hai nhóm: ràng buộc cứng (bắt buộc tuân thủ tuyệt đối) và ràng buộc mềm (ưu tiên đáp ứng, có thể vi phạm với chi phí phạt tối thiểu).</a:t>
            </a:r>
            <a:endParaRPr lang="en-US" sz="2400" dirty="0">
              <a:latin typeface="Times New Roman" panose="02020603050405020304" pitchFamily="18" charset="0"/>
            </a:endParaRPr>
          </a:p>
        </p:txBody>
      </p:sp>
    </p:spTree>
    <p:extLst>
      <p:ext uri="{BB962C8B-B14F-4D97-AF65-F5344CB8AC3E}">
        <p14:creationId xmlns:p14="http://schemas.microsoft.com/office/powerpoint/2010/main" val="2474665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39E70-49CA-6B71-0469-6588520EDAE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3D94A5A-355E-ED4A-BD4E-864282EDDD60}"/>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Đầu ra của bài toán</a:t>
            </a:r>
            <a:endParaRPr lang="en-GB" dirty="0">
              <a:solidFill>
                <a:schemeClr val="tx1"/>
              </a:solidFill>
              <a:latin typeface="Times New Roman (Headings)"/>
            </a:endParaRPr>
          </a:p>
        </p:txBody>
      </p:sp>
      <p:sp>
        <p:nvSpPr>
          <p:cNvPr id="5" name="TextBox 4">
            <a:extLst>
              <a:ext uri="{FF2B5EF4-FFF2-40B4-BE49-F238E27FC236}">
                <a16:creationId xmlns:a16="http://schemas.microsoft.com/office/drawing/2014/main" id="{E83D3208-5488-3D35-2073-44D4E7F72ADC}"/>
              </a:ext>
            </a:extLst>
          </p:cNvPr>
          <p:cNvSpPr txBox="1"/>
          <p:nvPr/>
        </p:nvSpPr>
        <p:spPr>
          <a:xfrm>
            <a:off x="1055440" y="1844824"/>
            <a:ext cx="9577064" cy="1938992"/>
          </a:xfrm>
          <a:prstGeom prst="rect">
            <a:avLst/>
          </a:prstGeom>
          <a:noFill/>
        </p:spPr>
        <p:txBody>
          <a:bodyPr wrap="square" rtlCol="0">
            <a:spAutoFit/>
          </a:bodyPr>
          <a:lstStyle/>
          <a:p>
            <a:pPr marL="457200" indent="-457200" algn="just">
              <a:buFont typeface="+mj-lt"/>
              <a:buAutoNum type="arabicPeriod"/>
            </a:pPr>
            <a:r>
              <a:rPr lang="vi-VN" sz="2400">
                <a:latin typeface="Times New Roman" panose="02020603050405020304" pitchFamily="18" charset="0"/>
              </a:rPr>
              <a:t>Thời khóa biểu tối ưu gần cho toàn bộ các lớp, thể hiện chi tiết phân công môn học và giáo viên cho từng tiết, từng ngày.</a:t>
            </a:r>
          </a:p>
          <a:p>
            <a:pPr marL="457200" indent="-457200" algn="just">
              <a:buFont typeface="+mj-lt"/>
              <a:buAutoNum type="arabicPeriod"/>
            </a:pPr>
            <a:r>
              <a:rPr lang="vi-VN" sz="2400">
                <a:latin typeface="Times New Roman" panose="02020603050405020304" pitchFamily="18" charset="0"/>
              </a:rPr>
              <a:t>Bảng thống kê và đánh giá định lượng mức độ tuân thủ và vi phạm ràng buộc, hỗ trợ phân tích định lượng và so sánh hiệu quả giữa các phương án.</a:t>
            </a:r>
            <a:endParaRPr lang="en-US" sz="2400" dirty="0">
              <a:latin typeface="Times New Roman" panose="02020603050405020304" pitchFamily="18" charset="0"/>
            </a:endParaRPr>
          </a:p>
        </p:txBody>
      </p:sp>
    </p:spTree>
    <p:extLst>
      <p:ext uri="{BB962C8B-B14F-4D97-AF65-F5344CB8AC3E}">
        <p14:creationId xmlns:p14="http://schemas.microsoft.com/office/powerpoint/2010/main" val="2107673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30FF3-73A5-5741-5B5B-E3B40447E50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6065F32-8A59-2066-BF83-6443FFE3ACEB}"/>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Ràng buộc cứng</a:t>
            </a:r>
            <a:endParaRPr lang="en-GB" dirty="0">
              <a:solidFill>
                <a:schemeClr val="tx1"/>
              </a:solidFill>
              <a:latin typeface="Times New Roman (Headings)"/>
            </a:endParaRPr>
          </a:p>
        </p:txBody>
      </p:sp>
      <p:sp>
        <p:nvSpPr>
          <p:cNvPr id="5" name="TextBox 4">
            <a:extLst>
              <a:ext uri="{FF2B5EF4-FFF2-40B4-BE49-F238E27FC236}">
                <a16:creationId xmlns:a16="http://schemas.microsoft.com/office/drawing/2014/main" id="{0ABE1C66-359E-058A-3984-0A5FE1727BA7}"/>
              </a:ext>
            </a:extLst>
          </p:cNvPr>
          <p:cNvSpPr txBox="1"/>
          <p:nvPr/>
        </p:nvSpPr>
        <p:spPr>
          <a:xfrm>
            <a:off x="1055440" y="1844824"/>
            <a:ext cx="9577064" cy="2677656"/>
          </a:xfrm>
          <a:prstGeom prst="rect">
            <a:avLst/>
          </a:prstGeom>
          <a:noFill/>
        </p:spPr>
        <p:txBody>
          <a:bodyPr wrap="square" rtlCol="0">
            <a:spAutoFit/>
          </a:bodyPr>
          <a:lstStyle/>
          <a:p>
            <a:pPr marL="457200" indent="-457200" algn="just">
              <a:buFont typeface="+mj-lt"/>
              <a:buAutoNum type="arabicPeriod"/>
            </a:pPr>
            <a:r>
              <a:rPr lang="vi-VN" sz="2400">
                <a:latin typeface="Times New Roman" panose="02020603050405020304" pitchFamily="18" charset="0"/>
              </a:rPr>
              <a:t>Ràng buộc đụng độ giáo viên</a:t>
            </a:r>
          </a:p>
          <a:p>
            <a:pPr marL="457200" indent="-457200" algn="just">
              <a:buFont typeface="+mj-lt"/>
              <a:buAutoNum type="arabicPeriod"/>
            </a:pPr>
            <a:r>
              <a:rPr lang="vi-VN" sz="2400">
                <a:latin typeface="Times New Roman" panose="02020603050405020304" pitchFamily="18" charset="0"/>
              </a:rPr>
              <a:t>Ràng buộc về giờ không xếp của giáo viên</a:t>
            </a:r>
          </a:p>
          <a:p>
            <a:pPr marL="457200" indent="-457200" algn="just">
              <a:buFont typeface="+mj-lt"/>
              <a:buAutoNum type="arabicPeriod"/>
            </a:pPr>
            <a:r>
              <a:rPr lang="vi-VN" sz="2400">
                <a:latin typeface="Times New Roman" panose="02020603050405020304" pitchFamily="18" charset="0"/>
              </a:rPr>
              <a:t>Ràng buộc về giờ xếp sẵn</a:t>
            </a:r>
          </a:p>
          <a:p>
            <a:pPr marL="457200" indent="-457200" algn="just">
              <a:buFont typeface="+mj-lt"/>
              <a:buAutoNum type="arabicPeriod"/>
            </a:pPr>
            <a:r>
              <a:rPr lang="vi-VN" sz="2400">
                <a:latin typeface="Times New Roman" panose="02020603050405020304" pitchFamily="18" charset="0"/>
              </a:rPr>
              <a:t>Ràng buộc đụng độ lớp học</a:t>
            </a:r>
          </a:p>
          <a:p>
            <a:pPr marL="457200" indent="-457200" algn="just">
              <a:buFont typeface="+mj-lt"/>
              <a:buAutoNum type="arabicPeriod"/>
            </a:pPr>
            <a:r>
              <a:rPr lang="vi-VN" sz="2400">
                <a:latin typeface="Times New Roman" panose="02020603050405020304" pitchFamily="18" charset="0"/>
              </a:rPr>
              <a:t>Ràng buộc về tính đầy đủ của phân công</a:t>
            </a:r>
          </a:p>
          <a:p>
            <a:pPr marL="457200" indent="-457200" algn="just">
              <a:buFont typeface="+mj-lt"/>
              <a:buAutoNum type="arabicPeriod"/>
            </a:pPr>
            <a:r>
              <a:rPr lang="vi-VN" sz="2400">
                <a:latin typeface="Times New Roman" panose="02020603050405020304" pitchFamily="18" charset="0"/>
              </a:rPr>
              <a:t>Ràng buộc về các môn học phải có tiết kề nhau</a:t>
            </a:r>
          </a:p>
          <a:p>
            <a:pPr marL="457200" indent="-457200" algn="just">
              <a:buFont typeface="+mj-lt"/>
              <a:buAutoNum type="arabicPeriod"/>
            </a:pPr>
            <a:r>
              <a:rPr lang="vi-VN" sz="2400">
                <a:latin typeface="Times New Roman" panose="02020603050405020304" pitchFamily="18" charset="0"/>
              </a:rPr>
              <a:t>Ràng buộc về việc một môn học chỉ học một lần trong một buổi</a:t>
            </a:r>
            <a:endParaRPr lang="en-US" sz="2400" dirty="0">
              <a:latin typeface="Times New Roman" panose="02020603050405020304" pitchFamily="18" charset="0"/>
            </a:endParaRPr>
          </a:p>
        </p:txBody>
      </p:sp>
    </p:spTree>
    <p:extLst>
      <p:ext uri="{BB962C8B-B14F-4D97-AF65-F5344CB8AC3E}">
        <p14:creationId xmlns:p14="http://schemas.microsoft.com/office/powerpoint/2010/main" val="3290631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F38AB-EAA1-8C8C-18AF-7E42B963255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E58D298-95EE-E1D3-3150-5709B6D769AD}"/>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Ràng buộc mềm</a:t>
            </a:r>
            <a:endParaRPr lang="en-GB" dirty="0">
              <a:solidFill>
                <a:schemeClr val="tx1"/>
              </a:solidFill>
              <a:latin typeface="Times New Roman (Headings)"/>
            </a:endParaRPr>
          </a:p>
        </p:txBody>
      </p:sp>
      <p:sp>
        <p:nvSpPr>
          <p:cNvPr id="5" name="TextBox 4">
            <a:extLst>
              <a:ext uri="{FF2B5EF4-FFF2-40B4-BE49-F238E27FC236}">
                <a16:creationId xmlns:a16="http://schemas.microsoft.com/office/drawing/2014/main" id="{B8317A08-75E0-48EF-17A4-0004F034448E}"/>
              </a:ext>
            </a:extLst>
          </p:cNvPr>
          <p:cNvSpPr txBox="1"/>
          <p:nvPr/>
        </p:nvSpPr>
        <p:spPr>
          <a:xfrm>
            <a:off x="1055440" y="1844824"/>
            <a:ext cx="9577064" cy="2308324"/>
          </a:xfrm>
          <a:prstGeom prst="rect">
            <a:avLst/>
          </a:prstGeom>
          <a:noFill/>
        </p:spPr>
        <p:txBody>
          <a:bodyPr wrap="square" rtlCol="0">
            <a:spAutoFit/>
          </a:bodyPr>
          <a:lstStyle/>
          <a:p>
            <a:pPr marL="457200" indent="-457200" algn="just">
              <a:buFont typeface="+mj-lt"/>
              <a:buAutoNum type="arabicPeriod"/>
            </a:pPr>
            <a:r>
              <a:rPr lang="vi-VN" sz="2400">
                <a:latin typeface="Times New Roman" panose="02020603050405020304" pitchFamily="18" charset="0"/>
              </a:rPr>
              <a:t>Ràng buộc về giờ bận của giáo viên</a:t>
            </a:r>
          </a:p>
          <a:p>
            <a:pPr marL="457200" indent="-457200" algn="just">
              <a:buFont typeface="+mj-lt"/>
              <a:buAutoNum type="arabicPeriod"/>
            </a:pPr>
            <a:r>
              <a:rPr lang="vi-VN" sz="2400">
                <a:latin typeface="Times New Roman" panose="02020603050405020304" pitchFamily="18" charset="0"/>
              </a:rPr>
              <a:t>Ràng buộc số tiết học liên tiếp tối thiểu và tối đa</a:t>
            </a:r>
          </a:p>
          <a:p>
            <a:pPr marL="457200" indent="-457200" algn="just">
              <a:buFont typeface="+mj-lt"/>
              <a:buAutoNum type="arabicPeriod"/>
            </a:pPr>
            <a:r>
              <a:rPr lang="vi-VN" sz="2400">
                <a:latin typeface="Times New Roman" panose="02020603050405020304" pitchFamily="18" charset="0"/>
              </a:rPr>
              <a:t>Ràng buộc về việc học cách ngày giữa các tiết giảng</a:t>
            </a:r>
          </a:p>
          <a:p>
            <a:pPr marL="457200" indent="-457200" algn="just">
              <a:buFont typeface="+mj-lt"/>
              <a:buAutoNum type="arabicPeriod"/>
            </a:pPr>
            <a:r>
              <a:rPr lang="vi-VN" sz="2400">
                <a:latin typeface="Times New Roman" panose="02020603050405020304" pitchFamily="18" charset="0"/>
              </a:rPr>
              <a:t>Ràng buộc độ nén lịch dạy của giáo viên</a:t>
            </a:r>
          </a:p>
          <a:p>
            <a:pPr marL="457200" indent="-457200" algn="just">
              <a:buFont typeface="+mj-lt"/>
              <a:buAutoNum type="arabicPeriod"/>
            </a:pPr>
            <a:r>
              <a:rPr lang="vi-VN" sz="2400">
                <a:latin typeface="Times New Roman" panose="02020603050405020304" pitchFamily="18" charset="0"/>
              </a:rPr>
              <a:t>Ràng buộc về số môn học tối đa trong mỗi buổi</a:t>
            </a:r>
          </a:p>
          <a:p>
            <a:pPr marL="457200" indent="-457200" algn="just">
              <a:buFont typeface="+mj-lt"/>
              <a:buAutoNum type="arabicPeriod"/>
            </a:pPr>
            <a:r>
              <a:rPr lang="vi-VN" sz="2400">
                <a:latin typeface="Times New Roman" panose="02020603050405020304" pitchFamily="18" charset="0"/>
              </a:rPr>
              <a:t>Ràng buộc số tiết tối thiểu trong một buổi</a:t>
            </a:r>
            <a:endParaRPr lang="en-US" sz="2400" dirty="0">
              <a:latin typeface="Times New Roman" panose="02020603050405020304" pitchFamily="18" charset="0"/>
            </a:endParaRPr>
          </a:p>
        </p:txBody>
      </p:sp>
    </p:spTree>
    <p:extLst>
      <p:ext uri="{BB962C8B-B14F-4D97-AF65-F5344CB8AC3E}">
        <p14:creationId xmlns:p14="http://schemas.microsoft.com/office/powerpoint/2010/main" val="2960364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2A02E-9F0D-1907-E23D-95A95EE441D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61D1E8A-93E8-8E63-4F7D-0DBDA823BF56}"/>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3. Mô hình tổng quát giải thuật di truyền</a:t>
            </a:r>
            <a:endParaRPr lang="en-GB" dirty="0">
              <a:solidFill>
                <a:schemeClr val="tx1"/>
              </a:solidFill>
              <a:latin typeface="Times New Roman (Headings)"/>
            </a:endParaRPr>
          </a:p>
        </p:txBody>
      </p:sp>
      <p:sp>
        <p:nvSpPr>
          <p:cNvPr id="5" name="TextBox 4">
            <a:extLst>
              <a:ext uri="{FF2B5EF4-FFF2-40B4-BE49-F238E27FC236}">
                <a16:creationId xmlns:a16="http://schemas.microsoft.com/office/drawing/2014/main" id="{039D67A8-B916-8B8B-EFE1-34AF26A18C63}"/>
              </a:ext>
            </a:extLst>
          </p:cNvPr>
          <p:cNvSpPr txBox="1"/>
          <p:nvPr/>
        </p:nvSpPr>
        <p:spPr>
          <a:xfrm>
            <a:off x="1055440" y="1844824"/>
            <a:ext cx="9577064" cy="4524315"/>
          </a:xfrm>
          <a:prstGeom prst="rect">
            <a:avLst/>
          </a:prstGeom>
          <a:noFill/>
        </p:spPr>
        <p:txBody>
          <a:bodyPr wrap="square" rtlCol="0">
            <a:spAutoFit/>
          </a:bodyPr>
          <a:lstStyle/>
          <a:p>
            <a:pPr marL="342900" indent="-342900" algn="just">
              <a:buFont typeface="Arial" panose="020B0604020202020204" pitchFamily="34" charset="0"/>
              <a:buChar char="•"/>
            </a:pPr>
            <a:r>
              <a:rPr lang="vi-VN" sz="2400">
                <a:latin typeface="Times New Roman" panose="02020603050405020304" pitchFamily="18" charset="0"/>
              </a:rPr>
              <a:t>Giải thuật di truyền được áp dụng rộng rãi trong các bài toán tối ưu tổ hợp, và bài toán sắp xếp thời khóa biểu là một minh chứng điển hình cho tính hiệu quả cũng như khả năng thích ứng linh hoạt của nó. </a:t>
            </a:r>
            <a:endParaRPr lang="en-US" sz="2400">
              <a:latin typeface="Times New Roman" panose="02020603050405020304" pitchFamily="18" charset="0"/>
            </a:endParaRPr>
          </a:p>
          <a:p>
            <a:pPr marL="342900" indent="-342900" algn="just">
              <a:buFont typeface="Arial" panose="020B0604020202020204" pitchFamily="34" charset="0"/>
              <a:buChar char="•"/>
            </a:pPr>
            <a:r>
              <a:rPr lang="vi-VN" sz="2400">
                <a:latin typeface="Times New Roman" panose="02020603050405020304" pitchFamily="18" charset="0"/>
              </a:rPr>
              <a:t>Trong trường hợp cụ thể này, </a:t>
            </a:r>
            <a:r>
              <a:rPr lang="en-US" sz="2400">
                <a:latin typeface="Times New Roman" panose="02020603050405020304" pitchFamily="18" charset="0"/>
              </a:rPr>
              <a:t>giải thuật di truyền</a:t>
            </a:r>
            <a:r>
              <a:rPr lang="vi-VN" sz="2400">
                <a:latin typeface="Times New Roman" panose="02020603050405020304" pitchFamily="18" charset="0"/>
              </a:rPr>
              <a:t> không chỉ được xem như một công cụ tối ưu hóa, mà còn như một khung mô hình hóa mang tính hệ thống, cho phép giải quyết một không gian nghiệm khổng lồ với hàng triệu tổ hợp khả dĩ mà các phương pháp duyệt toàn bộ không thể tiếp cận được. </a:t>
            </a:r>
            <a:endParaRPr lang="en-US" sz="2400">
              <a:latin typeface="Times New Roman" panose="02020603050405020304" pitchFamily="18" charset="0"/>
            </a:endParaRPr>
          </a:p>
          <a:p>
            <a:pPr marL="342900" indent="-342900" algn="just">
              <a:buFont typeface="Arial" panose="020B0604020202020204" pitchFamily="34" charset="0"/>
              <a:buChar char="•"/>
            </a:pPr>
            <a:r>
              <a:rPr lang="vi-VN" sz="2400">
                <a:latin typeface="Times New Roman" panose="02020603050405020304" pitchFamily="18" charset="0"/>
              </a:rPr>
              <a:t>Mô hình tổng quát của </a:t>
            </a:r>
            <a:r>
              <a:rPr lang="en-US" sz="2400">
                <a:latin typeface="Times New Roman" panose="02020603050405020304" pitchFamily="18" charset="0"/>
              </a:rPr>
              <a:t>giải thuật di truyền</a:t>
            </a:r>
            <a:r>
              <a:rPr lang="vi-VN" sz="2400">
                <a:latin typeface="Times New Roman" panose="02020603050405020304" pitchFamily="18" charset="0"/>
              </a:rPr>
              <a:t> cho bài toán TKB được thiết kế để phản ánh đúng bản chất phức tạp của dữ liệu giáo dục, nơi tồn tại đồng thời ràng buộc cứng (hard constraints) tuyệt đối và ràng buộc mềm (soft constraints) mang tính định hướng chất lượng.</a:t>
            </a:r>
            <a:endParaRPr lang="en-US" sz="2400" dirty="0">
              <a:latin typeface="Times New Roman" panose="02020603050405020304" pitchFamily="18" charset="0"/>
            </a:endParaRPr>
          </a:p>
        </p:txBody>
      </p:sp>
    </p:spTree>
    <p:extLst>
      <p:ext uri="{BB962C8B-B14F-4D97-AF65-F5344CB8AC3E}">
        <p14:creationId xmlns:p14="http://schemas.microsoft.com/office/powerpoint/2010/main" val="631016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EEC34-61F6-575D-3528-E3EE429002D0}"/>
              </a:ext>
            </a:extLst>
          </p:cNvPr>
          <p:cNvSpPr>
            <a:spLocks noGrp="1"/>
          </p:cNvSpPr>
          <p:nvPr>
            <p:ph type="title"/>
          </p:nvPr>
        </p:nvSpPr>
        <p:spPr>
          <a:xfrm>
            <a:off x="677334" y="732367"/>
            <a:ext cx="10819266" cy="696723"/>
          </a:xfrm>
        </p:spPr>
        <p:txBody>
          <a:bodyPr>
            <a:normAutofit fontScale="90000"/>
          </a:bodyPr>
          <a:lstStyle/>
          <a:p>
            <a:pPr algn="ctr"/>
            <a:r>
              <a:rPr lang="en-US">
                <a:solidFill>
                  <a:schemeClr val="tx1"/>
                </a:solidFill>
                <a:latin typeface="Times New Roman (Headings)"/>
              </a:rPr>
              <a:t>Các bước thực hiện của giải thuật di truyền</a:t>
            </a:r>
            <a:endParaRPr lang="en-GB" dirty="0">
              <a:solidFill>
                <a:schemeClr val="tx1"/>
              </a:solidFill>
              <a:latin typeface="Times New Roman (Headings)"/>
            </a:endParaRPr>
          </a:p>
        </p:txBody>
      </p:sp>
      <p:grpSp>
        <p:nvGrpSpPr>
          <p:cNvPr id="4" name="Group 3">
            <a:extLst>
              <a:ext uri="{FF2B5EF4-FFF2-40B4-BE49-F238E27FC236}">
                <a16:creationId xmlns:a16="http://schemas.microsoft.com/office/drawing/2014/main" id="{B2E82AA2-7655-5A8F-126F-D92A7BF8CC0E}"/>
              </a:ext>
            </a:extLst>
          </p:cNvPr>
          <p:cNvGrpSpPr/>
          <p:nvPr/>
        </p:nvGrpSpPr>
        <p:grpSpPr>
          <a:xfrm>
            <a:off x="167474" y="141194"/>
            <a:ext cx="3120214" cy="591173"/>
            <a:chOff x="167474" y="141194"/>
            <a:chExt cx="4385547" cy="921124"/>
          </a:xfrm>
        </p:grpSpPr>
        <p:pic>
          <p:nvPicPr>
            <p:cNvPr id="5" name="Picture 4">
              <a:extLst>
                <a:ext uri="{FF2B5EF4-FFF2-40B4-BE49-F238E27FC236}">
                  <a16:creationId xmlns:a16="http://schemas.microsoft.com/office/drawing/2014/main" id="{3F85DD9F-98DC-E580-A1A8-325FECC805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6" name="TextBox 5">
              <a:extLst>
                <a:ext uri="{FF2B5EF4-FFF2-40B4-BE49-F238E27FC236}">
                  <a16:creationId xmlns:a16="http://schemas.microsoft.com/office/drawing/2014/main" id="{399AF9BE-C3B6-8F0E-CED2-00F838E9BD64}"/>
                </a:ext>
              </a:extLst>
            </p:cNvPr>
            <p:cNvSpPr txBox="1"/>
            <p:nvPr/>
          </p:nvSpPr>
          <p:spPr>
            <a:xfrm>
              <a:off x="1271938" y="316007"/>
              <a:ext cx="3281083" cy="623424"/>
            </a:xfrm>
            <a:prstGeom prst="rect">
              <a:avLst/>
            </a:prstGeom>
            <a:noFill/>
          </p:spPr>
          <p:txBody>
            <a:bodyPr wrap="square" rtlCol="0">
              <a:spAutoFit/>
            </a:bodyPr>
            <a:lstStyle/>
            <a:p>
              <a:r>
                <a:rPr lang="en-US" sz="1000" b="1" dirty="0">
                  <a:solidFill>
                    <a:srgbClr val="1930B0"/>
                  </a:solidFill>
                  <a:latin typeface="Times New Roman (Headings)"/>
                </a:rPr>
                <a:t>TRƯỜNG ĐẠI HỌC THỦY LỢI</a:t>
              </a:r>
            </a:p>
            <a:p>
              <a:r>
                <a:rPr lang="en-US" sz="1000" b="1" dirty="0">
                  <a:solidFill>
                    <a:srgbClr val="1930B0"/>
                  </a:solidFill>
                  <a:latin typeface="Times New Roman (Headings)"/>
                </a:rPr>
                <a:t>KHOA CÔNG NGHỆ THÔNG TIN</a:t>
              </a:r>
            </a:p>
          </p:txBody>
        </p:sp>
      </p:grpSp>
      <p:graphicFrame>
        <p:nvGraphicFramePr>
          <p:cNvPr id="8" name="TextBox 2">
            <a:extLst>
              <a:ext uri="{FF2B5EF4-FFF2-40B4-BE49-F238E27FC236}">
                <a16:creationId xmlns:a16="http://schemas.microsoft.com/office/drawing/2014/main" id="{9F26DA01-E850-DDA7-389C-2431072D4FE8}"/>
              </a:ext>
            </a:extLst>
          </p:cNvPr>
          <p:cNvGraphicFramePr/>
          <p:nvPr>
            <p:extLst>
              <p:ext uri="{D42A27DB-BD31-4B8C-83A1-F6EECF244321}">
                <p14:modId xmlns:p14="http://schemas.microsoft.com/office/powerpoint/2010/main" val="2543400229"/>
              </p:ext>
            </p:extLst>
          </p:nvPr>
        </p:nvGraphicFramePr>
        <p:xfrm>
          <a:off x="1631504" y="1852257"/>
          <a:ext cx="8443002" cy="424847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208659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AE757-CAE1-92FE-9A54-04D9933779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8F881F-49A3-0128-D80E-9C2B803B9459}"/>
              </a:ext>
            </a:extLst>
          </p:cNvPr>
          <p:cNvSpPr>
            <a:spLocks noGrp="1"/>
          </p:cNvSpPr>
          <p:nvPr>
            <p:ph type="title"/>
          </p:nvPr>
        </p:nvSpPr>
        <p:spPr>
          <a:xfrm>
            <a:off x="677334" y="732367"/>
            <a:ext cx="10819266" cy="696723"/>
          </a:xfrm>
        </p:spPr>
        <p:txBody>
          <a:bodyPr>
            <a:normAutofit fontScale="90000"/>
          </a:bodyPr>
          <a:lstStyle/>
          <a:p>
            <a:pPr algn="ctr"/>
            <a:r>
              <a:rPr lang="en-US">
                <a:solidFill>
                  <a:schemeClr val="tx1"/>
                </a:solidFill>
                <a:latin typeface="Times New Roman (Headings)"/>
              </a:rPr>
              <a:t>Các toán tử của giải thuật di truyền</a:t>
            </a:r>
            <a:endParaRPr lang="en-GB" dirty="0">
              <a:solidFill>
                <a:schemeClr val="tx1"/>
              </a:solidFill>
              <a:latin typeface="Times New Roman (Headings)"/>
            </a:endParaRPr>
          </a:p>
        </p:txBody>
      </p:sp>
      <p:grpSp>
        <p:nvGrpSpPr>
          <p:cNvPr id="4" name="Group 3">
            <a:extLst>
              <a:ext uri="{FF2B5EF4-FFF2-40B4-BE49-F238E27FC236}">
                <a16:creationId xmlns:a16="http://schemas.microsoft.com/office/drawing/2014/main" id="{32CC16BA-77B5-F66E-DEFF-072347D7119C}"/>
              </a:ext>
            </a:extLst>
          </p:cNvPr>
          <p:cNvGrpSpPr/>
          <p:nvPr/>
        </p:nvGrpSpPr>
        <p:grpSpPr>
          <a:xfrm>
            <a:off x="167474" y="141194"/>
            <a:ext cx="3120214" cy="591173"/>
            <a:chOff x="167474" y="141194"/>
            <a:chExt cx="4385547" cy="921124"/>
          </a:xfrm>
        </p:grpSpPr>
        <p:pic>
          <p:nvPicPr>
            <p:cNvPr id="5" name="Picture 4">
              <a:extLst>
                <a:ext uri="{FF2B5EF4-FFF2-40B4-BE49-F238E27FC236}">
                  <a16:creationId xmlns:a16="http://schemas.microsoft.com/office/drawing/2014/main" id="{3D4E63E6-C20B-5EF5-08D0-9881CB37C9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6" name="TextBox 5">
              <a:extLst>
                <a:ext uri="{FF2B5EF4-FFF2-40B4-BE49-F238E27FC236}">
                  <a16:creationId xmlns:a16="http://schemas.microsoft.com/office/drawing/2014/main" id="{338B8D58-03D2-6D12-5F3D-A9C1B1436984}"/>
                </a:ext>
              </a:extLst>
            </p:cNvPr>
            <p:cNvSpPr txBox="1"/>
            <p:nvPr/>
          </p:nvSpPr>
          <p:spPr>
            <a:xfrm>
              <a:off x="1271938" y="316007"/>
              <a:ext cx="3281083" cy="623424"/>
            </a:xfrm>
            <a:prstGeom prst="rect">
              <a:avLst/>
            </a:prstGeom>
            <a:noFill/>
          </p:spPr>
          <p:txBody>
            <a:bodyPr wrap="square" rtlCol="0">
              <a:spAutoFit/>
            </a:bodyPr>
            <a:lstStyle/>
            <a:p>
              <a:r>
                <a:rPr lang="en-US" sz="1000" b="1" dirty="0">
                  <a:solidFill>
                    <a:srgbClr val="1930B0"/>
                  </a:solidFill>
                  <a:latin typeface="Times New Roman (Headings)"/>
                </a:rPr>
                <a:t>TRƯỜNG ĐẠI HỌC THỦY LỢI</a:t>
              </a:r>
            </a:p>
            <a:p>
              <a:r>
                <a:rPr lang="en-US" sz="1000" b="1" dirty="0">
                  <a:solidFill>
                    <a:srgbClr val="1930B0"/>
                  </a:solidFill>
                  <a:latin typeface="Times New Roman (Headings)"/>
                </a:rPr>
                <a:t>KHOA CÔNG NGHỆ THÔNG TIN</a:t>
              </a:r>
            </a:p>
          </p:txBody>
        </p:sp>
      </p:grpSp>
      <p:graphicFrame>
        <p:nvGraphicFramePr>
          <p:cNvPr id="8" name="TextBox 2">
            <a:extLst>
              <a:ext uri="{FF2B5EF4-FFF2-40B4-BE49-F238E27FC236}">
                <a16:creationId xmlns:a16="http://schemas.microsoft.com/office/drawing/2014/main" id="{0AC5E42D-598F-FA1A-B3BB-2247070AAA7E}"/>
              </a:ext>
            </a:extLst>
          </p:cNvPr>
          <p:cNvGraphicFramePr/>
          <p:nvPr>
            <p:extLst>
              <p:ext uri="{D42A27DB-BD31-4B8C-83A1-F6EECF244321}">
                <p14:modId xmlns:p14="http://schemas.microsoft.com/office/powerpoint/2010/main" val="1502865458"/>
              </p:ext>
            </p:extLst>
          </p:nvPr>
        </p:nvGraphicFramePr>
        <p:xfrm>
          <a:off x="1703512" y="1877161"/>
          <a:ext cx="9010033" cy="424847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07143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5BF042EF-B3FB-F5CB-0910-6E14564B6B2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8A0DEB6-2C3C-B6A0-4D71-B5C1A19F77A5}"/>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4. Triển khai, cài đặt</a:t>
            </a:r>
            <a:endParaRPr lang="en-GB" dirty="0">
              <a:solidFill>
                <a:schemeClr val="tx1"/>
              </a:solidFill>
              <a:latin typeface="Times New Roman (Headings)"/>
            </a:endParaRPr>
          </a:p>
        </p:txBody>
      </p:sp>
      <p:sp>
        <p:nvSpPr>
          <p:cNvPr id="5" name="TextBox 4">
            <a:extLst>
              <a:ext uri="{FF2B5EF4-FFF2-40B4-BE49-F238E27FC236}">
                <a16:creationId xmlns:a16="http://schemas.microsoft.com/office/drawing/2014/main" id="{ED51B1AF-B3ED-F1EB-DE25-EC2D10ECD1E5}"/>
              </a:ext>
            </a:extLst>
          </p:cNvPr>
          <p:cNvSpPr txBox="1"/>
          <p:nvPr/>
        </p:nvSpPr>
        <p:spPr>
          <a:xfrm>
            <a:off x="1055440" y="1844824"/>
            <a:ext cx="9577064" cy="1938992"/>
          </a:xfrm>
          <a:prstGeom prst="rect">
            <a:avLst/>
          </a:prstGeom>
          <a:noFill/>
        </p:spPr>
        <p:txBody>
          <a:bodyPr wrap="square" rtlCol="0">
            <a:spAutoFit/>
          </a:bodyPr>
          <a:lstStyle/>
          <a:p>
            <a:pPr algn="just"/>
            <a:r>
              <a:rPr lang="vi-VN" sz="2400">
                <a:latin typeface="Times New Roman" panose="02020603050405020304" pitchFamily="18" charset="0"/>
              </a:rPr>
              <a:t>Các kết quả thử nghiệm thu được từ việc lập trình cài đặt trên C# với file thời khóa biểu, nội dung file có các môn học, danh sách giáo viên, thời gian bận. </a:t>
            </a:r>
            <a:endParaRPr lang="en-US" sz="2400">
              <a:latin typeface="Times New Roman" panose="02020603050405020304" pitchFamily="18" charset="0"/>
            </a:endParaRPr>
          </a:p>
          <a:p>
            <a:pPr algn="just"/>
            <a:r>
              <a:rPr lang="vi-VN" sz="2400">
                <a:latin typeface="Times New Roman" panose="02020603050405020304" pitchFamily="18" charset="0"/>
              </a:rPr>
              <a:t>Dựa vào thông tin đầu vào, người dùng có thể tạo trực tiếp hai thời khóa biểu ngay trên giao diện demo.</a:t>
            </a:r>
            <a:endParaRPr lang="en-US" sz="2400" dirty="0">
              <a:latin typeface="Times New Roman" panose="02020603050405020304" pitchFamily="18" charset="0"/>
            </a:endParaRPr>
          </a:p>
        </p:txBody>
      </p:sp>
    </p:spTree>
    <p:extLst>
      <p:ext uri="{BB962C8B-B14F-4D97-AF65-F5344CB8AC3E}">
        <p14:creationId xmlns:p14="http://schemas.microsoft.com/office/powerpoint/2010/main" val="2378829814"/>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8FBF3-5E8C-4892-0E26-EF284836D79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E70C952-C3C0-A6BC-2A18-1F8A9C11DA3D}"/>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Dữ liệu đầu vào</a:t>
            </a:r>
            <a:endParaRPr lang="en-GB" dirty="0">
              <a:solidFill>
                <a:schemeClr val="tx1"/>
              </a:solidFill>
              <a:latin typeface="Times New Roman (Headings)"/>
            </a:endParaRPr>
          </a:p>
        </p:txBody>
      </p:sp>
      <p:sp>
        <p:nvSpPr>
          <p:cNvPr id="5" name="TextBox 4">
            <a:extLst>
              <a:ext uri="{FF2B5EF4-FFF2-40B4-BE49-F238E27FC236}">
                <a16:creationId xmlns:a16="http://schemas.microsoft.com/office/drawing/2014/main" id="{A10571B0-D0B7-8BC1-322E-5983854502E9}"/>
              </a:ext>
            </a:extLst>
          </p:cNvPr>
          <p:cNvSpPr txBox="1"/>
          <p:nvPr/>
        </p:nvSpPr>
        <p:spPr>
          <a:xfrm>
            <a:off x="1055440" y="1844824"/>
            <a:ext cx="9577064" cy="1569660"/>
          </a:xfrm>
          <a:prstGeom prst="rect">
            <a:avLst/>
          </a:prstGeom>
          <a:noFill/>
        </p:spPr>
        <p:txBody>
          <a:bodyPr wrap="square" rtlCol="0">
            <a:spAutoFit/>
          </a:bodyPr>
          <a:lstStyle/>
          <a:p>
            <a:pPr algn="just"/>
            <a:r>
              <a:rPr lang="en-US" sz="2400">
                <a:latin typeface="Times New Roman" panose="02020603050405020304" pitchFamily="18" charset="0"/>
              </a:rPr>
              <a:t>Dữ liệu đầu vào là một file excel có chứa các danh sách:</a:t>
            </a:r>
          </a:p>
          <a:p>
            <a:pPr marL="342900" indent="-342900" algn="just">
              <a:buFont typeface="Arial" panose="020B0604020202020204" pitchFamily="34" charset="0"/>
              <a:buChar char="•"/>
            </a:pPr>
            <a:r>
              <a:rPr lang="en-US" sz="2400">
                <a:latin typeface="Times New Roman" panose="02020603050405020304" pitchFamily="18" charset="0"/>
              </a:rPr>
              <a:t>Danh sách giáo viên</a:t>
            </a:r>
          </a:p>
          <a:p>
            <a:pPr marL="342900" indent="-342900" algn="just">
              <a:buFont typeface="Arial" panose="020B0604020202020204" pitchFamily="34" charset="0"/>
              <a:buChar char="•"/>
            </a:pPr>
            <a:r>
              <a:rPr lang="en-US" sz="2400">
                <a:latin typeface="Times New Roman" panose="02020603050405020304" pitchFamily="18" charset="0"/>
              </a:rPr>
              <a:t>Danh sách lớp</a:t>
            </a:r>
          </a:p>
          <a:p>
            <a:pPr marL="342900" indent="-342900" algn="just">
              <a:buFont typeface="Arial" panose="020B0604020202020204" pitchFamily="34" charset="0"/>
              <a:buChar char="•"/>
            </a:pPr>
            <a:r>
              <a:rPr lang="en-US" sz="2400">
                <a:latin typeface="Times New Roman" panose="02020603050405020304" pitchFamily="18" charset="0"/>
              </a:rPr>
              <a:t>Danh sách môn học</a:t>
            </a:r>
            <a:endParaRPr lang="en-US" sz="2400" dirty="0">
              <a:latin typeface="Times New Roman" panose="02020603050405020304" pitchFamily="18" charset="0"/>
            </a:endParaRPr>
          </a:p>
        </p:txBody>
      </p:sp>
      <p:pic>
        <p:nvPicPr>
          <p:cNvPr id="3" name="Picture 2">
            <a:extLst>
              <a:ext uri="{FF2B5EF4-FFF2-40B4-BE49-F238E27FC236}">
                <a16:creationId xmlns:a16="http://schemas.microsoft.com/office/drawing/2014/main" id="{E1A8D857-9729-F740-727F-C7BE0CC88CE8}"/>
              </a:ext>
            </a:extLst>
          </p:cNvPr>
          <p:cNvPicPr>
            <a:picLocks noChangeAspect="1"/>
          </p:cNvPicPr>
          <p:nvPr/>
        </p:nvPicPr>
        <p:blipFill>
          <a:blip r:embed="rId2"/>
          <a:stretch>
            <a:fillRect/>
          </a:stretch>
        </p:blipFill>
        <p:spPr>
          <a:xfrm>
            <a:off x="1055440" y="3573016"/>
            <a:ext cx="9239250" cy="2505075"/>
          </a:xfrm>
          <a:prstGeom prst="rect">
            <a:avLst/>
          </a:prstGeom>
        </p:spPr>
      </p:pic>
    </p:spTree>
    <p:extLst>
      <p:ext uri="{BB962C8B-B14F-4D97-AF65-F5344CB8AC3E}">
        <p14:creationId xmlns:p14="http://schemas.microsoft.com/office/powerpoint/2010/main" val="1113919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05874-95BE-1971-0869-0D144DBEA9E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BB4F056-C65B-80B1-5DE1-595F68CDBE40}"/>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Xây dựng quần thể</a:t>
            </a:r>
            <a:endParaRPr lang="en-GB" dirty="0">
              <a:solidFill>
                <a:schemeClr val="tx1"/>
              </a:solidFill>
              <a:latin typeface="Times New Roman (Headings)"/>
            </a:endParaRPr>
          </a:p>
        </p:txBody>
      </p:sp>
      <p:sp>
        <p:nvSpPr>
          <p:cNvPr id="5" name="TextBox 4">
            <a:extLst>
              <a:ext uri="{FF2B5EF4-FFF2-40B4-BE49-F238E27FC236}">
                <a16:creationId xmlns:a16="http://schemas.microsoft.com/office/drawing/2014/main" id="{D3024082-9B0D-8CD2-9BA7-36B667F9249E}"/>
              </a:ext>
            </a:extLst>
          </p:cNvPr>
          <p:cNvSpPr txBox="1"/>
          <p:nvPr/>
        </p:nvSpPr>
        <p:spPr>
          <a:xfrm>
            <a:off x="1055440" y="1844824"/>
            <a:ext cx="9577064" cy="1938992"/>
          </a:xfrm>
          <a:prstGeom prst="rect">
            <a:avLst/>
          </a:prstGeom>
          <a:noFill/>
        </p:spPr>
        <p:txBody>
          <a:bodyPr wrap="square" rtlCol="0">
            <a:spAutoFit/>
          </a:bodyPr>
          <a:lstStyle/>
          <a:p>
            <a:pPr algn="just"/>
            <a:r>
              <a:rPr lang="vi-VN" sz="2400"/>
              <a:t>Sử dụng dữ liệu đầu vào để tạo ra các cá thể. </a:t>
            </a:r>
            <a:r>
              <a:rPr lang="en-US" sz="2400"/>
              <a:t>Từ các cá thể</a:t>
            </a:r>
            <a:r>
              <a:rPr lang="vi-VN" sz="2400"/>
              <a:t> có thể tạo một </a:t>
            </a:r>
            <a:r>
              <a:rPr lang="en-US" sz="2400"/>
              <a:t>quần</a:t>
            </a:r>
            <a:r>
              <a:rPr lang="vi-VN" sz="2400"/>
              <a:t> thể:</a:t>
            </a:r>
            <a:endParaRPr lang="en-US" sz="2400"/>
          </a:p>
          <a:p>
            <a:pPr marL="342900" indent="-342900" algn="just">
              <a:buFont typeface="Arial" panose="020B0604020202020204" pitchFamily="34" charset="0"/>
              <a:buChar char="•"/>
            </a:pPr>
            <a:r>
              <a:rPr lang="en-US" sz="2400"/>
              <a:t>Kích thước quần thể (số lượng cá thể trong 1 quẩn thể)</a:t>
            </a:r>
          </a:p>
          <a:p>
            <a:pPr marL="342900" indent="-342900" algn="just">
              <a:buFont typeface="Arial" panose="020B0604020202020204" pitchFamily="34" charset="0"/>
              <a:buChar char="•"/>
            </a:pPr>
            <a:r>
              <a:rPr lang="vi-VN" sz="2400"/>
              <a:t>Sử dụng các phương pháp như chọn lọc, lai ghép, và đột biến để cải thiện quần thể qua các thế hệ.</a:t>
            </a:r>
            <a:endParaRPr lang="en-US" sz="2400" dirty="0"/>
          </a:p>
        </p:txBody>
      </p:sp>
      <p:pic>
        <p:nvPicPr>
          <p:cNvPr id="8" name="Picture 7">
            <a:extLst>
              <a:ext uri="{FF2B5EF4-FFF2-40B4-BE49-F238E27FC236}">
                <a16:creationId xmlns:a16="http://schemas.microsoft.com/office/drawing/2014/main" id="{BA0BBA88-CA77-A3A1-EBD8-D9F3B72D321D}"/>
              </a:ext>
            </a:extLst>
          </p:cNvPr>
          <p:cNvPicPr>
            <a:picLocks noChangeAspect="1"/>
          </p:cNvPicPr>
          <p:nvPr/>
        </p:nvPicPr>
        <p:blipFill>
          <a:blip r:embed="rId2"/>
          <a:stretch>
            <a:fillRect/>
          </a:stretch>
        </p:blipFill>
        <p:spPr>
          <a:xfrm>
            <a:off x="1559496" y="4107904"/>
            <a:ext cx="8064896" cy="2057400"/>
          </a:xfrm>
          <a:prstGeom prst="rect">
            <a:avLst/>
          </a:prstGeom>
        </p:spPr>
      </p:pic>
    </p:spTree>
    <p:extLst>
      <p:ext uri="{BB962C8B-B14F-4D97-AF65-F5344CB8AC3E}">
        <p14:creationId xmlns:p14="http://schemas.microsoft.com/office/powerpoint/2010/main" val="18410421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D694F-C2A4-C8E5-D8F0-A2E8A6F7C65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184F95B-71D8-A029-0071-E46927EA4AF4}"/>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Xử lý dữ liệu và xuất kết quả</a:t>
            </a:r>
            <a:endParaRPr lang="en-GB" dirty="0">
              <a:solidFill>
                <a:schemeClr val="tx1"/>
              </a:solidFill>
              <a:latin typeface="Times New Roman (Headings)"/>
            </a:endParaRPr>
          </a:p>
        </p:txBody>
      </p:sp>
      <p:sp>
        <p:nvSpPr>
          <p:cNvPr id="5" name="TextBox 4">
            <a:extLst>
              <a:ext uri="{FF2B5EF4-FFF2-40B4-BE49-F238E27FC236}">
                <a16:creationId xmlns:a16="http://schemas.microsoft.com/office/drawing/2014/main" id="{6C742603-8224-F81C-DF00-871DA4D7AE4A}"/>
              </a:ext>
            </a:extLst>
          </p:cNvPr>
          <p:cNvSpPr txBox="1"/>
          <p:nvPr/>
        </p:nvSpPr>
        <p:spPr>
          <a:xfrm>
            <a:off x="1055440" y="1844824"/>
            <a:ext cx="9577064" cy="1938992"/>
          </a:xfrm>
          <a:prstGeom prst="rect">
            <a:avLst/>
          </a:prstGeom>
          <a:noFill/>
        </p:spPr>
        <p:txBody>
          <a:bodyPr wrap="square" rtlCol="0">
            <a:spAutoFit/>
          </a:bodyPr>
          <a:lstStyle/>
          <a:p>
            <a:pPr algn="just"/>
            <a:r>
              <a:rPr lang="en-US" sz="2400">
                <a:latin typeface="Times New Roman" panose="02020603050405020304" pitchFamily="18" charset="0"/>
              </a:rPr>
              <a:t>Chương trình đọc dữ liệu đầu vào là một file excel sau đó chạy thuật toán và đưa ra kết quả là: </a:t>
            </a:r>
          </a:p>
          <a:p>
            <a:pPr marL="342900" indent="-342900" algn="just">
              <a:buFont typeface="Arial" panose="020B0604020202020204" pitchFamily="34" charset="0"/>
              <a:buChar char="•"/>
            </a:pPr>
            <a:r>
              <a:rPr lang="en-US" sz="2400">
                <a:latin typeface="Times New Roman" panose="02020603050405020304" pitchFamily="18" charset="0"/>
              </a:rPr>
              <a:t>Thời khóa biểu của các lớp</a:t>
            </a:r>
          </a:p>
          <a:p>
            <a:pPr marL="342900" indent="-342900" algn="just">
              <a:buFont typeface="Arial" panose="020B0604020202020204" pitchFamily="34" charset="0"/>
              <a:buChar char="•"/>
            </a:pPr>
            <a:r>
              <a:rPr lang="en-US" sz="2400">
                <a:latin typeface="Times New Roman" panose="02020603050405020304" pitchFamily="18" charset="0"/>
              </a:rPr>
              <a:t>Giáo viên nào dạy môn gì</a:t>
            </a:r>
          </a:p>
          <a:p>
            <a:pPr marL="342900" indent="-342900" algn="just">
              <a:buFont typeface="Arial" panose="020B0604020202020204" pitchFamily="34" charset="0"/>
              <a:buChar char="•"/>
            </a:pPr>
            <a:r>
              <a:rPr lang="en-US" sz="2400">
                <a:latin typeface="Times New Roman" panose="02020603050405020304" pitchFamily="18" charset="0"/>
              </a:rPr>
              <a:t>Ngày dạy cụ thể</a:t>
            </a:r>
            <a:endParaRPr lang="en-US" sz="2400" dirty="0">
              <a:latin typeface="Times New Roman" panose="02020603050405020304" pitchFamily="18" charset="0"/>
            </a:endParaRPr>
          </a:p>
        </p:txBody>
      </p:sp>
      <p:pic>
        <p:nvPicPr>
          <p:cNvPr id="6" name="Picture 5">
            <a:extLst>
              <a:ext uri="{FF2B5EF4-FFF2-40B4-BE49-F238E27FC236}">
                <a16:creationId xmlns:a16="http://schemas.microsoft.com/office/drawing/2014/main" id="{41C43EB3-2D8B-E823-C0F6-298676980ADE}"/>
              </a:ext>
            </a:extLst>
          </p:cNvPr>
          <p:cNvPicPr>
            <a:picLocks noChangeAspect="1"/>
          </p:cNvPicPr>
          <p:nvPr/>
        </p:nvPicPr>
        <p:blipFill>
          <a:blip r:embed="rId2"/>
          <a:stretch>
            <a:fillRect/>
          </a:stretch>
        </p:blipFill>
        <p:spPr>
          <a:xfrm>
            <a:off x="1199456" y="3783817"/>
            <a:ext cx="7953375" cy="2525504"/>
          </a:xfrm>
          <a:prstGeom prst="rect">
            <a:avLst/>
          </a:prstGeom>
        </p:spPr>
      </p:pic>
    </p:spTree>
    <p:extLst>
      <p:ext uri="{BB962C8B-B14F-4D97-AF65-F5344CB8AC3E}">
        <p14:creationId xmlns:p14="http://schemas.microsoft.com/office/powerpoint/2010/main" val="18778490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24F44-7C8D-89D2-D304-2B8955D327D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2EA2874-A528-4FBA-F12A-1101DA0688C0}"/>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Một số hình ảnh demo</a:t>
            </a:r>
            <a:endParaRPr lang="en-GB" dirty="0">
              <a:solidFill>
                <a:schemeClr val="tx1"/>
              </a:solidFill>
              <a:latin typeface="Times New Roman (Headings)"/>
            </a:endParaRPr>
          </a:p>
        </p:txBody>
      </p:sp>
      <p:pic>
        <p:nvPicPr>
          <p:cNvPr id="3" name="Picture 2">
            <a:extLst>
              <a:ext uri="{FF2B5EF4-FFF2-40B4-BE49-F238E27FC236}">
                <a16:creationId xmlns:a16="http://schemas.microsoft.com/office/drawing/2014/main" id="{D35CF08E-D521-690D-417F-8A121ABDFD8D}"/>
              </a:ext>
            </a:extLst>
          </p:cNvPr>
          <p:cNvPicPr>
            <a:picLocks noChangeAspect="1"/>
          </p:cNvPicPr>
          <p:nvPr/>
        </p:nvPicPr>
        <p:blipFill>
          <a:blip r:embed="rId2"/>
          <a:stretch>
            <a:fillRect/>
          </a:stretch>
        </p:blipFill>
        <p:spPr>
          <a:xfrm>
            <a:off x="688221" y="1988840"/>
            <a:ext cx="5403215" cy="3411855"/>
          </a:xfrm>
          <a:prstGeom prst="rect">
            <a:avLst/>
          </a:prstGeom>
        </p:spPr>
      </p:pic>
      <p:pic>
        <p:nvPicPr>
          <p:cNvPr id="6" name="Picture 5">
            <a:extLst>
              <a:ext uri="{FF2B5EF4-FFF2-40B4-BE49-F238E27FC236}">
                <a16:creationId xmlns:a16="http://schemas.microsoft.com/office/drawing/2014/main" id="{9388FE81-08A3-11D2-4E96-F69CF2FAEE7B}"/>
              </a:ext>
            </a:extLst>
          </p:cNvPr>
          <p:cNvPicPr>
            <a:picLocks noChangeAspect="1"/>
          </p:cNvPicPr>
          <p:nvPr/>
        </p:nvPicPr>
        <p:blipFill>
          <a:blip r:embed="rId3"/>
          <a:stretch>
            <a:fillRect/>
          </a:stretch>
        </p:blipFill>
        <p:spPr>
          <a:xfrm>
            <a:off x="6312024" y="1988840"/>
            <a:ext cx="5403215" cy="3411855"/>
          </a:xfrm>
          <a:prstGeom prst="rect">
            <a:avLst/>
          </a:prstGeom>
        </p:spPr>
      </p:pic>
    </p:spTree>
    <p:extLst>
      <p:ext uri="{BB962C8B-B14F-4D97-AF65-F5344CB8AC3E}">
        <p14:creationId xmlns:p14="http://schemas.microsoft.com/office/powerpoint/2010/main" val="1044921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DD3BB-C488-EFCE-6A93-A6046A64C4C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31D1F45-8A56-905B-C2F4-2B3C27AEB524}"/>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Một số hình ảnh demo ..</a:t>
            </a:r>
            <a:endParaRPr lang="en-GB" dirty="0">
              <a:solidFill>
                <a:schemeClr val="tx1"/>
              </a:solidFill>
              <a:latin typeface="Times New Roman (Headings)"/>
            </a:endParaRPr>
          </a:p>
        </p:txBody>
      </p:sp>
      <p:pic>
        <p:nvPicPr>
          <p:cNvPr id="2" name="Picture 1">
            <a:extLst>
              <a:ext uri="{FF2B5EF4-FFF2-40B4-BE49-F238E27FC236}">
                <a16:creationId xmlns:a16="http://schemas.microsoft.com/office/drawing/2014/main" id="{18B81518-0FBE-121F-7F62-9C4812B119F9}"/>
              </a:ext>
            </a:extLst>
          </p:cNvPr>
          <p:cNvPicPr>
            <a:picLocks noChangeAspect="1"/>
          </p:cNvPicPr>
          <p:nvPr/>
        </p:nvPicPr>
        <p:blipFill>
          <a:blip r:embed="rId2"/>
          <a:stretch>
            <a:fillRect/>
          </a:stretch>
        </p:blipFill>
        <p:spPr>
          <a:xfrm>
            <a:off x="728789" y="2060848"/>
            <a:ext cx="5403215" cy="3411855"/>
          </a:xfrm>
          <a:prstGeom prst="rect">
            <a:avLst/>
          </a:prstGeom>
        </p:spPr>
      </p:pic>
      <p:pic>
        <p:nvPicPr>
          <p:cNvPr id="5" name="Picture 4">
            <a:extLst>
              <a:ext uri="{FF2B5EF4-FFF2-40B4-BE49-F238E27FC236}">
                <a16:creationId xmlns:a16="http://schemas.microsoft.com/office/drawing/2014/main" id="{A3ADC3D0-E313-BFA2-E2AB-ED6EEF6D28C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84032" y="2060847"/>
            <a:ext cx="5400040" cy="3411855"/>
          </a:xfrm>
          <a:prstGeom prst="rect">
            <a:avLst/>
          </a:prstGeom>
          <a:noFill/>
          <a:ln>
            <a:solidFill>
              <a:schemeClr val="bg1">
                <a:lumMod val="85000"/>
              </a:schemeClr>
            </a:solidFill>
          </a:ln>
        </p:spPr>
      </p:pic>
    </p:spTree>
    <p:extLst>
      <p:ext uri="{BB962C8B-B14F-4D97-AF65-F5344CB8AC3E}">
        <p14:creationId xmlns:p14="http://schemas.microsoft.com/office/powerpoint/2010/main" val="13081828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A180D-0431-F3C2-5C45-BD767E8075F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1E83027-5828-E9D9-3F68-3E5DC58CFAC5}"/>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Kết luận</a:t>
            </a:r>
            <a:endParaRPr lang="en-GB" dirty="0">
              <a:solidFill>
                <a:schemeClr val="tx1"/>
              </a:solidFill>
              <a:latin typeface="Times New Roman (Headings)"/>
            </a:endParaRPr>
          </a:p>
        </p:txBody>
      </p:sp>
      <p:graphicFrame>
        <p:nvGraphicFramePr>
          <p:cNvPr id="2" name="Diagram 1">
            <a:extLst>
              <a:ext uri="{FF2B5EF4-FFF2-40B4-BE49-F238E27FC236}">
                <a16:creationId xmlns:a16="http://schemas.microsoft.com/office/drawing/2014/main" id="{6357979A-BFD0-63F1-F4A3-44FBF0EDCE12}"/>
              </a:ext>
            </a:extLst>
          </p:cNvPr>
          <p:cNvGraphicFramePr/>
          <p:nvPr>
            <p:extLst>
              <p:ext uri="{D42A27DB-BD31-4B8C-83A1-F6EECF244321}">
                <p14:modId xmlns:p14="http://schemas.microsoft.com/office/powerpoint/2010/main" val="813383865"/>
              </p:ext>
            </p:extLst>
          </p:nvPr>
        </p:nvGraphicFramePr>
        <p:xfrm>
          <a:off x="1055440" y="1844824"/>
          <a:ext cx="10441160" cy="41549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352137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4B302-884C-011D-4B4E-09451BE72E5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83CBDC2-431E-EA50-5DF4-F838F1BEF5B2}"/>
              </a:ext>
            </a:extLst>
          </p:cNvPr>
          <p:cNvSpPr>
            <a:spLocks noGrp="1"/>
          </p:cNvSpPr>
          <p:nvPr>
            <p:ph type="title"/>
          </p:nvPr>
        </p:nvSpPr>
        <p:spPr>
          <a:xfrm>
            <a:off x="1055440" y="692696"/>
            <a:ext cx="10153128" cy="908720"/>
          </a:xfrm>
        </p:spPr>
        <p:txBody>
          <a:bodyPr>
            <a:normAutofit/>
          </a:bodyPr>
          <a:lstStyle/>
          <a:p>
            <a:pPr algn="ctr"/>
            <a:r>
              <a:rPr lang="en-US">
                <a:solidFill>
                  <a:schemeClr val="tx1"/>
                </a:solidFill>
                <a:latin typeface="Times New Roman (Headings)"/>
              </a:rPr>
              <a:t>5. Hướng phát triển</a:t>
            </a:r>
            <a:endParaRPr lang="en-GB" dirty="0">
              <a:solidFill>
                <a:schemeClr val="tx1"/>
              </a:solidFill>
              <a:latin typeface="Times New Roman (Headings)"/>
            </a:endParaRPr>
          </a:p>
        </p:txBody>
      </p:sp>
      <p:graphicFrame>
        <p:nvGraphicFramePr>
          <p:cNvPr id="2" name="Diagram 1">
            <a:extLst>
              <a:ext uri="{FF2B5EF4-FFF2-40B4-BE49-F238E27FC236}">
                <a16:creationId xmlns:a16="http://schemas.microsoft.com/office/drawing/2014/main" id="{11021B7F-0679-E484-DED1-959BAB16A04E}"/>
              </a:ext>
            </a:extLst>
          </p:cNvPr>
          <p:cNvGraphicFramePr/>
          <p:nvPr>
            <p:extLst>
              <p:ext uri="{D42A27DB-BD31-4B8C-83A1-F6EECF244321}">
                <p14:modId xmlns:p14="http://schemas.microsoft.com/office/powerpoint/2010/main" val="569421818"/>
              </p:ext>
            </p:extLst>
          </p:nvPr>
        </p:nvGraphicFramePr>
        <p:xfrm>
          <a:off x="1055440" y="2249631"/>
          <a:ext cx="9577064" cy="13953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767704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2E82AA2-7655-5A8F-126F-D92A7BF8CC0E}"/>
              </a:ext>
            </a:extLst>
          </p:cNvPr>
          <p:cNvGrpSpPr/>
          <p:nvPr/>
        </p:nvGrpSpPr>
        <p:grpSpPr>
          <a:xfrm>
            <a:off x="167474" y="141194"/>
            <a:ext cx="3120214" cy="591173"/>
            <a:chOff x="167474" y="141194"/>
            <a:chExt cx="4385547" cy="921124"/>
          </a:xfrm>
        </p:grpSpPr>
        <p:pic>
          <p:nvPicPr>
            <p:cNvPr id="5" name="Picture 4">
              <a:extLst>
                <a:ext uri="{FF2B5EF4-FFF2-40B4-BE49-F238E27FC236}">
                  <a16:creationId xmlns:a16="http://schemas.microsoft.com/office/drawing/2014/main" id="{3F85DD9F-98DC-E580-A1A8-325FECC805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474" y="141194"/>
              <a:ext cx="1104465" cy="921124"/>
            </a:xfrm>
            <a:prstGeom prst="rect">
              <a:avLst/>
            </a:prstGeom>
          </p:spPr>
        </p:pic>
        <p:sp>
          <p:nvSpPr>
            <p:cNvPr id="6" name="TextBox 5">
              <a:extLst>
                <a:ext uri="{FF2B5EF4-FFF2-40B4-BE49-F238E27FC236}">
                  <a16:creationId xmlns:a16="http://schemas.microsoft.com/office/drawing/2014/main" id="{399AF9BE-C3B6-8F0E-CED2-00F838E9BD64}"/>
                </a:ext>
              </a:extLst>
            </p:cNvPr>
            <p:cNvSpPr txBox="1"/>
            <p:nvPr/>
          </p:nvSpPr>
          <p:spPr>
            <a:xfrm>
              <a:off x="1271938" y="316007"/>
              <a:ext cx="3281083" cy="623424"/>
            </a:xfrm>
            <a:prstGeom prst="rect">
              <a:avLst/>
            </a:prstGeom>
            <a:noFill/>
          </p:spPr>
          <p:txBody>
            <a:bodyPr wrap="square" rtlCol="0">
              <a:spAutoFit/>
            </a:bodyPr>
            <a:lstStyle/>
            <a:p>
              <a:r>
                <a:rPr lang="en-US" sz="1000" b="1" dirty="0">
                  <a:solidFill>
                    <a:srgbClr val="1930B0"/>
                  </a:solidFill>
                  <a:latin typeface="Times New Roman (Headings)"/>
                </a:rPr>
                <a:t>TRƯỜNG ĐẠI HỌC THỦY LỢI</a:t>
              </a:r>
            </a:p>
            <a:p>
              <a:r>
                <a:rPr lang="en-US" sz="1000" b="1" dirty="0">
                  <a:solidFill>
                    <a:srgbClr val="1930B0"/>
                  </a:solidFill>
                  <a:latin typeface="Times New Roman (Headings)"/>
                </a:rPr>
                <a:t>KHOA CÔNG NGHỆ THÔNG TIN</a:t>
              </a:r>
            </a:p>
          </p:txBody>
        </p:sp>
      </p:grpSp>
      <p:sp>
        <p:nvSpPr>
          <p:cNvPr id="2" name="Title 1">
            <a:extLst>
              <a:ext uri="{FF2B5EF4-FFF2-40B4-BE49-F238E27FC236}">
                <a16:creationId xmlns:a16="http://schemas.microsoft.com/office/drawing/2014/main" id="{9CF94DC0-CEEF-B8EF-D0D9-FC5F4C4A7CB4}"/>
              </a:ext>
            </a:extLst>
          </p:cNvPr>
          <p:cNvSpPr>
            <a:spLocks noGrp="1"/>
          </p:cNvSpPr>
          <p:nvPr>
            <p:ph type="title"/>
          </p:nvPr>
        </p:nvSpPr>
        <p:spPr>
          <a:xfrm>
            <a:off x="953274" y="2420888"/>
            <a:ext cx="10153128" cy="908720"/>
          </a:xfrm>
        </p:spPr>
        <p:txBody>
          <a:bodyPr>
            <a:normAutofit/>
          </a:bodyPr>
          <a:lstStyle/>
          <a:p>
            <a:pPr algn="ctr"/>
            <a:r>
              <a:rPr lang="en-US">
                <a:solidFill>
                  <a:schemeClr val="tx1"/>
                </a:solidFill>
                <a:latin typeface="Times New Roman (Headings)"/>
              </a:rPr>
              <a:t>Em xin trân trọng cảm ơn!!!</a:t>
            </a:r>
            <a:endParaRPr lang="en-GB" dirty="0">
              <a:solidFill>
                <a:schemeClr val="tx1"/>
              </a:solidFill>
              <a:latin typeface="Times New Roman (Headings)"/>
            </a:endParaRPr>
          </a:p>
        </p:txBody>
      </p:sp>
    </p:spTree>
    <p:extLst>
      <p:ext uri="{BB962C8B-B14F-4D97-AF65-F5344CB8AC3E}">
        <p14:creationId xmlns:p14="http://schemas.microsoft.com/office/powerpoint/2010/main" val="396424952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themeOverride>
</file>

<file path=docProps/app.xml><?xml version="1.0" encoding="utf-8"?>
<Properties xmlns="http://schemas.openxmlformats.org/officeDocument/2006/extended-properties" xmlns:vt="http://schemas.openxmlformats.org/officeDocument/2006/docPropsVTypes">
  <Template/>
  <TotalTime>14902</TotalTime>
  <Words>1869</Words>
  <Application>Microsoft Office PowerPoint</Application>
  <PresentationFormat>Widescreen</PresentationFormat>
  <Paragraphs>134</Paragraphs>
  <Slides>22</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Times New Roman (Headings)</vt:lpstr>
      <vt:lpstr>Aptos</vt:lpstr>
      <vt:lpstr>Arial</vt:lpstr>
      <vt:lpstr>Calibri</vt:lpstr>
      <vt:lpstr>Calibri Light</vt:lpstr>
      <vt:lpstr>Times New Roman</vt:lpstr>
      <vt:lpstr>Wingdings</vt:lpstr>
      <vt:lpstr>Retrospect</vt:lpstr>
      <vt:lpstr>ĐỀ ÁN THẠC SĨ</vt:lpstr>
      <vt:lpstr>NỘI DUNG TRÌNH BÀY</vt:lpstr>
      <vt:lpstr>1. Giới thiệu chung</vt:lpstr>
      <vt:lpstr>Tính cấp thiết</vt:lpstr>
      <vt:lpstr>Mục tiêu</vt:lpstr>
      <vt:lpstr>2. Nội dung đề tài</vt:lpstr>
      <vt:lpstr>Đầu vào của bài toán</vt:lpstr>
      <vt:lpstr>Đầu ra của bài toán</vt:lpstr>
      <vt:lpstr>Ràng buộc cứng</vt:lpstr>
      <vt:lpstr>Ràng buộc mềm</vt:lpstr>
      <vt:lpstr>3. Mô hình tổng quát giải thuật di truyền</vt:lpstr>
      <vt:lpstr>Các bước thực hiện của giải thuật di truyền</vt:lpstr>
      <vt:lpstr>Các toán tử của giải thuật di truyền</vt:lpstr>
      <vt:lpstr>4. Triển khai, cài đặt</vt:lpstr>
      <vt:lpstr>Dữ liệu đầu vào</vt:lpstr>
      <vt:lpstr>Xây dựng quần thể</vt:lpstr>
      <vt:lpstr>Xử lý dữ liệu và xuất kết quả</vt:lpstr>
      <vt:lpstr>Một số hình ảnh demo</vt:lpstr>
      <vt:lpstr>Một số hình ảnh demo ..</vt:lpstr>
      <vt:lpstr>Kết luận</vt:lpstr>
      <vt:lpstr>5. Hướng phát triển</vt:lpstr>
      <vt:lpstr>Em xin trân trọng cảm ơn!!!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Minh Vu</dc:creator>
  <cp:lastModifiedBy>Anh Nguyen</cp:lastModifiedBy>
  <cp:revision>40</cp:revision>
  <dcterms:created xsi:type="dcterms:W3CDTF">2024-09-19T16:15:19Z</dcterms:created>
  <dcterms:modified xsi:type="dcterms:W3CDTF">2025-09-17T16:00:45Z</dcterms:modified>
</cp:coreProperties>
</file>